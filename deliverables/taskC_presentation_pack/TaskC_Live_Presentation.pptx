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(about 45 seconds). This deck is the evidence from Friday 16 October 2026. Green means I measured it. Amber means I have a pattern and a hypothesis, not a root cause. Coral means the work was not done, and I will say why. Pass 2 is still waiting for Monday 19 October after 15:30 UTC.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of numbers before any detail. Read them left to right; each one has its own slide later. Latencies everywhere in this deck are seconds, not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two minutes here. Interviewers will ask what you did not verify. Answer from the coral column before they ask. Do not upgrade amber items to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A in one minute. 60 data rows. NYSE matched NASDAQ on every 2026 closed and early-close date. CME is WARN because the adapter refuses to scrape cmegroup.com. That is a compliance choice, not a parser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data section here. Every later freshness number is relative to 900 seconds. Do not design a 5-second SLO against this endpoint.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works before the anomalies. The price path is good but not perfect (6 OHLC differences, e.g. AAPL close 333.35 vs 333.3015). The defects are silent: retention and volume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correction out loud. It is small in size but it changes the sentence 'prices are identical'.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say zero regular-hours mismatches. Point at the one amber slice. The pattern is extended hours. The cause is not proven.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clearest picture of the finding. Point at the white box, then at the red columns on either side.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fallback: open agg_AAPL_1h_from_5m.csv, show the 18:00 ET row and the 11:00 ET exception. The PNG is the offline fallback.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symbol so nobody can say it is an AAPL quirk. Root cause tests that need TimeAndSale were blocked by the demo.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changed the client advice. Earlier wording said build ETH analytics from 1m; the data does not support that.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Visible on a chart, dangerous in session logic. I am not calling these trades.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request 14 days of AAPL 1-minute candles, or open chunks.jsonl. Count 8000. Show the empty older window. Do not claim this is a production bug.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dark blocks: identical height for equities, FX and futures. That is the retention edge, not the market.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chart left to right. Pre-market stopped at concurrency 25. Market hours reached 50 with lower latency but flat throughput. Percentiles count completed requests only. Refuse any question that asks you to quote these RPS figures as production capacity.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load chart. Throughput flat, latency rising: a saturated queue.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Candle requests suffer first. A dashboard mixing quotes and candles will look half-alive.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p95, not the error rate. The error rate stayed zero while the experience died.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2038 timestamp is the 'would your parser survive this' moment. NVDA is a universe difference, not a data defect.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'what did you not verify', read this slide. Pass 2 and the logger analysis are the only ones that are simply waiting 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minutes for risk and the incident. The external email must not assert a root cause.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Lead with the response envelope because it fixes the silent cap.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If they ask whether the 8000 cap is just a quota: yes, possibly, and the defect is still the missing signal. If they ask about production RPS: the monitoring design transfers, the numbers do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0"/>
            <a:ext cx="109728" cy="6858000"/>
          </a:xfrm>
          <a:prstGeom prst="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10789920" cy="2011680"/>
          </a:xfrm>
          <a:prstGeom prst="rect">
            <a:avLst/>
          </a:prstGeom>
          <a:noFill/>
        </p:spPr>
        <p:txBody>
          <a:bodyPr wrap="none">
            <a:spAutoFit/>
          </a:bodyPr>
          <a:lstStyle/>
          <a:p>
            <a:r>
              <a:rPr sz="4200" b="1">
                <a:solidFill>
                  <a:srgbClr val="12324D"/>
                </a:solidFill>
                <a:latin typeface="Calibri"/>
              </a:rPr>
              <a:t>dxFeed demo services</a:t>
            </a:r>
          </a:p>
          <a:p>
            <a:r>
              <a:rPr sz="2000" b="0">
                <a:solidFill>
                  <a:srgbClr val="0E7C86"/>
                </a:solidFill>
                <a:latin typeface="Calibri"/>
              </a:rPr>
              <a:t>What was measured, what the charts show, and what is still open</a:t>
            </a:r>
          </a:p>
        </p:txBody>
      </p:sp>
      <p:sp>
        <p:nvSpPr>
          <p:cNvPr id="6" name="Rounded Rectangle 5"/>
          <p:cNvSpPr/>
          <p:nvPr/>
        </p:nvSpPr>
        <p:spPr>
          <a:xfrm>
            <a:off x="731520" y="4114800"/>
            <a:ext cx="3383280" cy="1051560"/>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
            </a:r>
          </a:p>
          <a:p>
            <a:pPr>
              <a:spcBef>
                <a:spcPts val="300"/>
              </a:spcBef>
            </a:pPr>
            <a:r>
              <a:rPr sz="1400" b="0">
                <a:solidFill>
                  <a:srgbClr val="FFFFFF"/>
                </a:solidFill>
                <a:latin typeface="Calibri"/>
              </a:rPr>
              <a:t>Done  ·  pass 1, load, SSE, Radar, Task A scrape</a:t>
            </a:r>
          </a:p>
        </p:txBody>
      </p:sp>
      <p:sp>
        <p:nvSpPr>
          <p:cNvPr id="7" name="Rounded Rectangle 6"/>
          <p:cNvSpPr/>
          <p:nvPr/>
        </p:nvSpPr>
        <p:spPr>
          <a:xfrm>
            <a:off x="4709160" y="4114800"/>
            <a:ext cx="3383280" cy="105156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
            </a:r>
          </a:p>
          <a:p>
            <a:pPr>
              <a:spcBef>
                <a:spcPts val="300"/>
              </a:spcBef>
            </a:pPr>
            <a:r>
              <a:rPr sz="1400" b="0">
                <a:solidFill>
                  <a:srgbClr val="FFFFFF"/>
                </a:solidFill>
                <a:latin typeface="Calibri"/>
              </a:rPr>
              <a:t>Hypothesis  ·  volume cause, FX ticks, retention why</a:t>
            </a:r>
          </a:p>
        </p:txBody>
      </p:sp>
      <p:sp>
        <p:nvSpPr>
          <p:cNvPr id="8" name="Rounded Rectangle 7"/>
          <p:cNvSpPr/>
          <p:nvPr/>
        </p:nvSpPr>
        <p:spPr>
          <a:xfrm>
            <a:off x="8549640" y="4114800"/>
            <a:ext cx="3383280" cy="105156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
            </a:r>
          </a:p>
          <a:p>
            <a:pPr>
              <a:spcBef>
                <a:spcPts val="300"/>
              </a:spcBef>
            </a:pPr>
            <a:r>
              <a:rPr sz="1400" b="0">
                <a:solidFill>
                  <a:srgbClr val="FFFFFF"/>
                </a:solidFill>
                <a:latin typeface="Calibri"/>
              </a:rPr>
              <a:t>Not done  ·  pass 2, Drive API, CME, OPRA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At a glance</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Friday 16 October 2026 · one client, shared demo · every number reproducible offline</a:t>
            </a:r>
          </a:p>
        </p:txBody>
      </p:sp>
      <p:sp>
        <p:nvSpPr>
          <p:cNvPr id="7" name="Rounded Rectangle 6"/>
          <p:cNvSpPr/>
          <p:nvPr/>
        </p:nvSpPr>
        <p:spPr>
          <a:xfrm>
            <a:off x="320040" y="1234440"/>
            <a:ext cx="2743200" cy="2468880"/>
          </a:xfrm>
          <a:prstGeom prst="round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FFFFFF"/>
                </a:solidFill>
                <a:latin typeface="Calibri"/>
              </a:rPr>
              <a:t>58,315</a:t>
            </a:r>
          </a:p>
          <a:p>
            <a:pPr algn="ctr"/>
            <a:r>
              <a:rPr sz="1400" b="0">
                <a:solidFill>
                  <a:srgbClr val="FFFFFF"/>
                </a:solidFill>
                <a:latin typeface="Calibri"/>
              </a:rPr>
              <a:t>candles validated</a:t>
            </a:r>
          </a:p>
        </p:txBody>
      </p:sp>
      <p:sp>
        <p:nvSpPr>
          <p:cNvPr id="8" name="Rounded Rectangle 7"/>
          <p:cNvSpPr/>
          <p:nvPr/>
        </p:nvSpPr>
        <p:spPr>
          <a:xfrm>
            <a:off x="3246120" y="1234440"/>
            <a:ext cx="2743200" cy="246888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FFFFFF"/>
                </a:solidFill>
                <a:latin typeface="Calibri"/>
              </a:rPr>
              <a:t>~900 s</a:t>
            </a:r>
          </a:p>
          <a:p>
            <a:pPr algn="ctr"/>
            <a:r>
              <a:rPr sz="1400" b="0">
                <a:solidFill>
                  <a:srgbClr val="FFFFFF"/>
                </a:solidFill>
                <a:latin typeface="Calibri"/>
              </a:rPr>
              <a:t>feed delay, every symbol</a:t>
            </a:r>
          </a:p>
        </p:txBody>
      </p:sp>
      <p:sp>
        <p:nvSpPr>
          <p:cNvPr id="9" name="Rounded Rectangle 8"/>
          <p:cNvSpPr/>
          <p:nvPr/>
        </p:nvSpPr>
        <p:spPr>
          <a:xfrm>
            <a:off x="6172200" y="1234440"/>
            <a:ext cx="2743200" cy="246888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FFFFFF"/>
                </a:solidFill>
                <a:latin typeface="Calibri"/>
              </a:rPr>
              <a:t>~8,000</a:t>
            </a:r>
          </a:p>
          <a:p>
            <a:pPr algn="ctr"/>
            <a:r>
              <a:rPr sz="1400" b="0">
                <a:solidFill>
                  <a:srgbClr val="FFFFFF"/>
                </a:solidFill>
                <a:latin typeface="Calibri"/>
              </a:rPr>
              <a:t>silent history cap per series</a:t>
            </a:r>
          </a:p>
        </p:txBody>
      </p:sp>
      <p:sp>
        <p:nvSpPr>
          <p:cNvPr id="10" name="Rounded Rectangle 9"/>
          <p:cNvSpPr/>
          <p:nvPr/>
        </p:nvSpPr>
        <p:spPr>
          <a:xfrm>
            <a:off x="9098280" y="1234440"/>
            <a:ext cx="2743200" cy="246888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FFFFFF"/>
                </a:solidFill>
                <a:latin typeface="Calibri"/>
              </a:rPr>
              <a:t>130 + 1</a:t>
            </a:r>
          </a:p>
          <a:p>
            <a:pPr algn="ctr"/>
            <a:r>
              <a:rPr sz="1400" b="0">
                <a:solidFill>
                  <a:srgbClr val="FFFFFF"/>
                </a:solidFill>
                <a:latin typeface="Calibri"/>
              </a:rPr>
              <a:t>AAPL hourly volume mismatches (ETH + RTH)</a:t>
            </a:r>
          </a:p>
        </p:txBody>
      </p:sp>
      <p:sp>
        <p:nvSpPr>
          <p:cNvPr id="11" name="Rounded Rectangle 10"/>
          <p:cNvSpPr/>
          <p:nvPr/>
        </p:nvSpPr>
        <p:spPr>
          <a:xfrm>
            <a:off x="320040" y="3931920"/>
            <a:ext cx="2743200" cy="246888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FFFFFF"/>
                </a:solidFill>
                <a:latin typeface="Calibri"/>
              </a:rPr>
              <a:t>50</a:t>
            </a:r>
          </a:p>
          <a:p>
            <a:pPr algn="ctr"/>
            <a:r>
              <a:rPr sz="1400" b="0">
                <a:solidFill>
                  <a:srgbClr val="FFFFFF"/>
                </a:solidFill>
                <a:latin typeface="Calibri"/>
              </a:rPr>
              <a:t>EUR/USD candles outside session</a:t>
            </a:r>
          </a:p>
        </p:txBody>
      </p:sp>
      <p:sp>
        <p:nvSpPr>
          <p:cNvPr id="12" name="Rounded Rectangle 11"/>
          <p:cNvSpPr/>
          <p:nvPr/>
        </p:nvSpPr>
        <p:spPr>
          <a:xfrm>
            <a:off x="3246120" y="3931920"/>
            <a:ext cx="2743200" cy="246888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FFFFFF"/>
                </a:solidFill>
                <a:latin typeface="Calibri"/>
              </a:rPr>
              <a:t>~3 req/s</a:t>
            </a:r>
          </a:p>
          <a:p>
            <a:pPr algn="ctr"/>
            <a:r>
              <a:rPr sz="1400" b="0">
                <a:solidFill>
                  <a:srgbClr val="FFFFFF"/>
                </a:solidFill>
                <a:latin typeface="Calibri"/>
              </a:rPr>
              <a:t>saturation in market hours</a:t>
            </a:r>
          </a:p>
        </p:txBody>
      </p:sp>
      <p:sp>
        <p:nvSpPr>
          <p:cNvPr id="13" name="Rounded Rectangle 12"/>
          <p:cNvSpPr/>
          <p:nvPr/>
        </p:nvSpPr>
        <p:spPr>
          <a:xfrm>
            <a:off x="6172200" y="3931920"/>
            <a:ext cx="2743200" cy="2468880"/>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FFFFFF"/>
                </a:solidFill>
                <a:latin typeface="Calibri"/>
              </a:rPr>
              <a:t>0</a:t>
            </a:r>
          </a:p>
          <a:p>
            <a:pPr algn="ctr"/>
            <a:r>
              <a:rPr sz="1400" b="0">
                <a:solidFill>
                  <a:srgbClr val="FFFFFF"/>
                </a:solidFill>
                <a:latin typeface="Calibri"/>
              </a:rPr>
              <a:t>HTTP errors in 648 load requests</a:t>
            </a:r>
          </a:p>
        </p:txBody>
      </p:sp>
      <p:sp>
        <p:nvSpPr>
          <p:cNvPr id="14" name="Rounded Rectangle 13"/>
          <p:cNvSpPr/>
          <p:nvPr/>
        </p:nvSpPr>
        <p:spPr>
          <a:xfrm>
            <a:off x="9098280" y="3931920"/>
            <a:ext cx="2743200" cy="246888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FFFFFF"/>
                </a:solidFill>
                <a:latin typeface="Calibri"/>
              </a:rPr>
              <a:t>60</a:t>
            </a:r>
          </a:p>
          <a:p>
            <a:pPr algn="ctr"/>
            <a:r>
              <a:rPr sz="1400" b="0">
                <a:solidFill>
                  <a:srgbClr val="FFFFFF"/>
                </a:solidFill>
                <a:latin typeface="Calibri"/>
              </a:rPr>
              <a:t>holiday rows from the Task A scraper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Done, partial, and not done</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Status as of Sunday 2026-10-18 · nothing here is inferred from a later run</a:t>
            </a:r>
          </a:p>
        </p:txBody>
      </p:sp>
      <p:sp>
        <p:nvSpPr>
          <p:cNvPr id="7" name="Rounded Rectangle 6"/>
          <p:cNvSpPr/>
          <p:nvPr/>
        </p:nvSpPr>
        <p:spPr>
          <a:xfrm>
            <a:off x="256032" y="1143000"/>
            <a:ext cx="3840480" cy="5394960"/>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Done — measured</a:t>
            </a:r>
          </a:p>
          <a:p>
            <a:pPr>
              <a:spcBef>
                <a:spcPts val="300"/>
              </a:spcBef>
            </a:pPr>
            <a:r>
              <a:rPr sz="1300" b="0">
                <a:solidFill>
                  <a:srgbClr val="FFFFFF"/>
                </a:solidFill>
                <a:latin typeface="Calibri"/>
              </a:rPr>
              <a:t>Task A live scrape: NYSE 34, NASDAQ 12, OPRA 14</a:t>
            </a:r>
          </a:p>
          <a:p>
            <a:pPr>
              <a:spcBef>
                <a:spcPts val="300"/>
              </a:spcBef>
            </a:pPr>
            <a:r>
              <a:rPr sz="1300" b="0">
                <a:solidFill>
                  <a:srgbClr val="FFFFFF"/>
                </a:solidFill>
                <a:latin typeface="Calibri"/>
              </a:rPr>
              <a:t>NYSE = NASDAQ for 2026 (0 date differences)</a:t>
            </a:r>
          </a:p>
          <a:p>
            <a:pPr>
              <a:spcBef>
                <a:spcPts val="300"/>
              </a:spcBef>
            </a:pPr>
            <a:r>
              <a:rPr sz="1300" b="0">
                <a:solidFill>
                  <a:srgbClr val="FFFFFF"/>
                </a:solidFill>
                <a:latin typeface="Calibri"/>
              </a:rPr>
              <a:t>Task B plan, T+30 escalation, 3 preventions</a:t>
            </a:r>
          </a:p>
          <a:p>
            <a:pPr>
              <a:spcBef>
                <a:spcPts val="300"/>
              </a:spcBef>
            </a:pPr>
            <a:r>
              <a:rPr sz="1300" b="0">
                <a:solidFill>
                  <a:srgbClr val="FFFFFF"/>
                </a:solidFill>
                <a:latin typeface="Calibri"/>
              </a:rPr>
              <a:t>Pass 1 candles, validation, plots</a:t>
            </a:r>
          </a:p>
          <a:p>
            <a:pPr>
              <a:spcBef>
                <a:spcPts val="300"/>
              </a:spcBef>
            </a:pPr>
            <a:r>
              <a:rPr sz="1300" b="0">
                <a:solidFill>
                  <a:srgbClr val="FFFFFF"/>
                </a:solidFill>
                <a:latin typeface="Calibri"/>
              </a:rPr>
              <a:t>15-minute delay on REST, SSE, Radar</a:t>
            </a:r>
          </a:p>
          <a:p>
            <a:pPr>
              <a:spcBef>
                <a:spcPts val="300"/>
              </a:spcBef>
            </a:pPr>
            <a:r>
              <a:rPr sz="1300" b="0">
                <a:solidFill>
                  <a:srgbClr val="FFFFFF"/>
                </a:solidFill>
                <a:latin typeface="Calibri"/>
              </a:rPr>
              <a:t>Silent cap of about 8000 candles</a:t>
            </a:r>
          </a:p>
          <a:p>
            <a:pPr>
              <a:spcBef>
                <a:spcPts val="300"/>
              </a:spcBef>
            </a:pPr>
            <a:r>
              <a:rPr sz="1300" b="0">
                <a:solidFill>
                  <a:srgbClr val="FFFFFF"/>
                </a:solidFill>
                <a:latin typeface="Calibri"/>
              </a:rPr>
              <a:t>Load pre-market and market hours</a:t>
            </a:r>
          </a:p>
          <a:p>
            <a:pPr>
              <a:spcBef>
                <a:spcPts val="300"/>
              </a:spcBef>
            </a:pPr>
            <a:r>
              <a:rPr sz="1300" b="0">
                <a:solidFill>
                  <a:srgbClr val="FFFFFF"/>
                </a:solidFill>
                <a:latin typeface="Calibri"/>
              </a:rPr>
              <a:t>Load: throughput flat, ~1.6 / ~3.2 req/s</a:t>
            </a:r>
          </a:p>
          <a:p>
            <a:pPr>
              <a:spcBef>
                <a:spcPts val="300"/>
              </a:spcBef>
            </a:pPr>
            <a:r>
              <a:rPr sz="1300" b="0">
                <a:solidFill>
                  <a:srgbClr val="FFFFFF"/>
                </a:solidFill>
                <a:latin typeface="Calibri"/>
              </a:rPr>
              <a:t>Re-fetch of the 1h bars: stable</a:t>
            </a:r>
          </a:p>
        </p:txBody>
      </p:sp>
      <p:sp>
        <p:nvSpPr>
          <p:cNvPr id="8" name="Rounded Rectangle 7"/>
          <p:cNvSpPr/>
          <p:nvPr/>
        </p:nvSpPr>
        <p:spPr>
          <a:xfrm>
            <a:off x="4187952" y="1143000"/>
            <a:ext cx="3840480" cy="539496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Partial — say it that way</a:t>
            </a:r>
          </a:p>
          <a:p>
            <a:pPr>
              <a:spcBef>
                <a:spcPts val="300"/>
              </a:spcBef>
            </a:pPr>
            <a:r>
              <a:rPr sz="1300" b="0">
                <a:solidFill>
                  <a:srgbClr val="FFFFFF"/>
                </a:solidFill>
                <a:latin typeface="Calibri"/>
              </a:rPr>
              <a:t>Volume split is real; the cause is not proven</a:t>
            </a:r>
          </a:p>
          <a:p>
            <a:pPr>
              <a:spcBef>
                <a:spcPts val="300"/>
              </a:spcBef>
            </a:pPr>
            <a:r>
              <a:rPr sz="1300" b="0">
                <a:solidFill>
                  <a:srgbClr val="FFFFFF"/>
                </a:solidFill>
                <a:latin typeface="Calibri"/>
              </a:rPr>
              <a:t>AAPL 130 ETH + 1 RTH; TSLA 118 ETH + 2 RTH</a:t>
            </a:r>
          </a:p>
          <a:p>
            <a:pPr>
              <a:spcBef>
                <a:spcPts val="300"/>
              </a:spcBef>
            </a:pPr>
            <a:r>
              <a:rPr sz="1300" b="0">
                <a:solidFill>
                  <a:srgbClr val="FFFFFF"/>
                </a:solidFill>
                <a:latin typeface="Calibri"/>
              </a:rPr>
              <a:t>EUR/USD: 50 outside-session 1m candles; meaning open</a:t>
            </a:r>
          </a:p>
          <a:p>
            <a:pPr>
              <a:spcBef>
                <a:spcPts val="300"/>
              </a:spcBef>
            </a:pPr>
            <a:r>
              <a:rPr sz="1300" b="0">
                <a:solidFill>
                  <a:srgbClr val="FFFFFF"/>
                </a:solidFill>
                <a:latin typeface="Calibri"/>
              </a:rPr>
              <a:t>Weekend logger collected, then died</a:t>
            </a:r>
          </a:p>
          <a:p>
            <a:pPr>
              <a:spcBef>
                <a:spcPts val="300"/>
              </a:spcBef>
            </a:pPr>
            <a:r>
              <a:rPr sz="1300" b="0">
                <a:solidFill>
                  <a:srgbClr val="FFFFFF"/>
                </a:solidFill>
                <a:latin typeface="Calibri"/>
              </a:rPr>
              <a:t>Gap Friday 14:49Z → Saturday restart</a:t>
            </a:r>
          </a:p>
          <a:p>
            <a:pPr>
              <a:spcBef>
                <a:spcPts val="300"/>
              </a:spcBef>
            </a:pPr>
            <a:r>
              <a:rPr sz="1300" b="0">
                <a:solidFill>
                  <a:srgbClr val="FFFFFF"/>
                </a:solidFill>
                <a:latin typeface="Calibri"/>
              </a:rPr>
              <a:t>NASDAQ publishes the current year only</a:t>
            </a:r>
          </a:p>
          <a:p>
            <a:pPr>
              <a:spcBef>
                <a:spcPts val="300"/>
              </a:spcBef>
            </a:pPr>
            <a:r>
              <a:rPr sz="1300" b="0">
                <a:solidFill>
                  <a:srgbClr val="FFFFFF"/>
                </a:solidFill>
                <a:latin typeface="Calibri"/>
              </a:rPr>
              <a:t>OPRA PDF is 2025, plus 1 Jan 2026</a:t>
            </a:r>
          </a:p>
          <a:p>
            <a:pPr>
              <a:spcBef>
                <a:spcPts val="300"/>
              </a:spcBef>
            </a:pPr>
            <a:r>
              <a:rPr sz="1300" b="0">
                <a:solidFill>
                  <a:srgbClr val="FFFFFF"/>
                </a:solidFill>
                <a:latin typeface="Calibri"/>
              </a:rPr>
              <a:t>Crypto was requested; the demo has none</a:t>
            </a:r>
          </a:p>
          <a:p>
            <a:pPr>
              <a:spcBef>
                <a:spcPts val="300"/>
              </a:spcBef>
            </a:pPr>
            <a:r>
              <a:rPr sz="1300" b="0">
                <a:solidFill>
                  <a:srgbClr val="FFFFFF"/>
                </a:solidFill>
                <a:latin typeface="Calibri"/>
              </a:rPr>
              <a:t>Drive: CSVs uploaded by hand; API path untested</a:t>
            </a:r>
          </a:p>
        </p:txBody>
      </p:sp>
      <p:sp>
        <p:nvSpPr>
          <p:cNvPr id="9" name="Rounded Rectangle 8"/>
          <p:cNvSpPr/>
          <p:nvPr/>
        </p:nvSpPr>
        <p:spPr>
          <a:xfrm>
            <a:off x="8119872" y="1143000"/>
            <a:ext cx="3794760" cy="539496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Not done — and why</a:t>
            </a:r>
          </a:p>
          <a:p>
            <a:pPr>
              <a:spcBef>
                <a:spcPts val="300"/>
              </a:spcBef>
            </a:pPr>
            <a:r>
              <a:rPr sz="1300" b="0">
                <a:solidFill>
                  <a:srgbClr val="FFFFFF"/>
                </a:solidFill>
                <a:latin typeface="Calibri"/>
              </a:rPr>
              <a:t>Pass 2: Monday 19 Oct after 15:30Z</a:t>
            </a:r>
          </a:p>
          <a:p>
            <a:pPr>
              <a:spcBef>
                <a:spcPts val="300"/>
              </a:spcBef>
            </a:pPr>
            <a:r>
              <a:rPr sz="1300" b="0">
                <a:solidFill>
                  <a:srgbClr val="FFFFFF"/>
                </a:solidFill>
                <a:latin typeface="Calibri"/>
              </a:rPr>
              <a:t>Logger analysis of the freeze: same window</a:t>
            </a:r>
          </a:p>
          <a:p>
            <a:pPr>
              <a:spcBef>
                <a:spcPts val="300"/>
              </a:spcBef>
            </a:pPr>
            <a:r>
              <a:rPr sz="1300" b="0">
                <a:solidFill>
                  <a:srgbClr val="FFFFFF"/>
                </a:solidFill>
                <a:latin typeface="Calibri"/>
              </a:rPr>
              <a:t>Drive API upload: not run with real credentials</a:t>
            </a:r>
          </a:p>
          <a:p>
            <a:pPr>
              <a:spcBef>
                <a:spcPts val="300"/>
              </a:spcBef>
            </a:pPr>
            <a:r>
              <a:rPr sz="1300" b="0">
                <a:solidFill>
                  <a:srgbClr val="FFFFFF"/>
                </a:solidFill>
                <a:latin typeface="Calibri"/>
              </a:rPr>
              <a:t>CME rows: site terms forbid scraping</a:t>
            </a:r>
          </a:p>
          <a:p>
            <a:pPr>
              <a:spcBef>
                <a:spcPts val="300"/>
              </a:spcBef>
            </a:pPr>
            <a:r>
              <a:rPr sz="1300" b="0">
                <a:solidFill>
                  <a:srgbClr val="FFFFFF"/>
                </a:solidFill>
                <a:latin typeface="Calibri"/>
              </a:rPr>
              <a:t>OPRA 2026 PDF: not published (HTTP 403)</a:t>
            </a:r>
          </a:p>
          <a:p>
            <a:pPr>
              <a:spcBef>
                <a:spcPts val="300"/>
              </a:spcBef>
            </a:pPr>
            <a:r>
              <a:rPr sz="1300" b="0">
                <a:solidFill>
                  <a:srgbClr val="FFFFFF"/>
                </a:solidFill>
                <a:latin typeface="Calibri"/>
              </a:rPr>
              <a:t>nasdaq.com Playwright path: not needed</a:t>
            </a:r>
          </a:p>
          <a:p>
            <a:pPr>
              <a:spcBef>
                <a:spcPts val="300"/>
              </a:spcBef>
            </a:pPr>
            <a:r>
              <a:rPr sz="1300" b="0">
                <a:solidFill>
                  <a:srgbClr val="FFFFFF"/>
                </a:solidFill>
                <a:latin typeface="Calibri"/>
              </a:rPr>
              <a:t>TimeAndSale: TIMED_OUT on demo REST</a:t>
            </a:r>
          </a:p>
          <a:p>
            <a:pPr>
              <a:spcBef>
                <a:spcPts val="300"/>
              </a:spcBef>
            </a:pPr>
            <a:r>
              <a:rPr sz="1300" b="0">
                <a:solidFill>
                  <a:srgbClr val="FFFFFF"/>
                </a:solidFill>
                <a:latin typeface="Calibri"/>
              </a:rPr>
              <a:t>Second load client / burst / batching: not run</a:t>
            </a:r>
          </a:p>
          <a:p>
            <a:pPr>
              <a:spcBef>
                <a:spcPts val="300"/>
              </a:spcBef>
            </a:pPr>
            <a:r>
              <a:rPr sz="1300" b="0">
                <a:solidFill>
                  <a:srgbClr val="FFFFFF"/>
                </a:solidFill>
                <a:latin typeface="Calibri"/>
              </a:rPr>
              <a:t>SPY/MSFT RTH check and tho=true: not run</a:t>
            </a:r>
          </a:p>
          <a:p>
            <a:pPr>
              <a:spcBef>
                <a:spcPts val="300"/>
              </a:spcBef>
            </a:pPr>
            <a:r>
              <a:rPr sz="1300" b="0">
                <a:solidFill>
                  <a:srgbClr val="FFFFFF"/>
                </a:solidFill>
                <a:latin typeface="Calibri"/>
              </a:rPr>
              <a:t>Production capacity: not claimed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91695" cy="128016"/>
          </a:xfrm>
          <a:prstGeom prst="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515600" cy="3108960"/>
          </a:xfrm>
          <a:prstGeom prst="rect">
            <a:avLst/>
          </a:prstGeom>
          <a:noFill/>
        </p:spPr>
        <p:txBody>
          <a:bodyPr wrap="none">
            <a:spAutoFit/>
          </a:bodyPr>
          <a:lstStyle/>
          <a:p>
            <a:r>
              <a:rPr sz="7200" b="1">
                <a:solidFill>
                  <a:srgbClr val="E09F3E"/>
                </a:solidFill>
                <a:latin typeface="Calibri"/>
              </a:rPr>
              <a:t>01</a:t>
            </a:r>
          </a:p>
          <a:p>
            <a:r>
              <a:rPr sz="4000" b="1">
                <a:solidFill>
                  <a:srgbClr val="FFFFFF"/>
                </a:solidFill>
                <a:latin typeface="Calibri"/>
              </a:rPr>
              <a:t>Task A — holiday calendar</a:t>
            </a:r>
          </a:p>
          <a:p>
            <a:r>
              <a:rPr sz="1800" b="0">
                <a:solidFill>
                  <a:srgbClr val="D6EEF0"/>
                </a:solidFill>
                <a:latin typeface="Calibri"/>
              </a:rPr>
              <a:t>Scraper, validation and the files on Google Drive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Task A — what the scraper actually returned</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Live run 2026-10-16 11:31Z · overall validation WARN, not FAIL</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oliday_rows.png"/>
          <p:cNvPicPr>
            <a:picLocks noChangeAspect="1"/>
          </p:cNvPicPr>
          <p:nvPr/>
        </p:nvPicPr>
        <p:blipFill>
          <a:blip r:embed="rId2"/>
          <a:stretch>
            <a:fillRect/>
          </a:stretch>
        </p:blipFill>
        <p:spPr>
          <a:xfrm>
            <a:off x="292608" y="2123380"/>
            <a:ext cx="7635240" cy="3443343"/>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How to read the bars</a:t>
            </a:r>
          </a:p>
          <a:p>
            <a:pPr>
              <a:spcBef>
                <a:spcPts val="300"/>
              </a:spcBef>
            </a:pPr>
            <a:r>
              <a:rPr sz="1300" b="0">
                <a:solidFill>
                  <a:srgbClr val="FFFFFF"/>
                </a:solidFill>
                <a:latin typeface="Calibri"/>
              </a:rPr>
              <a:t>Teal = full-day close.</a:t>
            </a:r>
          </a:p>
          <a:p>
            <a:pPr>
              <a:spcBef>
                <a:spcPts val="300"/>
              </a:spcBef>
            </a:pPr>
            <a:r>
              <a:rPr sz="1300" b="0">
                <a:solidFill>
                  <a:srgbClr val="FFFFFF"/>
                </a:solidFill>
                <a:latin typeface="Calibri"/>
              </a:rPr>
              <a:t>Amber = early close at 13:00 local.</a:t>
            </a:r>
          </a:p>
          <a:p>
            <a:pPr>
              <a:spcBef>
                <a:spcPts val="300"/>
              </a:spcBef>
            </a:pPr>
            <a:r>
              <a:rPr sz="1300" b="0">
                <a:solidFill>
                  <a:srgbClr val="FFFFFF"/>
                </a:solidFill>
                <a:latin typeface="Calibri"/>
              </a:rPr>
              <a:t>NYSE covers 2026–2028.</a:t>
            </a:r>
          </a:p>
          <a:p>
            <a:pPr>
              <a:spcBef>
                <a:spcPts val="300"/>
              </a:spcBef>
            </a:pPr>
            <a:r>
              <a:rPr sz="1300" b="0">
                <a:solidFill>
                  <a:srgbClr val="FFFFFF"/>
                </a:solidFill>
                <a:latin typeface="Calibri"/>
              </a:rPr>
              <a:t>NASDAQ is 2026 only.</a:t>
            </a:r>
          </a:p>
          <a:p>
            <a:pPr>
              <a:spcBef>
                <a:spcPts val="300"/>
              </a:spcBef>
            </a:pPr>
            <a:r>
              <a:rPr sz="1300" b="0">
                <a:solidFill>
                  <a:srgbClr val="FFFFFF"/>
                </a:solidFill>
                <a:latin typeface="Calibri"/>
              </a:rPr>
              <a:t>OPRA is the 2025 PDF.</a:t>
            </a:r>
          </a:p>
          <a:p>
            <a:pPr>
              <a:spcBef>
                <a:spcPts val="300"/>
              </a:spcBef>
            </a:pPr>
            <a:r>
              <a:rPr sz="1300" b="0">
                <a:solidFill>
                  <a:srgbClr val="FFFFFF"/>
                </a:solidFill>
                <a:latin typeface="Calibri"/>
              </a:rPr>
              <a:t>CME is an empty bar on purpose.</a:t>
            </a:r>
          </a:p>
        </p:txBody>
      </p:sp>
      <p:sp>
        <p:nvSpPr>
          <p:cNvPr id="10" name="Rounded Rectangle 9"/>
          <p:cNvSpPr/>
          <p:nvPr/>
        </p:nvSpPr>
        <p:spPr>
          <a:xfrm>
            <a:off x="8183879" y="4096512"/>
            <a:ext cx="3749039" cy="251460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Not fetched</a:t>
            </a:r>
          </a:p>
          <a:p>
            <a:pPr>
              <a:spcBef>
                <a:spcPts val="300"/>
              </a:spcBef>
            </a:pPr>
            <a:r>
              <a:rPr sz="1300" b="0">
                <a:solidFill>
                  <a:srgbClr val="FFFFFF"/>
                </a:solidFill>
                <a:latin typeface="Calibri"/>
              </a:rPr>
              <a:t>CME returns 403 and its terms forbid scripts.</a:t>
            </a:r>
          </a:p>
          <a:p>
            <a:pPr>
              <a:spcBef>
                <a:spcPts val="300"/>
              </a:spcBef>
            </a:pPr>
            <a:r>
              <a:rPr sz="1300" b="0">
                <a:solidFill>
                  <a:srgbClr val="FFFFFF"/>
                </a:solidFill>
                <a:latin typeface="Calibri"/>
              </a:rPr>
              <a:t>No CME CSV exists to upload.</a:t>
            </a:r>
          </a:p>
          <a:p>
            <a:pPr>
              <a:spcBef>
                <a:spcPts val="300"/>
              </a:spcBef>
            </a:pPr>
            <a:r>
              <a:rPr sz="1300" b="0">
                <a:solidFill>
                  <a:srgbClr val="FFFFFF"/>
                </a:solidFill>
                <a:latin typeface="Calibri"/>
              </a:rPr>
              <a:t>OPRA 2026 PDF was not on the CDN.</a:t>
            </a:r>
          </a:p>
          <a:p>
            <a:pPr>
              <a:spcBef>
                <a:spcPts val="300"/>
              </a:spcBef>
            </a:pPr>
            <a:r>
              <a:rPr sz="1300" b="0">
                <a:solidFill>
                  <a:srgbClr val="FFFFFF"/>
                </a:solidFill>
                <a:latin typeface="Calibri"/>
              </a:rPr>
              <a:t>CSVs on Drive were uploaded by hand.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91695" cy="128016"/>
          </a:xfrm>
          <a:prstGeom prst="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515600" cy="3108960"/>
          </a:xfrm>
          <a:prstGeom prst="rect">
            <a:avLst/>
          </a:prstGeom>
          <a:noFill/>
        </p:spPr>
        <p:txBody>
          <a:bodyPr wrap="none">
            <a:spAutoFit/>
          </a:bodyPr>
          <a:lstStyle/>
          <a:p>
            <a:r>
              <a:rPr sz="7200" b="1">
                <a:solidFill>
                  <a:srgbClr val="0E7C86"/>
                </a:solidFill>
                <a:latin typeface="Calibri"/>
              </a:rPr>
              <a:t>02</a:t>
            </a:r>
          </a:p>
          <a:p>
            <a:r>
              <a:rPr sz="4000" b="1">
                <a:solidFill>
                  <a:srgbClr val="FFFFFF"/>
                </a:solidFill>
                <a:latin typeface="Calibri"/>
              </a:rPr>
              <a:t>Data consistency</a:t>
            </a:r>
          </a:p>
          <a:p>
            <a:r>
              <a:rPr sz="1800" b="0">
                <a:solidFill>
                  <a:srgbClr val="D6EEF0"/>
                </a:solidFill>
                <a:latin typeface="Calibri"/>
              </a:rPr>
              <a:t>Delay, retention, cross-timeframe volume, prices and sessions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The feed is 15 minutes delayed</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Blue = quote age · orange = last 1-minute candle age · dashed line = 15 min</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ta_age_timeline.png"/>
          <p:cNvPicPr>
            <a:picLocks noChangeAspect="1"/>
          </p:cNvPicPr>
          <p:nvPr/>
        </p:nvPicPr>
        <p:blipFill>
          <a:blip r:embed="rId2"/>
          <a:stretch>
            <a:fillRect/>
          </a:stretch>
        </p:blipFill>
        <p:spPr>
          <a:xfrm>
            <a:off x="1024128" y="1170432"/>
            <a:ext cx="6172199" cy="5349240"/>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the chart shows</a:t>
            </a:r>
          </a:p>
          <a:p>
            <a:pPr>
              <a:spcBef>
                <a:spcPts val="300"/>
              </a:spcBef>
            </a:pPr>
            <a:r>
              <a:rPr sz="1300" b="0">
                <a:solidFill>
                  <a:srgbClr val="FFFFFF"/>
                </a:solidFill>
                <a:latin typeface="Calibri"/>
              </a:rPr>
              <a:t>Each panel is one symbol.</a:t>
            </a:r>
          </a:p>
          <a:p>
            <a:pPr>
              <a:spcBef>
                <a:spcPts val="300"/>
              </a:spcBef>
            </a:pPr>
            <a:r>
              <a:rPr sz="1300" b="0">
                <a:solidFill>
                  <a:srgbClr val="FFFFFF"/>
                </a:solidFill>
                <a:latin typeface="Calibri"/>
              </a:rPr>
              <a:t>Quote age sits on the dashed 15-minute line.</a:t>
            </a:r>
          </a:p>
          <a:p>
            <a:pPr>
              <a:spcBef>
                <a:spcPts val="300"/>
              </a:spcBef>
            </a:pPr>
            <a:r>
              <a:rPr sz="1300" b="0">
                <a:solidFill>
                  <a:srgbClr val="FFFFFF"/>
                </a:solidFill>
                <a:latin typeface="Calibri"/>
              </a:rPr>
              <a:t>Same floor on REST, SSE, and Radar.</a:t>
            </a:r>
          </a:p>
          <a:p>
            <a:pPr>
              <a:spcBef>
                <a:spcPts val="300"/>
              </a:spcBef>
            </a:pPr>
            <a:r>
              <a:rPr sz="1300" b="0">
                <a:solidFill>
                  <a:srgbClr val="FFFFFF"/>
                </a:solidFill>
                <a:latin typeface="Calibri"/>
              </a:rPr>
              <a:t>A freshness SLO has to be written as 900 seconds plus slack.</a:t>
            </a:r>
          </a:p>
          <a:p>
            <a:pPr>
              <a:spcBef>
                <a:spcPts val="300"/>
              </a:spcBef>
            </a:pPr>
            <a:r>
              <a:rPr sz="1300" b="0">
                <a:solidFill>
                  <a:srgbClr val="FFFFFF"/>
                </a:solidFill>
                <a:latin typeface="Calibri"/>
              </a:rPr>
              <a:t>“Fresh” on this demo means about 15 minutes old.</a:t>
            </a:r>
          </a:p>
        </p:txBody>
      </p:sp>
      <p:sp>
        <p:nvSpPr>
          <p:cNvPr id="10" name="Rounded Rectangle 9"/>
          <p:cNvSpPr/>
          <p:nvPr/>
        </p:nvSpPr>
        <p:spPr>
          <a:xfrm>
            <a:off x="8183879" y="4096512"/>
            <a:ext cx="3749039" cy="2514600"/>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Verified</a:t>
            </a:r>
          </a:p>
          <a:p>
            <a:pPr>
              <a:spcBef>
                <a:spcPts val="300"/>
              </a:spcBef>
            </a:pPr>
            <a:r>
              <a:rPr sz="1300" b="0">
                <a:solidFill>
                  <a:srgbClr val="FFFFFF"/>
                </a:solidFill>
                <a:latin typeface="Calibri"/>
              </a:rPr>
              <a:t>Measured, not assumed.</a:t>
            </a:r>
          </a:p>
          <a:p>
            <a:pPr>
              <a:spcBef>
                <a:spcPts val="300"/>
              </a:spcBef>
            </a:pPr>
            <a:r>
              <a:rPr sz="1300" b="0">
                <a:solidFill>
                  <a:srgbClr val="FFFFFF"/>
                </a:solidFill>
                <a:latin typeface="Calibri"/>
              </a:rPr>
              <a:t>Clock skew does not fit: every symbol, both transports, same floor.</a:t>
            </a:r>
          </a:p>
          <a:p>
            <a:pPr>
              <a:spcBef>
                <a:spcPts val="300"/>
              </a:spcBef>
            </a:pPr>
            <a:r>
              <a:rPr sz="1300" b="0">
                <a:solidFill>
                  <a:srgbClr val="FFFFFF"/>
                </a:solidFill>
                <a:latin typeface="Calibri"/>
              </a:rPr>
              <a:t>The delay is upstream of the web tier. Load did not change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Price integrity: good, not perfect</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Candles per calendar day · holidays and weekends show up as gaps, not as bad timestamps</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er_day_1m_counts.png"/>
          <p:cNvPicPr>
            <a:picLocks noChangeAspect="1"/>
          </p:cNvPicPr>
          <p:nvPr/>
        </p:nvPicPr>
        <p:blipFill>
          <a:blip r:embed="rId2"/>
          <a:stretch>
            <a:fillRect/>
          </a:stretch>
        </p:blipFill>
        <p:spPr>
          <a:xfrm>
            <a:off x="1045559" y="1170432"/>
            <a:ext cx="6129337" cy="5349240"/>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was right</a:t>
            </a:r>
          </a:p>
          <a:p>
            <a:pPr>
              <a:spcBef>
                <a:spcPts val="300"/>
              </a:spcBef>
            </a:pPr>
            <a:r>
              <a:rPr sz="1300" b="0">
                <a:solidFill>
                  <a:srgbClr val="FFFFFF"/>
                </a:solidFill>
                <a:latin typeface="Calibri"/>
              </a:rPr>
              <a:t>58,315 candles.</a:t>
            </a:r>
          </a:p>
          <a:p>
            <a:pPr>
              <a:spcBef>
                <a:spcPts val="300"/>
              </a:spcBef>
            </a:pPr>
            <a:r>
              <a:rPr sz="1300" b="0">
                <a:solidFill>
                  <a:srgbClr val="FFFFFF"/>
                </a:solidFill>
                <a:latin typeface="Calibri"/>
              </a:rPr>
              <a:t>21 boundary duplicates, 0 conflicts.</a:t>
            </a:r>
          </a:p>
          <a:p>
            <a:pPr>
              <a:spcBef>
                <a:spcPts val="300"/>
              </a:spcBef>
            </a:pPr>
            <a:r>
              <a:rPr sz="1300" b="0">
                <a:solidFill>
                  <a:srgbClr val="FFFFFF"/>
                </a:solidFill>
                <a:latin typeface="Calibri"/>
              </a:rPr>
              <a:t>0 misaligned timestamps.</a:t>
            </a:r>
          </a:p>
          <a:p>
            <a:pPr>
              <a:spcBef>
                <a:spcPts val="300"/>
              </a:spcBef>
            </a:pPr>
            <a:r>
              <a:rPr sz="1300" b="0">
                <a:solidFill>
                  <a:srgbClr val="FFFFFF"/>
                </a:solidFill>
                <a:latin typeface="Calibri"/>
              </a:rPr>
              <a:t>0 out-of-order rows.</a:t>
            </a:r>
          </a:p>
          <a:p>
            <a:pPr>
              <a:spcBef>
                <a:spcPts val="300"/>
              </a:spcBef>
            </a:pPr>
            <a:r>
              <a:rPr sz="1300" b="0">
                <a:solidFill>
                  <a:srgbClr val="FFFFFF"/>
                </a:solidFill>
                <a:latin typeface="Calibri"/>
              </a:rPr>
              <a:t>0 NaN OHLC.</a:t>
            </a:r>
          </a:p>
          <a:p>
            <a:pPr>
              <a:spcBef>
                <a:spcPts val="300"/>
              </a:spcBef>
            </a:pPr>
            <a:r>
              <a:rPr sz="1300" b="0">
                <a:solidFill>
                  <a:srgbClr val="FFFFFF"/>
                </a:solidFill>
                <a:latin typeface="Calibri"/>
              </a:rPr>
              <a:t>Holiday gaps match the Task A calendar.</a:t>
            </a:r>
          </a:p>
          <a:p>
            <a:pPr>
              <a:spcBef>
                <a:spcPts val="300"/>
              </a:spcBef>
            </a:pPr>
            <a:r>
              <a:rPr sz="1300" b="0">
                <a:solidFill>
                  <a:srgbClr val="FFFFFF"/>
                </a:solidFill>
                <a:latin typeface="Calibri"/>
              </a:rPr>
              <a:t>First hourly bar 00:00 ET; DST ok.</a:t>
            </a:r>
          </a:p>
          <a:p>
            <a:pPr>
              <a:spcBef>
                <a:spcPts val="300"/>
              </a:spcBef>
            </a:pPr>
            <a:r>
              <a:rPr sz="1300" b="0">
                <a:solidFill>
                  <a:srgbClr val="FFFFFF"/>
                </a:solidFill>
                <a:latin typeface="Calibri"/>
              </a:rPr>
              <a:t>Not perfect: OHLC differs on 6 hourly-from-5m candles.</a:t>
            </a:r>
          </a:p>
        </p:txBody>
      </p:sp>
      <p:sp>
        <p:nvSpPr>
          <p:cNvPr id="10" name="Rounded Rectangle 9"/>
          <p:cNvSpPr/>
          <p:nvPr/>
        </p:nvSpPr>
        <p:spPr>
          <a:xfrm>
            <a:off x="8183879" y="4096512"/>
            <a:ext cx="3749039" cy="251460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Read the gaps</a:t>
            </a:r>
          </a:p>
          <a:p>
            <a:pPr>
              <a:spcBef>
                <a:spcPts val="300"/>
              </a:spcBef>
            </a:pPr>
            <a:r>
              <a:rPr sz="1300" b="0">
                <a:solidFill>
                  <a:srgbClr val="FFFFFF"/>
                </a:solidFill>
                <a:latin typeface="Calibri"/>
              </a:rPr>
              <a:t>Equity 1-minute series go to zero on the weekend.</a:t>
            </a:r>
          </a:p>
          <a:p>
            <a:pPr>
              <a:spcBef>
                <a:spcPts val="300"/>
              </a:spcBef>
            </a:pPr>
            <a:r>
              <a:rPr sz="1300" b="0">
                <a:solidFill>
                  <a:srgbClr val="FFFFFF"/>
                </a:solidFill>
                <a:latin typeface="Calibri"/>
              </a:rPr>
              <a:t>ES stops and restarts on its own session.</a:t>
            </a:r>
          </a:p>
          <a:p>
            <a:pPr>
              <a:spcBef>
                <a:spcPts val="300"/>
              </a:spcBef>
            </a:pPr>
            <a:r>
              <a:rPr sz="1300" b="0">
                <a:solidFill>
                  <a:srgbClr val="FFFFFF"/>
                </a:solidFill>
                <a:latin typeface="Calibri"/>
              </a:rPr>
              <a:t>EUR/USD has 50 out-of-session candles. Next chart.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Prices: almost, not perfectly, consistent</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Every price-field difference between served 1h candles and the 5-minute rebuild</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ohlc_mismatches.png"/>
          <p:cNvPicPr>
            <a:picLocks noChangeAspect="1"/>
          </p:cNvPicPr>
          <p:nvPr/>
        </p:nvPicPr>
        <p:blipFill>
          <a:blip r:embed="rId2"/>
          <a:stretch>
            <a:fillRect/>
          </a:stretch>
        </p:blipFill>
        <p:spPr>
          <a:xfrm>
            <a:off x="292608" y="2338209"/>
            <a:ext cx="7635240" cy="3013684"/>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the bars show</a:t>
            </a:r>
          </a:p>
          <a:p>
            <a:pPr>
              <a:spcBef>
                <a:spcPts val="300"/>
              </a:spcBef>
            </a:pPr>
            <a:r>
              <a:rPr sz="1300" b="0">
                <a:solidFill>
                  <a:srgbClr val="FFFFFF"/>
                </a:solidFill>
                <a:latin typeface="Calibri"/>
              </a:rPr>
              <a:t>6 hourly candles differ in a price field.</a:t>
            </a:r>
          </a:p>
          <a:p>
            <a:pPr>
              <a:spcBef>
                <a:spcPts val="300"/>
              </a:spcBef>
            </a:pPr>
            <a:r>
              <a:rPr sz="1300" b="0">
                <a:solidFill>
                  <a:srgbClr val="FFFFFF"/>
                </a:solidFill>
                <a:latin typeface="Calibri"/>
              </a:rPr>
              <a:t>3 are the forming 11:00Z bar (expected).</a:t>
            </a:r>
          </a:p>
          <a:p>
            <a:pPr>
              <a:spcBef>
                <a:spcPts val="300"/>
              </a:spcBef>
            </a:pPr>
            <a:r>
              <a:rPr sz="1300" b="0">
                <a:solidFill>
                  <a:srgbClr val="FFFFFF"/>
                </a:solidFill>
                <a:latin typeface="Calibri"/>
              </a:rPr>
              <a:t>3 are complete hours: AAPL 2 Oct, TSLA 8 Oct.</a:t>
            </a:r>
          </a:p>
          <a:p>
            <a:pPr>
              <a:spcBef>
                <a:spcPts val="300"/>
              </a:spcBef>
            </a:pPr>
            <a:r>
              <a:rPr sz="1300" b="0">
                <a:solidFill>
                  <a:srgbClr val="FFFFFF"/>
                </a:solidFill>
                <a:latin typeface="Calibri"/>
              </a:rPr>
              <a:t>Largest gap 0.023% of price.</a:t>
            </a:r>
          </a:p>
        </p:txBody>
      </p:sp>
      <p:sp>
        <p:nvSpPr>
          <p:cNvPr id="10" name="Rounded Rectangle 9"/>
          <p:cNvSpPr/>
          <p:nvPr/>
        </p:nvSpPr>
        <p:spPr>
          <a:xfrm>
            <a:off x="8183879" y="4096512"/>
            <a:ext cx="3749039" cy="251460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Corrected claim</a:t>
            </a:r>
          </a:p>
          <a:p>
            <a:pPr>
              <a:spcBef>
                <a:spcPts val="300"/>
              </a:spcBef>
            </a:pPr>
            <a:r>
              <a:rPr sz="1300" b="0">
                <a:solidFill>
                  <a:srgbClr val="FFFFFF"/>
                </a:solidFill>
                <a:latin typeface="Calibri"/>
              </a:rPr>
              <a:t>An earlier draft said OHLC always agrees.</a:t>
            </a:r>
          </a:p>
          <a:p>
            <a:pPr>
              <a:spcBef>
                <a:spcPts val="300"/>
              </a:spcBef>
            </a:pPr>
            <a:r>
              <a:rPr sz="1300" b="0">
                <a:solidFill>
                  <a:srgbClr val="FFFFFF"/>
                </a:solidFill>
                <a:latin typeface="Calibri"/>
              </a:rPr>
              <a:t>It does not. Small, real differences.</a:t>
            </a:r>
          </a:p>
          <a:p>
            <a:pPr>
              <a:spcBef>
                <a:spcPts val="300"/>
              </a:spcBef>
            </a:pPr>
            <a:r>
              <a:rPr sz="1300" b="0">
                <a:solidFill>
                  <a:srgbClr val="FFFFFF"/>
                </a:solidFill>
                <a:latin typeface="Calibri"/>
              </a:rPr>
              <a:t>5m vs 1m differs only on incomplete buckets.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Hourly volume differs from the 5-minute sum</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208 hourly candles each · green matches · coral is extended hours · amber is regular hours</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olume_split.png"/>
          <p:cNvPicPr>
            <a:picLocks noChangeAspect="1"/>
          </p:cNvPicPr>
          <p:nvPr/>
        </p:nvPicPr>
        <p:blipFill>
          <a:blip r:embed="rId2"/>
          <a:stretch>
            <a:fillRect/>
          </a:stretch>
        </p:blipFill>
        <p:spPr>
          <a:xfrm>
            <a:off x="292608" y="2123380"/>
            <a:ext cx="7635240" cy="3443343"/>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was counted</a:t>
            </a:r>
          </a:p>
          <a:p>
            <a:pPr>
              <a:spcBef>
                <a:spcPts val="300"/>
              </a:spcBef>
            </a:pPr>
            <a:r>
              <a:rPr sz="1300" b="0">
                <a:solidFill>
                  <a:srgbClr val="FFFFFF"/>
                </a:solidFill>
                <a:latin typeface="Calibri"/>
              </a:rPr>
              <a:t>AAPL: 131 of 208 differ.</a:t>
            </a:r>
          </a:p>
          <a:p>
            <a:pPr>
              <a:spcBef>
                <a:spcPts val="300"/>
              </a:spcBef>
            </a:pPr>
            <a:r>
              <a:rPr sz="1300" b="0">
                <a:solidFill>
                  <a:srgbClr val="FFFFFF"/>
                </a:solidFill>
                <a:latin typeface="Calibri"/>
              </a:rPr>
              <a:t>130 of those are outside 09:30–16:00 ET.</a:t>
            </a:r>
          </a:p>
          <a:p>
            <a:pPr>
              <a:spcBef>
                <a:spcPts val="300"/>
              </a:spcBef>
            </a:pPr>
            <a:r>
              <a:rPr sz="1300" b="0">
                <a:solidFill>
                  <a:srgbClr val="FFFFFF"/>
                </a:solidFill>
                <a:latin typeface="Calibri"/>
              </a:rPr>
              <a:t>1 regular-hours hour differs, the other way (~+2%).</a:t>
            </a:r>
          </a:p>
          <a:p>
            <a:pPr>
              <a:spcBef>
                <a:spcPts val="300"/>
              </a:spcBef>
            </a:pPr>
            <a:r>
              <a:rPr sz="1300" b="0">
                <a:solidFill>
                  <a:srgbClr val="FFFFFF"/>
                </a:solidFill>
                <a:latin typeface="Calibri"/>
              </a:rPr>
              <a:t>TSLA: 120 differ = 118 ETH + 2 RTH.</a:t>
            </a:r>
          </a:p>
          <a:p>
            <a:pPr>
              <a:spcBef>
                <a:spcPts val="300"/>
              </a:spcBef>
            </a:pPr>
            <a:r>
              <a:rPr sz="1300" b="0">
                <a:solidFill>
                  <a:srgbClr val="FFFFFF"/>
                </a:solidFill>
                <a:latin typeface="Calibri"/>
              </a:rPr>
              <a:t>OHLC differs on a few candles (&lt;=0.03%).</a:t>
            </a:r>
          </a:p>
          <a:p>
            <a:pPr>
              <a:spcBef>
                <a:spcPts val="300"/>
              </a:spcBef>
            </a:pPr>
            <a:r>
              <a:rPr sz="1300" b="0">
                <a:solidFill>
                  <a:srgbClr val="FFFFFF"/>
                </a:solidFill>
                <a:latin typeface="Calibri"/>
              </a:rPr>
              <a:t>Daily 2026-10-14: hourly sum closer than 1m sum.</a:t>
            </a:r>
          </a:p>
        </p:txBody>
      </p:sp>
      <p:sp>
        <p:nvSpPr>
          <p:cNvPr id="10" name="Rounded Rectangle 9"/>
          <p:cNvSpPr/>
          <p:nvPr/>
        </p:nvSpPr>
        <p:spPr>
          <a:xfrm>
            <a:off x="8183879" y="4096512"/>
            <a:ext cx="3749039" cy="251460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Not concluded</a:t>
            </a:r>
          </a:p>
          <a:p>
            <a:pPr>
              <a:spcBef>
                <a:spcPts val="300"/>
              </a:spcBef>
            </a:pPr>
            <a:r>
              <a:rPr sz="1300" b="0">
                <a:solidFill>
                  <a:srgbClr val="FFFFFF"/>
                </a:solidFill>
                <a:latin typeface="Calibri"/>
              </a:rPr>
              <a:t>AAPL and TSLA RTH exceptions: same day and hour.</a:t>
            </a:r>
          </a:p>
          <a:p>
            <a:pPr>
              <a:spcBef>
                <a:spcPts val="300"/>
              </a:spcBef>
            </a:pPr>
            <a:r>
              <a:rPr sz="1300" b="0">
                <a:solidFill>
                  <a:srgbClr val="FFFFFF"/>
                </a:solidFill>
                <a:latin typeface="Calibri"/>
              </a:rPr>
              <a:t>Re-fetch 11.5 minutes later was stable.</a:t>
            </a:r>
          </a:p>
          <a:p>
            <a:pPr>
              <a:spcBef>
                <a:spcPts val="300"/>
              </a:spcBef>
            </a:pPr>
            <a:r>
              <a:rPr sz="1300" b="0">
                <a:solidFill>
                  <a:srgbClr val="FFFFFF"/>
                </a:solidFill>
                <a:latin typeface="Calibri"/>
              </a:rPr>
              <a:t>So this is not a candle still printing.</a:t>
            </a:r>
          </a:p>
          <a:p>
            <a:pPr>
              <a:spcBef>
                <a:spcPts val="300"/>
              </a:spcBef>
            </a:pPr>
            <a:r>
              <a:rPr sz="1300" b="0">
                <a:solidFill>
                  <a:srgbClr val="FFFFFF"/>
                </a:solidFill>
                <a:latin typeface="Calibri"/>
              </a:rPr>
              <a:t>TimeAndSale is TIMED_OUT on demo REST.</a:t>
            </a:r>
          </a:p>
          <a:p>
            <a:pPr>
              <a:spcBef>
                <a:spcPts val="300"/>
              </a:spcBef>
            </a:pPr>
            <a:r>
              <a:rPr sz="1300" b="0">
                <a:solidFill>
                  <a:srgbClr val="FFFFFF"/>
                </a:solidFill>
                <a:latin typeface="Calibri"/>
              </a:rPr>
              <a:t>Sale-condition cause stays a hypothesis.</a:t>
            </a:r>
          </a:p>
          <a:p>
            <a:pPr>
              <a:spcBef>
                <a:spcPts val="300"/>
              </a:spcBef>
            </a:pPr>
            <a:r>
              <a:rPr sz="1300" b="0">
                <a:solidFill>
                  <a:srgbClr val="FFFFFF"/>
                </a:solidFill>
                <a:latin typeface="Calibri"/>
              </a:rPr>
              <a:t>Which series is the reference: not decided.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Where the volume disagrees: hour by hour</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AAPL · % difference Σ5m vs served 1h · rows = days, columns = New York hour</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apl_volume_heatmap.png"/>
          <p:cNvPicPr>
            <a:picLocks noChangeAspect="1"/>
          </p:cNvPicPr>
          <p:nvPr/>
        </p:nvPicPr>
        <p:blipFill>
          <a:blip r:embed="rId2"/>
          <a:stretch>
            <a:fillRect/>
          </a:stretch>
        </p:blipFill>
        <p:spPr>
          <a:xfrm>
            <a:off x="292608" y="2032337"/>
            <a:ext cx="7635240" cy="3625428"/>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How to read it</a:t>
            </a:r>
          </a:p>
          <a:p>
            <a:pPr>
              <a:spcBef>
                <a:spcPts val="300"/>
              </a:spcBef>
            </a:pPr>
            <a:r>
              <a:rPr sz="1300" b="0">
                <a:solidFill>
                  <a:srgbClr val="FFFFFF"/>
                </a:solidFill>
                <a:latin typeface="Calibri"/>
              </a:rPr>
              <a:t>Red = the served hourly bar has more volume.</a:t>
            </a:r>
          </a:p>
          <a:p>
            <a:pPr>
              <a:spcBef>
                <a:spcPts val="300"/>
              </a:spcBef>
            </a:pPr>
            <a:r>
              <a:rPr sz="1300" b="0">
                <a:solidFill>
                  <a:srgbClr val="FFFFFF"/>
                </a:solidFill>
                <a:latin typeface="Calibri"/>
              </a:rPr>
              <a:t>The boxed regular-hours block is white.</a:t>
            </a:r>
          </a:p>
          <a:p>
            <a:pPr>
              <a:spcBef>
                <a:spcPts val="300"/>
              </a:spcBef>
            </a:pPr>
            <a:r>
              <a:rPr sz="1300" b="0">
                <a:solidFill>
                  <a:srgbClr val="FFFFFF"/>
                </a:solidFill>
                <a:latin typeface="Calibri"/>
              </a:rPr>
              <a:t>One blue cell: 8 Oct 11:00 ET, +2%.</a:t>
            </a:r>
          </a:p>
          <a:p>
            <a:pPr>
              <a:spcBef>
                <a:spcPts val="300"/>
              </a:spcBef>
            </a:pPr>
            <a:r>
              <a:rPr sz="1300" b="0">
                <a:solidFill>
                  <a:srgbClr val="FFFFFF"/>
                </a:solidFill>
                <a:latin typeface="Calibri"/>
              </a:rPr>
              <a:t>Worst cells: 17:00–18:00 ET and the 00:00 ET tail.</a:t>
            </a:r>
          </a:p>
        </p:txBody>
      </p:sp>
      <p:sp>
        <p:nvSpPr>
          <p:cNvPr id="10" name="Rounded Rectangle 9"/>
          <p:cNvSpPr/>
          <p:nvPr/>
        </p:nvSpPr>
        <p:spPr>
          <a:xfrm>
            <a:off x="8183879" y="4096512"/>
            <a:ext cx="3749039" cy="251460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Why it matters</a:t>
            </a:r>
          </a:p>
          <a:p>
            <a:pPr>
              <a:spcBef>
                <a:spcPts val="300"/>
              </a:spcBef>
            </a:pPr>
            <a:r>
              <a:rPr sz="1300" b="0">
                <a:solidFill>
                  <a:srgbClr val="FFFFFF"/>
                </a:solidFill>
                <a:latin typeface="Calibri"/>
              </a:rPr>
              <a:t>Extended-hours volume depends on the timeframe.</a:t>
            </a:r>
          </a:p>
          <a:p>
            <a:pPr>
              <a:spcBef>
                <a:spcPts val="300"/>
              </a:spcBef>
            </a:pPr>
            <a:r>
              <a:rPr sz="1300" b="0">
                <a:solidFill>
                  <a:srgbClr val="FFFFFF"/>
                </a:solidFill>
                <a:latin typeface="Calibri"/>
              </a:rPr>
              <a:t>VWAP and relative volume will disagree.</a:t>
            </a:r>
          </a:p>
          <a:p>
            <a:pPr>
              <a:spcBef>
                <a:spcPts val="300"/>
              </a:spcBef>
            </a:pPr>
            <a:r>
              <a:rPr sz="1300" b="0">
                <a:solidFill>
                  <a:srgbClr val="FFFFFF"/>
                </a:solidFill>
                <a:latin typeface="Calibri"/>
              </a:rPr>
              <a:t>Regular hours are usually, not always, clean.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AAPL — the hourly volume chart</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Blue = volume percent difference · orange = close, which stays on zero</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gg_AAPL_1h_from_5m.png"/>
          <p:cNvPicPr>
            <a:picLocks noChangeAspect="1"/>
          </p:cNvPicPr>
          <p:nvPr/>
        </p:nvPicPr>
        <p:blipFill>
          <a:blip r:embed="rId2"/>
          <a:stretch>
            <a:fillRect/>
          </a:stretch>
        </p:blipFill>
        <p:spPr>
          <a:xfrm>
            <a:off x="292608" y="2630354"/>
            <a:ext cx="7635240" cy="2429394"/>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How to read it</a:t>
            </a:r>
          </a:p>
          <a:p>
            <a:pPr>
              <a:spcBef>
                <a:spcPts val="300"/>
              </a:spcBef>
            </a:pPr>
            <a:r>
              <a:rPr sz="1300" b="0">
                <a:solidFill>
                  <a:srgbClr val="FFFFFF"/>
                </a:solidFill>
                <a:latin typeface="Calibri"/>
              </a:rPr>
              <a:t>Each blue dot is one hour.</a:t>
            </a:r>
          </a:p>
          <a:p>
            <a:pPr>
              <a:spcBef>
                <a:spcPts val="300"/>
              </a:spcBef>
            </a:pPr>
            <a:r>
              <a:rPr sz="1300" b="0">
                <a:solidFill>
                  <a:srgbClr val="FFFFFF"/>
                </a:solidFill>
                <a:latin typeface="Calibri"/>
              </a:rPr>
              <a:t>Zero means the 1-hour bar equals the sum of its 5-minute bars.</a:t>
            </a:r>
          </a:p>
          <a:p>
            <a:pPr>
              <a:spcBef>
                <a:spcPts val="300"/>
              </a:spcBef>
            </a:pPr>
            <a:r>
              <a:rPr sz="1300" b="0">
                <a:solidFill>
                  <a:srgbClr val="FFFFFF"/>
                </a:solidFill>
                <a:latin typeface="Calibri"/>
              </a:rPr>
              <a:t>Spikes near −100% are extended hours, worst −99.1% at 17:00 ET on 7 Oct (2 Oct 18:00 ET: −98.4%).</a:t>
            </a:r>
          </a:p>
          <a:p>
            <a:pPr>
              <a:spcBef>
                <a:spcPts val="300"/>
              </a:spcBef>
            </a:pPr>
            <a:r>
              <a:rPr sz="1300" b="0">
                <a:solidFill>
                  <a:srgbClr val="FFFFFF"/>
                </a:solidFill>
                <a:latin typeface="Calibri"/>
              </a:rPr>
              <a:t>Orange sits near zero: the close agrees except a few tiny gaps.</a:t>
            </a:r>
          </a:p>
          <a:p>
            <a:pPr>
              <a:spcBef>
                <a:spcPts val="300"/>
              </a:spcBef>
            </a:pPr>
            <a:r>
              <a:rPr sz="1300" b="0">
                <a:solidFill>
                  <a:srgbClr val="FFFFFF"/>
                </a:solidFill>
                <a:latin typeface="Calibri"/>
              </a:rPr>
              <a:t>Prices nearly consistent. Volume attribution is not.</a:t>
            </a:r>
          </a:p>
        </p:txBody>
      </p:sp>
      <p:sp>
        <p:nvSpPr>
          <p:cNvPr id="10" name="Rounded Rectangle 9"/>
          <p:cNvSpPr/>
          <p:nvPr/>
        </p:nvSpPr>
        <p:spPr>
          <a:xfrm>
            <a:off x="8183879" y="4096512"/>
            <a:ext cx="3749039" cy="251460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The exception</a:t>
            </a:r>
          </a:p>
          <a:p>
            <a:pPr>
              <a:spcBef>
                <a:spcPts val="300"/>
              </a:spcBef>
            </a:pPr>
            <a:r>
              <a:rPr sz="1300" b="0">
                <a:solidFill>
                  <a:srgbClr val="FFFFFF"/>
                </a:solidFill>
                <a:latin typeface="Calibri"/>
              </a:rPr>
              <a:t>2026-10-08 11:00 ET is inside regular hours.</a:t>
            </a:r>
          </a:p>
          <a:p>
            <a:pPr>
              <a:spcBef>
                <a:spcPts val="300"/>
              </a:spcBef>
            </a:pPr>
            <a:r>
              <a:rPr sz="1300" b="0">
                <a:solidFill>
                  <a:srgbClr val="FFFFFF"/>
                </a:solidFill>
                <a:latin typeface="Calibri"/>
              </a:rPr>
              <a:t>Rebuilt volume is about 2% higher, opposite sign.</a:t>
            </a:r>
          </a:p>
          <a:p>
            <a:pPr>
              <a:spcBef>
                <a:spcPts val="300"/>
              </a:spcBef>
            </a:pPr>
            <a:r>
              <a:rPr sz="1300" b="0">
                <a:solidFill>
                  <a:srgbClr val="FFFFFF"/>
                </a:solidFill>
                <a:latin typeface="Calibri"/>
              </a:rPr>
              <a:t>OHLC matches. 1-minute equals 5-minute.</a:t>
            </a:r>
          </a:p>
          <a:p>
            <a:pPr>
              <a:spcBef>
                <a:spcPts val="300"/>
              </a:spcBef>
            </a:pPr>
            <a:r>
              <a:rPr sz="1300" b="0">
                <a:solidFill>
                  <a:srgbClr val="FFFFFF"/>
                </a:solidFill>
                <a:latin typeface="Calibri"/>
              </a:rPr>
              <a:t>Do not hide this row in the talk.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TSLA shows the same shape</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Same rebuild · 120 of 208 hours differ · 2 of them are regular hours</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gg_TSLA_1h_from_5m.png"/>
          <p:cNvPicPr>
            <a:picLocks noChangeAspect="1"/>
          </p:cNvPicPr>
          <p:nvPr/>
        </p:nvPicPr>
        <p:blipFill>
          <a:blip r:embed="rId2"/>
          <a:stretch>
            <a:fillRect/>
          </a:stretch>
        </p:blipFill>
        <p:spPr>
          <a:xfrm>
            <a:off x="292608" y="2630354"/>
            <a:ext cx="7635240" cy="2429394"/>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Why this slide exists</a:t>
            </a:r>
          </a:p>
          <a:p>
            <a:pPr>
              <a:spcBef>
                <a:spcPts val="300"/>
              </a:spcBef>
            </a:pPr>
            <a:r>
              <a:rPr sz="1300" b="0">
                <a:solidFill>
                  <a:srgbClr val="FFFFFF"/>
                </a:solidFill>
                <a:latin typeface="Calibri"/>
              </a:rPr>
              <a:t>The AAPL pattern is not one symbol.</a:t>
            </a:r>
          </a:p>
          <a:p>
            <a:pPr>
              <a:spcBef>
                <a:spcPts val="300"/>
              </a:spcBef>
            </a:pPr>
            <a:r>
              <a:rPr sz="1300" b="0">
                <a:solidFill>
                  <a:srgbClr val="FFFFFF"/>
                </a:solidFill>
                <a:latin typeface="Calibri"/>
              </a:rPr>
              <a:t>TSLA: 118 extended-hours mismatches.</a:t>
            </a:r>
          </a:p>
          <a:p>
            <a:pPr>
              <a:spcBef>
                <a:spcPts val="300"/>
              </a:spcBef>
            </a:pPr>
            <a:r>
              <a:rPr sz="1300" b="0">
                <a:solidFill>
                  <a:srgbClr val="FFFFFF"/>
                </a:solidFill>
                <a:latin typeface="Calibri"/>
              </a:rPr>
              <a:t>2 regular-hours mismatches.</a:t>
            </a:r>
          </a:p>
          <a:p>
            <a:pPr>
              <a:spcBef>
                <a:spcPts val="300"/>
              </a:spcBef>
            </a:pPr>
            <a:r>
              <a:rPr sz="1300" b="0">
                <a:solidFill>
                  <a:srgbClr val="FFFFFF"/>
                </a:solidFill>
                <a:latin typeface="Calibri"/>
              </a:rPr>
              <a:t>ES and EUR/USD do not show this equity pattern.</a:t>
            </a:r>
          </a:p>
          <a:p>
            <a:pPr>
              <a:spcBef>
                <a:spcPts val="300"/>
              </a:spcBef>
            </a:pPr>
            <a:r>
              <a:rPr sz="1300" b="0">
                <a:solidFill>
                  <a:srgbClr val="FFFFFF"/>
                </a:solidFill>
                <a:latin typeface="Calibri"/>
              </a:rPr>
              <a:t>So it is a US-stock session effect, not a generic bug in the aggregator.</a:t>
            </a:r>
          </a:p>
        </p:txBody>
      </p:sp>
      <p:sp>
        <p:nvSpPr>
          <p:cNvPr id="10" name="Rounded Rectangle 9"/>
          <p:cNvSpPr/>
          <p:nvPr/>
        </p:nvSpPr>
        <p:spPr>
          <a:xfrm>
            <a:off x="8183879" y="4096512"/>
            <a:ext cx="3749039" cy="251460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Still open</a:t>
            </a:r>
          </a:p>
          <a:p>
            <a:pPr>
              <a:spcBef>
                <a:spcPts val="300"/>
              </a:spcBef>
            </a:pPr>
            <a:r>
              <a:rPr sz="1300" b="0">
                <a:solidFill>
                  <a:srgbClr val="FFFFFF"/>
                </a:solidFill>
                <a:latin typeface="Calibri"/>
              </a:rPr>
              <a:t>tho=true was never tested; not a workaround.</a:t>
            </a:r>
          </a:p>
          <a:p>
            <a:pPr>
              <a:spcBef>
                <a:spcPts val="300"/>
              </a:spcBef>
            </a:pPr>
            <a:r>
              <a:rPr sz="1300" b="0">
                <a:solidFill>
                  <a:srgbClr val="FFFFFF"/>
                </a:solidFill>
                <a:latin typeface="Calibri"/>
              </a:rPr>
              <a:t>SPY/MSFT same-hour check: not done.</a:t>
            </a:r>
          </a:p>
          <a:p>
            <a:pPr>
              <a:spcBef>
                <a:spcPts val="300"/>
              </a:spcBef>
            </a:pPr>
            <a:r>
              <a:rPr sz="1300" b="0">
                <a:solidFill>
                  <a:srgbClr val="FFFFFF"/>
                </a:solidFill>
                <a:latin typeface="Calibri"/>
              </a:rPr>
              <a:t>Trade and TimeAndSale history came back empty or TIMED_OUT.</a:t>
            </a:r>
          </a:p>
          <a:p>
            <a:pPr>
              <a:spcBef>
                <a:spcPts val="300"/>
              </a:spcBef>
            </a:pPr>
            <a:r>
              <a:rPr sz="1300" b="0">
                <a:solidFill>
                  <a:srgbClr val="FFFFFF"/>
                </a:solidFill>
                <a:latin typeface="Calibri"/>
              </a:rPr>
              <a:t>I will not name a sale condition I could not read.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Which volume series is the reference?</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AAPL daily totals from 1-minute vs hourly candles · one daily candle to compare against</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olume_reconcile.png"/>
          <p:cNvPicPr>
            <a:picLocks noChangeAspect="1"/>
          </p:cNvPicPr>
          <p:nvPr/>
        </p:nvPicPr>
        <p:blipFill>
          <a:blip r:embed="rId2"/>
          <a:stretch>
            <a:fillRect/>
          </a:stretch>
        </p:blipFill>
        <p:spPr>
          <a:xfrm>
            <a:off x="292608" y="2423976"/>
            <a:ext cx="7635240" cy="2842151"/>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the data says</a:t>
            </a:r>
          </a:p>
          <a:p>
            <a:pPr>
              <a:spcBef>
                <a:spcPts val="300"/>
              </a:spcBef>
            </a:pPr>
            <a:r>
              <a:rPr sz="1300" b="0">
                <a:solidFill>
                  <a:srgbClr val="FFFFFF"/>
                </a:solidFill>
                <a:latin typeface="Calibri"/>
              </a:rPr>
              <a:t>Hourly totals are never below 1-minute totals.</a:t>
            </a:r>
          </a:p>
          <a:p>
            <a:pPr>
              <a:spcBef>
                <a:spcPts val="300"/>
              </a:spcBef>
            </a:pPr>
            <a:r>
              <a:rPr sz="1300" b="0">
                <a:solidFill>
                  <a:srgbClr val="FFFFFF"/>
                </a:solidFill>
                <a:latin typeface="Calibri"/>
              </a:rPr>
              <a:t>14 Oct daily: hourly −0.13%, 1-minute −0.15%.</a:t>
            </a:r>
          </a:p>
          <a:p>
            <a:pPr>
              <a:spcBef>
                <a:spcPts val="300"/>
              </a:spcBef>
            </a:pPr>
            <a:r>
              <a:rPr sz="1300" b="0">
                <a:solidFill>
                  <a:srgbClr val="FFFFFF"/>
                </a:solidFill>
                <a:latin typeface="Calibri"/>
              </a:rPr>
              <a:t>Hourly is closer — on one data point.</a:t>
            </a:r>
          </a:p>
        </p:txBody>
      </p:sp>
      <p:sp>
        <p:nvSpPr>
          <p:cNvPr id="10" name="Rounded Rectangle 9"/>
          <p:cNvSpPr/>
          <p:nvPr/>
        </p:nvSpPr>
        <p:spPr>
          <a:xfrm>
            <a:off x="8183879" y="4096512"/>
            <a:ext cx="3749039" cy="251460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So the advice is</a:t>
            </a:r>
          </a:p>
          <a:p>
            <a:pPr>
              <a:spcBef>
                <a:spcPts val="300"/>
              </a:spcBef>
            </a:pPr>
            <a:r>
              <a:rPr sz="1300" b="0">
                <a:solidFill>
                  <a:srgbClr val="FFFFFF"/>
                </a:solidFill>
                <a:latin typeface="Calibri"/>
              </a:rPr>
              <a:t>Do not tell clients to rebuild from 1m.</a:t>
            </a:r>
          </a:p>
          <a:p>
            <a:pPr>
              <a:spcBef>
                <a:spcPts val="300"/>
              </a:spcBef>
            </a:pPr>
            <a:r>
              <a:rPr sz="1300" b="0">
                <a:solidFill>
                  <a:srgbClr val="FFFFFF"/>
                </a:solidFill>
                <a:latin typeface="Calibri"/>
              </a:rPr>
              <a:t>'We are confirming which series is the reference.'</a:t>
            </a:r>
          </a:p>
          <a:p>
            <a:pPr>
              <a:spcBef>
                <a:spcPts val="300"/>
              </a:spcBef>
            </a:pPr>
            <a:r>
              <a:rPr sz="1300" b="0">
                <a:solidFill>
                  <a:srgbClr val="FFFFFF"/>
                </a:solidFill>
                <a:latin typeface="Calibri"/>
              </a:rPr>
              <a:t>tho=true untested; SPY/MSFT not checked.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EUR/USD prints outside its FX session</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FX session is Sun 17:00 ET → Fri 17:00 ET · equities and ES do not do this</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x_outside_session.png"/>
          <p:cNvPicPr>
            <a:picLocks noChangeAspect="1"/>
          </p:cNvPicPr>
          <p:nvPr/>
        </p:nvPicPr>
        <p:blipFill>
          <a:blip r:embed="rId2"/>
          <a:stretch>
            <a:fillRect/>
          </a:stretch>
        </p:blipFill>
        <p:spPr>
          <a:xfrm>
            <a:off x="292608" y="2239548"/>
            <a:ext cx="7635240" cy="3211006"/>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was counted</a:t>
            </a:r>
          </a:p>
          <a:p>
            <a:pPr>
              <a:spcBef>
                <a:spcPts val="300"/>
              </a:spcBef>
            </a:pPr>
            <a:r>
              <a:rPr sz="1300" b="0">
                <a:solidFill>
                  <a:srgbClr val="FFFFFF"/>
                </a:solidFill>
                <a:latin typeface="Calibri"/>
              </a:rPr>
              <a:t>50 of 8000 1m candles outside session (39 5m).</a:t>
            </a:r>
          </a:p>
          <a:p>
            <a:pPr>
              <a:spcBef>
                <a:spcPts val="300"/>
              </a:spcBef>
            </a:pPr>
            <a:r>
              <a:rPr sz="1300" b="0">
                <a:solidFill>
                  <a:srgbClr val="FFFFFF"/>
                </a:solidFill>
                <a:latin typeface="Calibri"/>
              </a:rPr>
              <a:t>7 after Friday close, 0 Saturday, 43 Sunday pre-open.</a:t>
            </a:r>
          </a:p>
          <a:p>
            <a:pPr>
              <a:spcBef>
                <a:spcPts val="300"/>
              </a:spcBef>
            </a:pPr>
            <a:r>
              <a:rPr sz="1300" b="0">
                <a:solidFill>
                  <a:srgbClr val="FFFFFF"/>
                </a:solidFill>
                <a:latin typeface="Calibri"/>
              </a:rPr>
              <a:t>Sparse from 14:00 ET Sunday, full after 17:00 ET.</a:t>
            </a:r>
          </a:p>
          <a:p>
            <a:pPr>
              <a:spcBef>
                <a:spcPts val="300"/>
              </a:spcBef>
            </a:pPr>
            <a:r>
              <a:rPr sz="1300" b="0">
                <a:solidFill>
                  <a:srgbClr val="FFFFFF"/>
                </a:solidFill>
                <a:latin typeface="Calibri"/>
              </a:rPr>
              <a:t>Old "214 weekend" counted the legit Sunday reopen.</a:t>
            </a:r>
          </a:p>
          <a:p>
            <a:pPr>
              <a:spcBef>
                <a:spcPts val="300"/>
              </a:spcBef>
            </a:pPr>
            <a:r>
              <a:rPr sz="1300" b="0">
                <a:solidFill>
                  <a:srgbClr val="FFFFFF"/>
                </a:solidFill>
                <a:latin typeface="Calibri"/>
              </a:rPr>
              <a:t>These are bid candles. Volume is tick count.</a:t>
            </a:r>
          </a:p>
          <a:p>
            <a:pPr>
              <a:spcBef>
                <a:spcPts val="300"/>
              </a:spcBef>
            </a:pPr>
            <a:r>
              <a:rPr sz="1300" b="0">
                <a:solidFill>
                  <a:srgbClr val="FFFFFF"/>
                </a:solidFill>
                <a:latin typeface="Calibri"/>
              </a:rPr>
              <a:t>ES: 0 outside session.</a:t>
            </a:r>
          </a:p>
        </p:txBody>
      </p:sp>
      <p:sp>
        <p:nvSpPr>
          <p:cNvPr id="10" name="Rounded Rectangle 9"/>
          <p:cNvSpPr/>
          <p:nvPr/>
        </p:nvSpPr>
        <p:spPr>
          <a:xfrm>
            <a:off x="8183879" y="4096512"/>
            <a:ext cx="3749039" cy="251460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Not concluded</a:t>
            </a:r>
          </a:p>
          <a:p>
            <a:pPr>
              <a:spcBef>
                <a:spcPts val="300"/>
              </a:spcBef>
            </a:pPr>
            <a:r>
              <a:rPr sz="1300" b="0">
                <a:solidFill>
                  <a:srgbClr val="FFFFFF"/>
                </a:solidFill>
                <a:latin typeface="Calibri"/>
              </a:rPr>
              <a:t>Could be indicative quotes.</a:t>
            </a:r>
          </a:p>
          <a:p>
            <a:pPr>
              <a:spcBef>
                <a:spcPts val="300"/>
              </a:spcBef>
            </a:pPr>
            <a:r>
              <a:rPr sz="1300" b="0">
                <a:solidFill>
                  <a:srgbClr val="FFFFFF"/>
                </a:solidFill>
                <a:latin typeface="Calibri"/>
              </a:rPr>
              <a:t>Could be a session heartbeat.</a:t>
            </a:r>
          </a:p>
          <a:p>
            <a:pPr>
              <a:spcBef>
                <a:spcPts val="300"/>
              </a:spcBef>
            </a:pPr>
            <a:r>
              <a:rPr sz="1300" b="0">
                <a:solidFill>
                  <a:srgbClr val="FFFFFF"/>
                </a:solidFill>
                <a:latin typeface="Calibri"/>
              </a:rPr>
              <a:t>The logger bidTime test was proposed, not finished.</a:t>
            </a:r>
          </a:p>
          <a:p>
            <a:pPr>
              <a:spcBef>
                <a:spcPts val="300"/>
              </a:spcBef>
            </a:pPr>
            <a:r>
              <a:rPr sz="1300" b="0">
                <a:solidFill>
                  <a:srgbClr val="FFFFFF"/>
                </a:solidFill>
                <a:latin typeface="Calibri"/>
              </a:rPr>
              <a:t>Dangerous if a client treats last-candle age as “market open”.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Silent ~8,000-candle retention</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A long history request returns status OK and then stops</a:t>
            </a:r>
          </a:p>
        </p:txBody>
      </p:sp>
      <p:sp>
        <p:nvSpPr>
          <p:cNvPr id="7" name="Rounded Rectangle 6"/>
          <p:cNvSpPr/>
          <p:nvPr/>
        </p:nvSpPr>
        <p:spPr>
          <a:xfrm>
            <a:off x="320040" y="1234440"/>
            <a:ext cx="3657600" cy="2194560"/>
          </a:xfrm>
          <a:prstGeom prst="round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4000" b="1">
                <a:solidFill>
                  <a:srgbClr val="FFFFFF"/>
                </a:solidFill>
                <a:latin typeface="Calibri"/>
              </a:rPr>
              <a:t>8,000</a:t>
            </a:r>
          </a:p>
          <a:p>
            <a:pPr>
              <a:spcBef>
                <a:spcPts val="300"/>
              </a:spcBef>
            </a:pPr>
            <a:r>
              <a:rPr sz="1600" b="0">
                <a:solidFill>
                  <a:srgbClr val="FFFFFF"/>
                </a:solidFill>
                <a:latin typeface="Calibri"/>
              </a:rPr>
              <a:t>newest 1-minute candles</a:t>
            </a:r>
          </a:p>
          <a:p>
            <a:pPr>
              <a:spcBef>
                <a:spcPts val="300"/>
              </a:spcBef>
            </a:pPr>
            <a:r>
              <a:rPr sz="1600" b="0">
                <a:solidFill>
                  <a:srgbClr val="FFFFFF"/>
                </a:solidFill>
                <a:latin typeface="Calibri"/>
              </a:rPr>
              <a:t>status: OK</a:t>
            </a:r>
          </a:p>
          <a:p>
            <a:pPr>
              <a:spcBef>
                <a:spcPts val="300"/>
              </a:spcBef>
            </a:pPr>
            <a:r>
              <a:rPr sz="1600" b="0">
                <a:solidFill>
                  <a:srgbClr val="FFFFFF"/>
                </a:solidFill>
                <a:latin typeface="Calibri"/>
              </a:rPr>
              <a:t>no truncated flag</a:t>
            </a:r>
          </a:p>
        </p:txBody>
      </p:sp>
      <p:sp>
        <p:nvSpPr>
          <p:cNvPr id="8" name="Rounded Rectangle 7"/>
          <p:cNvSpPr/>
          <p:nvPr/>
        </p:nvSpPr>
        <p:spPr>
          <a:xfrm>
            <a:off x="4160520" y="1234440"/>
            <a:ext cx="3794760" cy="21945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What that hides</a:t>
            </a:r>
          </a:p>
          <a:p>
            <a:pPr>
              <a:spcBef>
                <a:spcPts val="300"/>
              </a:spcBef>
            </a:pPr>
            <a:r>
              <a:rPr sz="1400" b="0">
                <a:solidFill>
                  <a:srgbClr val="FFFFFF"/>
                </a:solidFill>
                <a:latin typeface="Calibri"/>
              </a:rPr>
              <a:t>About 8 trading days of 1-minute bars.</a:t>
            </a:r>
          </a:p>
          <a:p>
            <a:pPr>
              <a:spcBef>
                <a:spcPts val="300"/>
              </a:spcBef>
            </a:pPr>
            <a:r>
              <a:rPr sz="1400" b="0">
                <a:solidFill>
                  <a:srgbClr val="FFFFFF"/>
                </a:solidFill>
                <a:latin typeface="Calibri"/>
              </a:rPr>
              <a:t>About 7 weeks of 5-minute bars.</a:t>
            </a:r>
          </a:p>
          <a:p>
            <a:pPr>
              <a:spcBef>
                <a:spcPts val="300"/>
              </a:spcBef>
            </a:pPr>
            <a:r>
              <a:rPr sz="1400" b="0">
                <a:solidFill>
                  <a:srgbClr val="FFFFFF"/>
                </a:solidFill>
                <a:latin typeface="Calibri"/>
              </a:rPr>
              <a:t>Older windows: OK and zero candles.</a:t>
            </a:r>
          </a:p>
          <a:p>
            <a:pPr>
              <a:spcBef>
                <a:spcPts val="300"/>
              </a:spcBef>
            </a:pPr>
            <a:r>
              <a:rPr sz="1400" b="0">
                <a:solidFill>
                  <a:srgbClr val="FFFFFF"/>
                </a:solidFill>
                <a:latin typeface="Calibri"/>
              </a:rPr>
              <a:t>Looks exactly like a holiday.</a:t>
            </a:r>
          </a:p>
        </p:txBody>
      </p:sp>
      <p:sp>
        <p:nvSpPr>
          <p:cNvPr id="9" name="Rounded Rectangle 8"/>
          <p:cNvSpPr/>
          <p:nvPr/>
        </p:nvSpPr>
        <p:spPr>
          <a:xfrm>
            <a:off x="8138160" y="1234440"/>
            <a:ext cx="3703320" cy="219456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Why it matters</a:t>
            </a:r>
          </a:p>
          <a:p>
            <a:pPr>
              <a:spcBef>
                <a:spcPts val="300"/>
              </a:spcBef>
            </a:pPr>
            <a:r>
              <a:rPr sz="1400" b="0">
                <a:solidFill>
                  <a:srgbClr val="FFFFFF"/>
                </a:solidFill>
                <a:latin typeface="Calibri"/>
              </a:rPr>
              <a:t>A backtest drops a week.</a:t>
            </a:r>
          </a:p>
          <a:p>
            <a:pPr>
              <a:spcBef>
                <a:spcPts val="300"/>
              </a:spcBef>
            </a:pPr>
            <a:r>
              <a:rPr sz="1400" b="0">
                <a:solidFill>
                  <a:srgbClr val="FFFFFF"/>
                </a:solidFill>
                <a:latin typeface="Calibri"/>
              </a:rPr>
              <a:t>No HTTP error.</a:t>
            </a:r>
          </a:p>
          <a:p>
            <a:pPr>
              <a:spcBef>
                <a:spcPts val="300"/>
              </a:spcBef>
            </a:pPr>
            <a:r>
              <a:rPr sz="1400" b="0">
                <a:solidFill>
                  <a:srgbClr val="FFFFFF"/>
                </a:solidFill>
                <a:latin typeface="Calibri"/>
              </a:rPr>
              <a:t>No dxFeed error status.</a:t>
            </a:r>
          </a:p>
          <a:p>
            <a:pPr>
              <a:spcBef>
                <a:spcPts val="300"/>
              </a:spcBef>
            </a:pPr>
            <a:r>
              <a:rPr sz="1400" b="0">
                <a:solidFill>
                  <a:srgbClr val="FFFFFF"/>
                </a:solidFill>
                <a:latin typeface="Calibri"/>
              </a:rPr>
              <a:t>The client cannot alert on it.</a:t>
            </a:r>
          </a:p>
        </p:txBody>
      </p:sp>
      <p:sp>
        <p:nvSpPr>
          <p:cNvPr id="10" name="Rounded Rectangle 9"/>
          <p:cNvSpPr/>
          <p:nvPr/>
        </p:nvSpPr>
        <p:spPr>
          <a:xfrm>
            <a:off x="320040" y="3611880"/>
            <a:ext cx="5669280" cy="2880360"/>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Done</a:t>
            </a:r>
          </a:p>
          <a:p>
            <a:pPr>
              <a:spcBef>
                <a:spcPts val="300"/>
              </a:spcBef>
            </a:pPr>
            <a:r>
              <a:rPr sz="1500" b="0">
                <a:solidFill>
                  <a:srgbClr val="FFFFFF"/>
                </a:solidFill>
                <a:latin typeface="Calibri"/>
              </a:rPr>
              <a:t>A 2-week 1-minute request returned about 8,000 candles (8000/8001).</a:t>
            </a:r>
          </a:p>
          <a:p>
            <a:pPr>
              <a:spcBef>
                <a:spcPts val="300"/>
              </a:spcBef>
            </a:pPr>
            <a:r>
              <a:rPr sz="1500" b="0">
                <a:solidFill>
                  <a:srgbClr val="FFFFFF"/>
                </a:solidFill>
                <a:latin typeface="Calibri"/>
              </a:rPr>
              <a:t>A window entirely before the edge returned OK and an empty body (15 bytes).</a:t>
            </a:r>
          </a:p>
          <a:p>
            <a:pPr>
              <a:spcBef>
                <a:spcPts val="300"/>
              </a:spcBef>
            </a:pPr>
            <a:r>
              <a:rPr sz="1500" b="0">
                <a:solidFill>
                  <a:srgbClr val="FFFFFF"/>
                </a:solidFill>
                <a:latin typeface="Calibri"/>
              </a:rPr>
              <a:t>That separates “retention” from “the response was too big to build”.</a:t>
            </a:r>
          </a:p>
          <a:p>
            <a:pPr>
              <a:spcBef>
                <a:spcPts val="300"/>
              </a:spcBef>
            </a:pPr>
            <a:r>
              <a:rPr sz="1500" b="0">
                <a:solidFill>
                  <a:srgbClr val="FFFFFF"/>
                </a:solidFill>
                <a:latin typeface="Calibri"/>
              </a:rPr>
              <a:t>Raw bodies and chunks.jsonl are in evidence/.</a:t>
            </a:r>
          </a:p>
        </p:txBody>
      </p:sp>
      <p:sp>
        <p:nvSpPr>
          <p:cNvPr id="11" name="Rounded Rectangle 10"/>
          <p:cNvSpPr/>
          <p:nvPr/>
        </p:nvSpPr>
        <p:spPr>
          <a:xfrm>
            <a:off x="6172200" y="3611880"/>
            <a:ext cx="5669280" cy="288036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Not concluded</a:t>
            </a:r>
          </a:p>
          <a:p>
            <a:pPr>
              <a:spcBef>
                <a:spcPts val="300"/>
              </a:spcBef>
            </a:pPr>
            <a:r>
              <a:rPr sz="1500" b="0">
                <a:solidFill>
                  <a:srgbClr val="FFFFFF"/>
                </a:solidFill>
                <a:latin typeface="Calibri"/>
              </a:rPr>
              <a:t>This may be an intentional demo quota.</a:t>
            </a:r>
          </a:p>
          <a:p>
            <a:pPr>
              <a:spcBef>
                <a:spcPts val="300"/>
              </a:spcBef>
            </a:pPr>
            <a:r>
              <a:rPr sz="1500" b="0">
                <a:solidFill>
                  <a:srgbClr val="FFFFFF"/>
                </a:solidFill>
                <a:latin typeface="Calibri"/>
              </a:rPr>
              <a:t>The defect is the silence, either way.</a:t>
            </a:r>
          </a:p>
          <a:p>
            <a:pPr>
              <a:spcBef>
                <a:spcPts val="300"/>
              </a:spcBef>
            </a:pPr>
            <a:r>
              <a:rPr sz="1500" b="0">
                <a:solidFill>
                  <a:srgbClr val="FFFFFF"/>
                </a:solidFill>
                <a:latin typeface="Calibri"/>
              </a:rPr>
              <a:t>A truncated flag or one sentence of docs fixes the client-visible failure.</a:t>
            </a:r>
          </a:p>
          <a:p>
            <a:pPr>
              <a:spcBef>
                <a:spcPts val="300"/>
              </a:spcBef>
            </a:pPr>
            <a:r>
              <a:rPr sz="1500" b="0">
                <a:solidFill>
                  <a:srgbClr val="FFFFFF"/>
                </a:solidFill>
                <a:latin typeface="Calibri"/>
              </a:rPr>
              <a:t>I did not test whether production has the same cap.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Every 1-minute series stops at the same place</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Candles retrieved per instrument and timeframe in pass 1 (58,315 in total)</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andle_totals.png"/>
          <p:cNvPicPr>
            <a:picLocks noChangeAspect="1"/>
          </p:cNvPicPr>
          <p:nvPr/>
        </p:nvPicPr>
        <p:blipFill>
          <a:blip r:embed="rId2"/>
          <a:stretch>
            <a:fillRect/>
          </a:stretch>
        </p:blipFill>
        <p:spPr>
          <a:xfrm>
            <a:off x="292608" y="2138924"/>
            <a:ext cx="7635240" cy="3412254"/>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the bars show</a:t>
            </a:r>
          </a:p>
          <a:p>
            <a:pPr>
              <a:spcBef>
                <a:spcPts val="300"/>
              </a:spcBef>
            </a:pPr>
            <a:r>
              <a:rPr sz="1300" b="0">
                <a:solidFill>
                  <a:srgbClr val="FFFFFF"/>
                </a:solidFill>
                <a:latin typeface="Calibri"/>
              </a:rPr>
              <a:t>All four 1m series: 8,000 or 8,001.</a:t>
            </a:r>
          </a:p>
          <a:p>
            <a:pPr>
              <a:spcBef>
                <a:spcPts val="300"/>
              </a:spcBef>
            </a:pPr>
            <a:r>
              <a:rPr sz="1300" b="0">
                <a:solidFill>
                  <a:srgbClr val="FFFFFF"/>
                </a:solidFill>
                <a:latin typeface="Calibri"/>
              </a:rPr>
              <a:t>Different instruments, sessions, asset classes.</a:t>
            </a:r>
          </a:p>
          <a:p>
            <a:pPr>
              <a:spcBef>
                <a:spcPts val="300"/>
              </a:spcBef>
            </a:pPr>
            <a:r>
              <a:rPr sz="1300" b="0">
                <a:solidFill>
                  <a:srgbClr val="FFFFFF"/>
                </a:solidFill>
                <a:latin typeface="Calibri"/>
              </a:rPr>
              <a:t>Same ceiling, so it is a server limit.</a:t>
            </a:r>
          </a:p>
        </p:txBody>
      </p:sp>
      <p:sp>
        <p:nvSpPr>
          <p:cNvPr id="10" name="Rounded Rectangle 9"/>
          <p:cNvSpPr/>
          <p:nvPr/>
        </p:nvSpPr>
        <p:spPr>
          <a:xfrm>
            <a:off x="8183879" y="4096512"/>
            <a:ext cx="3749039" cy="2514600"/>
          </a:xfrm>
          <a:prstGeom prst="round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it is not</a:t>
            </a:r>
          </a:p>
          <a:p>
            <a:pPr>
              <a:spcBef>
                <a:spcPts val="300"/>
              </a:spcBef>
            </a:pPr>
            <a:r>
              <a:rPr sz="1300" b="0">
                <a:solidFill>
                  <a:srgbClr val="FFFFFF"/>
                </a:solidFill>
                <a:latin typeface="Calibri"/>
              </a:rPr>
              <a:t>Not a holiday or a market closure.</a:t>
            </a:r>
          </a:p>
          <a:p>
            <a:pPr>
              <a:spcBef>
                <a:spcPts val="300"/>
              </a:spcBef>
            </a:pPr>
            <a:r>
              <a:rPr sz="1300" b="0">
                <a:solidFill>
                  <a:srgbClr val="FFFFFF"/>
                </a:solidFill>
                <a:latin typeface="Calibri"/>
              </a:rPr>
              <a:t>Not an HTTP error: every response was OK.</a:t>
            </a:r>
          </a:p>
          <a:p>
            <a:pPr>
              <a:spcBef>
                <a:spcPts val="300"/>
              </a:spcBef>
            </a:pPr>
            <a:r>
              <a:rPr sz="1300" b="0">
                <a:solidFill>
                  <a:srgbClr val="FFFFFF"/>
                </a:solidFill>
                <a:latin typeface="Calibri"/>
              </a:rPr>
              <a:t>5m and 1h stay under the cap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91695" cy="128016"/>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515600" cy="3108960"/>
          </a:xfrm>
          <a:prstGeom prst="rect">
            <a:avLst/>
          </a:prstGeom>
          <a:noFill/>
        </p:spPr>
        <p:txBody>
          <a:bodyPr wrap="none">
            <a:spAutoFit/>
          </a:bodyPr>
          <a:lstStyle/>
          <a:p>
            <a:r>
              <a:rPr sz="7200" b="1">
                <a:solidFill>
                  <a:srgbClr val="E05D4C"/>
                </a:solidFill>
                <a:latin typeface="Calibri"/>
              </a:rPr>
              <a:t>03</a:t>
            </a:r>
          </a:p>
          <a:p>
            <a:r>
              <a:rPr sz="4000" b="1">
                <a:solidFill>
                  <a:srgbClr val="FFFFFF"/>
                </a:solidFill>
                <a:latin typeface="Calibri"/>
              </a:rPr>
              <a:t>Behaviour under load</a:t>
            </a:r>
          </a:p>
          <a:p>
            <a:r>
              <a:rPr sz="1800" b="0">
                <a:solidFill>
                  <a:srgbClr val="D6EEF0"/>
                </a:solidFill>
                <a:latin typeface="Calibri"/>
              </a:rPr>
              <a:t>Throughput, latency by request type, and what failed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Load — latency in seconds, not milliseconds</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Y-axis is seconds. Dashed line is the politeness stop at p50 = 8 seconds</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ad_p50.png"/>
          <p:cNvPicPr>
            <a:picLocks noChangeAspect="1"/>
          </p:cNvPicPr>
          <p:nvPr/>
        </p:nvPicPr>
        <p:blipFill>
          <a:blip r:embed="rId2"/>
          <a:stretch>
            <a:fillRect/>
          </a:stretch>
        </p:blipFill>
        <p:spPr>
          <a:xfrm>
            <a:off x="292608" y="2123380"/>
            <a:ext cx="7635240" cy="3443343"/>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happened</a:t>
            </a:r>
          </a:p>
          <a:p>
            <a:pPr>
              <a:spcBef>
                <a:spcPts val="300"/>
              </a:spcBef>
            </a:pPr>
            <a:r>
              <a:rPr sz="1300" b="0">
                <a:solidFill>
                  <a:srgbClr val="FFFFFF"/>
                </a:solidFill>
                <a:latin typeface="Calibri"/>
              </a:rPr>
              <a:t>0 HTTP errors. No 429. No Retry-After.</a:t>
            </a:r>
          </a:p>
          <a:p>
            <a:pPr>
              <a:spcBef>
                <a:spcPts val="300"/>
              </a:spcBef>
            </a:pPr>
            <a:r>
              <a:rPr sz="1300" b="0">
                <a:solidFill>
                  <a:srgbClr val="FFFFFF"/>
                </a:solidFill>
                <a:latin typeface="Calibri"/>
              </a:rPr>
              <a:t>Throughput through completion: pre-market ~1.6 req/s, market hours ~3.2 falling to 2.8 at c=50.</a:t>
            </a:r>
          </a:p>
          <a:p>
            <a:pPr>
              <a:spcBef>
                <a:spcPts val="300"/>
              </a:spcBef>
            </a:pPr>
            <a:r>
              <a:rPr sz="1300" b="0">
                <a:solidFill>
                  <a:srgbClr val="FFFFFF"/>
                </a:solidFill>
                <a:latin typeface="Calibri"/>
              </a:rPr>
              <a:t>Market hours ~2x pre-market. Shared-demo load varies.</a:t>
            </a:r>
          </a:p>
          <a:p>
            <a:pPr>
              <a:spcBef>
                <a:spcPts val="300"/>
              </a:spcBef>
            </a:pPr>
            <a:r>
              <a:rPr sz="1300" b="0">
                <a:solidFill>
                  <a:srgbClr val="FFFFFF"/>
                </a:solidFill>
                <a:latin typeface="Calibri"/>
              </a:rPr>
              <a:t>TIMED_OUT 3.3 s at c=1, ~29 s at c=50.</a:t>
            </a:r>
          </a:p>
          <a:p>
            <a:pPr>
              <a:spcBef>
                <a:spcPts val="300"/>
              </a:spcBef>
            </a:pPr>
            <a:r>
              <a:rPr sz="1300" b="0">
                <a:solidFill>
                  <a:srgbClr val="FFFFFF"/>
                </a:solidFill>
                <a:latin typeface="Calibri"/>
              </a:rPr>
              <a:t>p50 is in seconds: about 0.5 s at c=1, about 8 s at the stop.</a:t>
            </a:r>
          </a:p>
        </p:txBody>
      </p:sp>
      <p:sp>
        <p:nvSpPr>
          <p:cNvPr id="10" name="Rounded Rectangle 9"/>
          <p:cNvSpPr/>
          <p:nvPr/>
        </p:nvSpPr>
        <p:spPr>
          <a:xfrm>
            <a:off x="8183879" y="4096512"/>
            <a:ext cx="3749039" cy="2514600"/>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Little’s law</a:t>
            </a:r>
          </a:p>
          <a:p>
            <a:pPr>
              <a:spcBef>
                <a:spcPts val="300"/>
              </a:spcBef>
            </a:pPr>
            <a:r>
              <a:rPr sz="1300" b="0">
                <a:solidFill>
                  <a:srgbClr val="FFFFFF"/>
                </a:solidFill>
                <a:latin typeface="Calibri"/>
              </a:rPr>
              <a:t>At concurrency 5 and 10, in-flight ≈ the setting.</a:t>
            </a:r>
          </a:p>
          <a:p>
            <a:pPr>
              <a:spcBef>
                <a:spcPts val="300"/>
              </a:spcBef>
            </a:pPr>
            <a:r>
              <a:rPr sz="1300" b="0">
                <a:solidFill>
                  <a:srgbClr val="FFFFFF"/>
                </a:solidFill>
                <a:latin typeface="Calibri"/>
              </a:rPr>
              <a:t>Pool limit 52 &gt;= max c 50, so it could never bind.</a:t>
            </a:r>
          </a:p>
          <a:p>
            <a:pPr>
              <a:spcBef>
                <a:spcPts val="300"/>
              </a:spcBef>
            </a:pPr>
            <a:r>
              <a:rPr sz="1300" b="0">
                <a:solidFill>
                  <a:srgbClr val="FFFFFF"/>
                </a:solidFill>
                <a:latin typeface="Calibri"/>
              </a:rPr>
              <a:t>Per-IP throttle vs shared capacity: unresolved.</a:t>
            </a:r>
          </a:p>
          <a:p>
            <a:pPr>
              <a:spcBef>
                <a:spcPts val="300"/>
              </a:spcBef>
            </a:pPr>
            <a:r>
              <a:rPr sz="1300" b="0">
                <a:solidFill>
                  <a:srgbClr val="FFFFFF"/>
                </a:solidFill>
                <a:latin typeface="Calibri"/>
              </a:rPr>
              <a:t>p50 uses completed requests only (censored).</a:t>
            </a:r>
          </a:p>
          <a:p>
            <a:pPr>
              <a:spcBef>
                <a:spcPts val="300"/>
              </a:spcBef>
            </a:pPr>
            <a:r>
              <a:rPr sz="1300" b="0">
                <a:solidFill>
                  <a:srgbClr val="FFFFFF"/>
                </a:solidFill>
                <a:latin typeface="Calibri"/>
              </a:rPr>
              <a:t>One client. Not a production capacity number.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More workers did not buy more throughput</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Requests per second measured through request completion</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hroughput_vs_concurrency.png"/>
          <p:cNvPicPr>
            <a:picLocks noChangeAspect="1"/>
          </p:cNvPicPr>
          <p:nvPr/>
        </p:nvPicPr>
        <p:blipFill>
          <a:blip r:embed="rId2"/>
          <a:stretch>
            <a:fillRect/>
          </a:stretch>
        </p:blipFill>
        <p:spPr>
          <a:xfrm>
            <a:off x="292608" y="1786971"/>
            <a:ext cx="7635240" cy="4116160"/>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happened</a:t>
            </a:r>
          </a:p>
          <a:p>
            <a:pPr>
              <a:spcBef>
                <a:spcPts val="300"/>
              </a:spcBef>
            </a:pPr>
            <a:r>
              <a:rPr sz="1300" b="0">
                <a:solidFill>
                  <a:srgbClr val="FFFFFF"/>
                </a:solidFill>
                <a:latin typeface="Calibri"/>
              </a:rPr>
              <a:t>Pre-market plateau ≈ 1.6 req/s.</a:t>
            </a:r>
          </a:p>
          <a:p>
            <a:pPr>
              <a:spcBef>
                <a:spcPts val="300"/>
              </a:spcBef>
            </a:pPr>
            <a:r>
              <a:rPr sz="1300" b="0">
                <a:solidFill>
                  <a:srgbClr val="FFFFFF"/>
                </a:solidFill>
                <a:latin typeface="Calibri"/>
              </a:rPr>
              <a:t>Market hours ≈ 3.2 req/s, falling to 2.8 at c=50.</a:t>
            </a:r>
          </a:p>
          <a:p>
            <a:pPr>
              <a:spcBef>
                <a:spcPts val="300"/>
              </a:spcBef>
            </a:pPr>
            <a:r>
              <a:rPr sz="1300" b="0">
                <a:solidFill>
                  <a:srgbClr val="FFFFFF"/>
                </a:solidFill>
                <a:latin typeface="Calibri"/>
              </a:rPr>
              <a:t>Extra parallelism only adds queueing.</a:t>
            </a:r>
          </a:p>
        </p:txBody>
      </p:sp>
      <p:sp>
        <p:nvSpPr>
          <p:cNvPr id="10" name="Rounded Rectangle 9"/>
          <p:cNvSpPr/>
          <p:nvPr/>
        </p:nvSpPr>
        <p:spPr>
          <a:xfrm>
            <a:off x="8183879" y="4096512"/>
            <a:ext cx="3749039" cy="251460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Corrected claim</a:t>
            </a:r>
          </a:p>
          <a:p>
            <a:pPr>
              <a:spcBef>
                <a:spcPts val="300"/>
              </a:spcBef>
            </a:pPr>
            <a:r>
              <a:rPr sz="1300" b="0">
                <a:solidFill>
                  <a:srgbClr val="FFFFFF"/>
                </a:solidFill>
                <a:latin typeface="Calibri"/>
              </a:rPr>
              <a:t>Earlier: 'rising to 4.6 req/s'.</a:t>
            </a:r>
          </a:p>
          <a:p>
            <a:pPr>
              <a:spcBef>
                <a:spcPts val="300"/>
              </a:spcBef>
            </a:pPr>
            <a:r>
              <a:rPr sz="1300" b="0">
                <a:solidFill>
                  <a:srgbClr val="FFFFFF"/>
                </a:solidFill>
                <a:latin typeface="Calibri"/>
              </a:rPr>
              <a:t>That ignored requests still in flight.</a:t>
            </a:r>
          </a:p>
          <a:p>
            <a:pPr>
              <a:spcBef>
                <a:spcPts val="300"/>
              </a:spcBef>
            </a:pPr>
            <a:r>
              <a:rPr sz="1300" b="0">
                <a:solidFill>
                  <a:srgbClr val="FFFFFF"/>
                </a:solidFill>
                <a:latin typeface="Calibri"/>
              </a:rPr>
              <a:t>Through completion the curve is flat.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Queueing is not uniform</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p50 latency in seconds by request type, market hours</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tency_by_request_type.png"/>
          <p:cNvPicPr>
            <a:picLocks noChangeAspect="1"/>
          </p:cNvPicPr>
          <p:nvPr/>
        </p:nvPicPr>
        <p:blipFill>
          <a:blip r:embed="rId2"/>
          <a:stretch>
            <a:fillRect/>
          </a:stretch>
        </p:blipFill>
        <p:spPr>
          <a:xfrm>
            <a:off x="292608" y="1826752"/>
            <a:ext cx="7635240" cy="4036598"/>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the bars show</a:t>
            </a:r>
          </a:p>
          <a:p>
            <a:pPr>
              <a:spcBef>
                <a:spcPts val="300"/>
              </a:spcBef>
            </a:pPr>
            <a:r>
              <a:rPr sz="1300" b="0">
                <a:solidFill>
                  <a:srgbClr val="FFFFFF"/>
                </a:solidFill>
                <a:latin typeface="Calibri"/>
              </a:rPr>
              <a:t>c=25: quotes 2.6 s, candles 11–12 s.</a:t>
            </a:r>
          </a:p>
          <a:p>
            <a:pPr>
              <a:spcBef>
                <a:spcPts val="300"/>
              </a:spcBef>
            </a:pPr>
            <a:r>
              <a:rPr sz="1300" b="0">
                <a:solidFill>
                  <a:srgbClr val="FFFFFF"/>
                </a:solidFill>
                <a:latin typeface="Calibri"/>
              </a:rPr>
              <a:t>c=50: latest-candle p50 26 s.</a:t>
            </a:r>
          </a:p>
          <a:p>
            <a:pPr>
              <a:spcBef>
                <a:spcPts val="300"/>
              </a:spcBef>
            </a:pPr>
            <a:r>
              <a:rPr sz="1300" b="0">
                <a:solidFill>
                  <a:srgbClr val="FFFFFF"/>
                </a:solidFill>
                <a:latin typeface="Calibri"/>
              </a:rPr>
              <a:t>Fits per-request cost or separate queues.</a:t>
            </a:r>
          </a:p>
        </p:txBody>
      </p:sp>
      <p:sp>
        <p:nvSpPr>
          <p:cNvPr id="10" name="Rounded Rectangle 9"/>
          <p:cNvSpPr/>
          <p:nvPr/>
        </p:nvSpPr>
        <p:spPr>
          <a:xfrm>
            <a:off x="8183879" y="4096512"/>
            <a:ext cx="3749039" cy="251460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Plus</a:t>
            </a:r>
          </a:p>
          <a:p>
            <a:pPr>
              <a:spcBef>
                <a:spcPts val="300"/>
              </a:spcBef>
            </a:pPr>
            <a:r>
              <a:rPr sz="1300" b="0">
                <a:solidFill>
                  <a:srgbClr val="FFFFFF"/>
                </a:solidFill>
                <a:latin typeface="Calibri"/>
              </a:rPr>
              <a:t>TIMED_OUT: 3.3 s alone → 29 s at c=50.</a:t>
            </a:r>
          </a:p>
          <a:p>
            <a:pPr>
              <a:spcBef>
                <a:spcPts val="300"/>
              </a:spcBef>
            </a:pPr>
            <a:r>
              <a:rPr sz="1300" b="0">
                <a:solidFill>
                  <a:srgbClr val="FFFFFF"/>
                </a:solidFill>
                <a:latin typeface="Calibri"/>
              </a:rPr>
              <a:t>Percentiles count completed requests only.</a:t>
            </a:r>
          </a:p>
          <a:p>
            <a:pPr>
              <a:spcBef>
                <a:spcPts val="300"/>
              </a:spcBef>
            </a:pPr>
            <a:r>
              <a:rPr sz="1300" b="0">
                <a:solidFill>
                  <a:srgbClr val="FFFFFF"/>
                </a:solidFill>
                <a:latin typeface="Calibri"/>
              </a:rPr>
              <a:t>So the tail is understated.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The two latency plots, side by side</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Unit: seconds, not milliseconds · Left: pre-market, stopped at c=25 · Right: market hours, reached c=50</a:t>
            </a:r>
          </a:p>
        </p:txBody>
      </p:sp>
      <p:pic>
        <p:nvPicPr>
          <p:cNvPr id="7" name="Picture 6" descr="premarket_fri_latency.png"/>
          <p:cNvPicPr>
            <a:picLocks noChangeAspect="1"/>
          </p:cNvPicPr>
          <p:nvPr/>
        </p:nvPicPr>
        <p:blipFill>
          <a:blip r:embed="rId2"/>
          <a:stretch>
            <a:fillRect/>
          </a:stretch>
        </p:blipFill>
        <p:spPr>
          <a:xfrm>
            <a:off x="228600" y="2173224"/>
            <a:ext cx="5852160" cy="2145792"/>
          </a:xfrm>
          <a:prstGeom prst="rect">
            <a:avLst/>
          </a:prstGeom>
        </p:spPr>
      </p:pic>
      <p:pic>
        <p:nvPicPr>
          <p:cNvPr id="8" name="Picture 7" descr="market_hours_fri_latency.png"/>
          <p:cNvPicPr>
            <a:picLocks noChangeAspect="1"/>
          </p:cNvPicPr>
          <p:nvPr/>
        </p:nvPicPr>
        <p:blipFill>
          <a:blip r:embed="rId3"/>
          <a:stretch>
            <a:fillRect/>
          </a:stretch>
        </p:blipFill>
        <p:spPr>
          <a:xfrm>
            <a:off x="6126480" y="2173224"/>
            <a:ext cx="5852160" cy="2145792"/>
          </a:xfrm>
          <a:prstGeom prst="rect">
            <a:avLst/>
          </a:prstGeom>
        </p:spPr>
      </p:pic>
      <p:sp>
        <p:nvSpPr>
          <p:cNvPr id="9" name="Rounded Rectangle 8"/>
          <p:cNvSpPr/>
          <p:nvPr/>
        </p:nvSpPr>
        <p:spPr>
          <a:xfrm>
            <a:off x="228600" y="5486400"/>
            <a:ext cx="11750040" cy="1143000"/>
          </a:xfrm>
          <a:prstGeom prst="round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FFFFF"/>
                </a:solidFill>
                <a:latin typeface="Calibri"/>
              </a:rPr>
              <a:t>Unit: seconds, not milliseconds. A reading of 8 is 8 seconds, not 8 ms. p50/p95/p99 climb with concurrency and the error rate stays zero. The service queues. It does not tell the client to slow down.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Radar matches the delayed REST bar</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Screenshot from the pre-market pass · the market-hours compare JSON says the same thing</a:t>
            </a:r>
          </a:p>
        </p:txBody>
      </p:sp>
      <p:sp>
        <p:nvSpPr>
          <p:cNvPr id="7" name="Rounded Rectangle 6"/>
          <p:cNvSpPr/>
          <p:nvPr/>
        </p:nvSpPr>
        <p:spPr>
          <a:xfrm>
            <a:off x="201168" y="1078992"/>
            <a:ext cx="7818120" cy="5532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adar_last_candle_1m_2026-10-16T120542Z.png"/>
          <p:cNvPicPr>
            <a:picLocks noChangeAspect="1"/>
          </p:cNvPicPr>
          <p:nvPr/>
        </p:nvPicPr>
        <p:blipFill>
          <a:blip r:embed="rId2"/>
          <a:stretch>
            <a:fillRect/>
          </a:stretch>
        </p:blipFill>
        <p:spPr>
          <a:xfrm>
            <a:off x="292608" y="1815079"/>
            <a:ext cx="7635240" cy="4059945"/>
          </a:xfrm>
          <a:prstGeom prst="rect">
            <a:avLst/>
          </a:prstGeom>
        </p:spPr>
      </p:pic>
      <p:sp>
        <p:nvSpPr>
          <p:cNvPr id="9" name="Rounded Rectangle 8"/>
          <p:cNvSpPr/>
          <p:nvPr/>
        </p:nvSpPr>
        <p:spPr>
          <a:xfrm>
            <a:off x="8183879" y="1078992"/>
            <a:ext cx="3749039" cy="28803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What matched</a:t>
            </a:r>
          </a:p>
          <a:p>
            <a:pPr>
              <a:spcBef>
                <a:spcPts val="300"/>
              </a:spcBef>
            </a:pPr>
            <a:r>
              <a:rPr sz="1300" b="0">
                <a:solidFill>
                  <a:srgbClr val="FFFFFF"/>
                </a:solidFill>
                <a:latin typeface="Calibri"/>
              </a:rPr>
              <a:t>Last 1-minute open, high, low agree with REST.</a:t>
            </a:r>
          </a:p>
          <a:p>
            <a:pPr>
              <a:spcBef>
                <a:spcPts val="300"/>
              </a:spcBef>
            </a:pPr>
            <a:r>
              <a:rPr sz="1300" b="0">
                <a:solidFill>
                  <a:srgbClr val="FFFFFF"/>
                </a:solidFill>
                <a:latin typeface="Calibri"/>
              </a:rPr>
              <a:t>Checked pre-market and again in regular hours.</a:t>
            </a:r>
          </a:p>
          <a:p>
            <a:pPr>
              <a:spcBef>
                <a:spcPts val="300"/>
              </a:spcBef>
            </a:pPr>
            <a:r>
              <a:rPr sz="1300" b="0">
                <a:solidFill>
                  <a:srgbClr val="FFFFFF"/>
                </a:solidFill>
                <a:latin typeface="Calibri"/>
              </a:rPr>
              <a:t>SSE lag median 0.72 s pre-market, 0.26 s in regular hours.</a:t>
            </a:r>
          </a:p>
          <a:p>
            <a:pPr>
              <a:spcBef>
                <a:spcPts val="300"/>
              </a:spcBef>
            </a:pPr>
            <a:r>
              <a:rPr sz="1300" b="0">
                <a:solidFill>
                  <a:srgbClr val="FFFFFF"/>
                </a:solidFill>
                <a:latin typeface="Calibri"/>
              </a:rPr>
              <a:t>Quote age still ~900 s on both paths.</a:t>
            </a:r>
          </a:p>
        </p:txBody>
      </p:sp>
      <p:sp>
        <p:nvSpPr>
          <p:cNvPr id="10" name="Rounded Rectangle 9"/>
          <p:cNvSpPr/>
          <p:nvPr/>
        </p:nvSpPr>
        <p:spPr>
          <a:xfrm>
            <a:off x="8183879" y="4096512"/>
            <a:ext cx="3749039" cy="251460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400" b="1">
                <a:solidFill>
                  <a:srgbClr val="FFFFFF"/>
                </a:solidFill>
                <a:latin typeface="Calibri"/>
              </a:rPr>
              <a:t>Client footgun</a:t>
            </a:r>
          </a:p>
          <a:p>
            <a:pPr>
              <a:spcBef>
                <a:spcPts val="300"/>
              </a:spcBef>
            </a:pPr>
            <a:r>
              <a:rPr sz="1300" b="0">
                <a:solidFill>
                  <a:srgbClr val="FFFFFF"/>
                </a:solidFill>
                <a:latin typeface="Calibri"/>
              </a:rPr>
              <a:t>If fromTime sits inside the delay window, SSE emits NaN candles dated 2038-01-19.</a:t>
            </a:r>
          </a:p>
          <a:p>
            <a:pPr>
              <a:spcBef>
                <a:spcPts val="300"/>
              </a:spcBef>
            </a:pPr>
            <a:r>
              <a:rPr sz="1300" b="0">
                <a:solidFill>
                  <a:srgbClr val="FFFFFF"/>
                </a:solidFill>
                <a:latin typeface="Calibri"/>
              </a:rPr>
              <a:t>eventFlags 14 then 2. A client that ignores flags stores garbage.</a:t>
            </a:r>
          </a:p>
          <a:p>
            <a:pPr>
              <a:spcBef>
                <a:spcPts val="300"/>
              </a:spcBef>
            </a:pPr>
            <a:r>
              <a:rPr sz="1300" b="0">
                <a:solidFill>
                  <a:srgbClr val="FFFFFF"/>
                </a:solidFill>
                <a:latin typeface="Calibri"/>
              </a:rPr>
              <a:t>Radar lists NVDA. REST times NVDA out. Different symbol universes, not a price bug.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Open items — commands and owners</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I will not present these as results</a:t>
            </a:r>
          </a:p>
        </p:txBody>
      </p:sp>
      <p:sp>
        <p:nvSpPr>
          <p:cNvPr id="7" name="Rounded Rectangle 6"/>
          <p:cNvSpPr/>
          <p:nvPr/>
        </p:nvSpPr>
        <p:spPr>
          <a:xfrm>
            <a:off x="274320" y="1115568"/>
            <a:ext cx="2103120" cy="82296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Calibri"/>
              </a:rPr>
              <a:t>Pass 2</a:t>
            </a:r>
          </a:p>
        </p:txBody>
      </p:sp>
      <p:sp>
        <p:nvSpPr>
          <p:cNvPr id="8" name="TextBox 7"/>
          <p:cNvSpPr txBox="1"/>
          <p:nvPr/>
        </p:nvSpPr>
        <p:spPr>
          <a:xfrm>
            <a:off x="2560320" y="1115568"/>
            <a:ext cx="9235440" cy="822960"/>
          </a:xfrm>
          <a:prstGeom prst="rect">
            <a:avLst/>
          </a:prstGeom>
          <a:noFill/>
        </p:spPr>
        <p:txBody>
          <a:bodyPr wrap="none">
            <a:spAutoFit/>
          </a:bodyPr>
          <a:lstStyle/>
          <a:p>
            <a:r>
              <a:rPr sz="1600" b="1">
                <a:solidFill>
                  <a:srgbClr val="12324D"/>
                </a:solidFill>
                <a:latin typeface="Calibri"/>
              </a:rPr>
              <a:t>Monday 19 Oct after 15:30Z</a:t>
            </a:r>
          </a:p>
          <a:p>
            <a:r>
              <a:rPr sz="1400" b="0">
                <a:solidFill>
                  <a:srgbClr val="243038"/>
                </a:solidFill>
                <a:latin typeface="Calibri"/>
              </a:rPr>
              <a:t>fetch_candles.py --pass pass2, then validate_candles.py</a:t>
            </a:r>
          </a:p>
        </p:txBody>
      </p:sp>
      <p:sp>
        <p:nvSpPr>
          <p:cNvPr id="9" name="Rounded Rectangle 8"/>
          <p:cNvSpPr/>
          <p:nvPr/>
        </p:nvSpPr>
        <p:spPr>
          <a:xfrm>
            <a:off x="274320" y="2029967"/>
            <a:ext cx="2103120" cy="82296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Calibri"/>
              </a:rPr>
              <a:t>Logger freeze</a:t>
            </a:r>
          </a:p>
        </p:txBody>
      </p:sp>
      <p:sp>
        <p:nvSpPr>
          <p:cNvPr id="10" name="TextBox 9"/>
          <p:cNvSpPr txBox="1"/>
          <p:nvPr/>
        </p:nvSpPr>
        <p:spPr>
          <a:xfrm>
            <a:off x="2560320" y="2029967"/>
            <a:ext cx="9235440" cy="822960"/>
          </a:xfrm>
          <a:prstGeom prst="rect">
            <a:avLst/>
          </a:prstGeom>
          <a:noFill/>
        </p:spPr>
        <p:txBody>
          <a:bodyPr wrap="none">
            <a:spAutoFit/>
          </a:bodyPr>
          <a:lstStyle/>
          <a:p>
            <a:r>
              <a:rPr sz="1600" b="1">
                <a:solidFill>
                  <a:srgbClr val="12324D"/>
                </a:solidFill>
                <a:latin typeface="Calibri"/>
              </a:rPr>
              <a:t>Same Monday window</a:t>
            </a:r>
          </a:p>
          <a:p>
            <a:r>
              <a:rPr sz="1400" b="0">
                <a:solidFill>
                  <a:srgbClr val="243038"/>
                </a:solidFill>
                <a:latin typeface="Calibri"/>
              </a:rPr>
              <a:t>analyze_logger.py — mention the Friday→Saturday gap</a:t>
            </a:r>
          </a:p>
        </p:txBody>
      </p:sp>
      <p:sp>
        <p:nvSpPr>
          <p:cNvPr id="11" name="Rounded Rectangle 10"/>
          <p:cNvSpPr/>
          <p:nvPr/>
        </p:nvSpPr>
        <p:spPr>
          <a:xfrm>
            <a:off x="274320" y="2944368"/>
            <a:ext cx="2103120" cy="82296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Calibri"/>
              </a:rPr>
              <a:t>Volume cause</a:t>
            </a:r>
          </a:p>
        </p:txBody>
      </p:sp>
      <p:sp>
        <p:nvSpPr>
          <p:cNvPr id="12" name="TextBox 11"/>
          <p:cNvSpPr txBox="1"/>
          <p:nvPr/>
        </p:nvSpPr>
        <p:spPr>
          <a:xfrm>
            <a:off x="2560320" y="2944368"/>
            <a:ext cx="9235440" cy="822960"/>
          </a:xfrm>
          <a:prstGeom prst="rect">
            <a:avLst/>
          </a:prstGeom>
          <a:noFill/>
        </p:spPr>
        <p:txBody>
          <a:bodyPr wrap="none">
            <a:spAutoFit/>
          </a:bodyPr>
          <a:lstStyle/>
          <a:p>
            <a:r>
              <a:rPr sz="1600" b="1">
                <a:solidFill>
                  <a:srgbClr val="12324D"/>
                </a:solidFill>
                <a:latin typeface="Calibri"/>
              </a:rPr>
              <a:t>Blocked on this demo</a:t>
            </a:r>
          </a:p>
          <a:p>
            <a:r>
              <a:rPr sz="1400" b="0">
                <a:solidFill>
                  <a:srgbClr val="243038"/>
                </a:solidFill>
                <a:latin typeface="Calibri"/>
              </a:rPr>
              <a:t>TimeAndSale/Trade returned TIMED_OUT or empty</a:t>
            </a:r>
          </a:p>
        </p:txBody>
      </p:sp>
      <p:sp>
        <p:nvSpPr>
          <p:cNvPr id="13" name="Rounded Rectangle 12"/>
          <p:cNvSpPr/>
          <p:nvPr/>
        </p:nvSpPr>
        <p:spPr>
          <a:xfrm>
            <a:off x="274320" y="3858768"/>
            <a:ext cx="2103120" cy="82296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Calibri"/>
              </a:rPr>
              <a:t>Google Drive</a:t>
            </a:r>
          </a:p>
        </p:txBody>
      </p:sp>
      <p:sp>
        <p:nvSpPr>
          <p:cNvPr id="14" name="TextBox 13"/>
          <p:cNvSpPr txBox="1"/>
          <p:nvPr/>
        </p:nvSpPr>
        <p:spPr>
          <a:xfrm>
            <a:off x="2560320" y="3858768"/>
            <a:ext cx="9235440" cy="822960"/>
          </a:xfrm>
          <a:prstGeom prst="rect">
            <a:avLst/>
          </a:prstGeom>
          <a:noFill/>
        </p:spPr>
        <p:txBody>
          <a:bodyPr wrap="none">
            <a:spAutoFit/>
          </a:bodyPr>
          <a:lstStyle/>
          <a:p>
            <a:r>
              <a:rPr sz="1600" b="1">
                <a:solidFill>
                  <a:srgbClr val="12324D"/>
                </a:solidFill>
                <a:latin typeface="Calibri"/>
              </a:rPr>
              <a:t>Needs a service account</a:t>
            </a:r>
          </a:p>
          <a:p>
            <a:r>
              <a:rPr sz="1400" b="0">
                <a:solidFill>
                  <a:srgbClr val="243038"/>
                </a:solidFill>
                <a:latin typeface="Calibri"/>
              </a:rPr>
              <a:t>Code is done. Last run wrote upload_manifest.json as DRY_RUN</a:t>
            </a:r>
          </a:p>
        </p:txBody>
      </p:sp>
      <p:sp>
        <p:nvSpPr>
          <p:cNvPr id="15" name="Rounded Rectangle 14"/>
          <p:cNvSpPr/>
          <p:nvPr/>
        </p:nvSpPr>
        <p:spPr>
          <a:xfrm>
            <a:off x="274320" y="4773168"/>
            <a:ext cx="2103120" cy="82296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Calibri"/>
              </a:rPr>
              <a:t>CME calendar</a:t>
            </a:r>
          </a:p>
        </p:txBody>
      </p:sp>
      <p:sp>
        <p:nvSpPr>
          <p:cNvPr id="16" name="TextBox 15"/>
          <p:cNvSpPr txBox="1"/>
          <p:nvPr/>
        </p:nvSpPr>
        <p:spPr>
          <a:xfrm>
            <a:off x="2560320" y="4773168"/>
            <a:ext cx="9235440" cy="822960"/>
          </a:xfrm>
          <a:prstGeom prst="rect">
            <a:avLst/>
          </a:prstGeom>
          <a:noFill/>
        </p:spPr>
        <p:txBody>
          <a:bodyPr wrap="none">
            <a:spAutoFit/>
          </a:bodyPr>
          <a:lstStyle/>
          <a:p>
            <a:r>
              <a:rPr sz="1600" b="1">
                <a:solidFill>
                  <a:srgbClr val="12324D"/>
                </a:solidFill>
                <a:latin typeface="Calibri"/>
              </a:rPr>
              <a:t>Manual download</a:t>
            </a:r>
          </a:p>
          <a:p>
            <a:r>
              <a:rPr sz="1400" b="0">
                <a:solidFill>
                  <a:srgbClr val="243038"/>
                </a:solidFill>
                <a:latin typeface="Calibri"/>
              </a:rPr>
              <a:t>Put PDFs or the CSV template in taskA_holidays/input/cme/</a:t>
            </a:r>
          </a:p>
        </p:txBody>
      </p:sp>
      <p:sp>
        <p:nvSpPr>
          <p:cNvPr id="17" name="Rounded Rectangle 16"/>
          <p:cNvSpPr/>
          <p:nvPr/>
        </p:nvSpPr>
        <p:spPr>
          <a:xfrm>
            <a:off x="274320" y="5687568"/>
            <a:ext cx="2103120" cy="82296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Calibri"/>
              </a:rPr>
              <a:t>OPRA 2026</a:t>
            </a:r>
          </a:p>
        </p:txBody>
      </p:sp>
      <p:sp>
        <p:nvSpPr>
          <p:cNvPr id="18" name="TextBox 17"/>
          <p:cNvSpPr txBox="1"/>
          <p:nvPr/>
        </p:nvSpPr>
        <p:spPr>
          <a:xfrm>
            <a:off x="2560320" y="5687568"/>
            <a:ext cx="9235440" cy="822960"/>
          </a:xfrm>
          <a:prstGeom prst="rect">
            <a:avLst/>
          </a:prstGeom>
          <a:noFill/>
        </p:spPr>
        <p:txBody>
          <a:bodyPr wrap="none">
            <a:spAutoFit/>
          </a:bodyPr>
          <a:lstStyle/>
          <a:p>
            <a:r>
              <a:rPr sz="1600" b="1">
                <a:solidFill>
                  <a:srgbClr val="12324D"/>
                </a:solidFill>
                <a:latin typeface="Calibri"/>
              </a:rPr>
              <a:t>When OPRA publishes</a:t>
            </a:r>
          </a:p>
          <a:p>
            <a:r>
              <a:rPr sz="1400" b="0">
                <a:solidFill>
                  <a:srgbClr val="243038"/>
                </a:solidFill>
                <a:latin typeface="Calibri"/>
              </a:rPr>
              <a:t>HEAD of the 2026 PDF returned 403 on 17 Oct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91695" cy="128016"/>
          </a:xfrm>
          <a:prstGeom prst="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515600" cy="3108960"/>
          </a:xfrm>
          <a:prstGeom prst="rect">
            <a:avLst/>
          </a:prstGeom>
          <a:noFill/>
        </p:spPr>
        <p:txBody>
          <a:bodyPr wrap="none">
            <a:spAutoFit/>
          </a:bodyPr>
          <a:lstStyle/>
          <a:p>
            <a:r>
              <a:rPr sz="7200" b="1">
                <a:solidFill>
                  <a:srgbClr val="1F8A70"/>
                </a:solidFill>
                <a:latin typeface="Calibri"/>
              </a:rPr>
              <a:t>04</a:t>
            </a:r>
          </a:p>
          <a:p>
            <a:r>
              <a:rPr sz="4000" b="1">
                <a:solidFill>
                  <a:srgbClr val="FFFFFF"/>
                </a:solidFill>
                <a:latin typeface="Calibri"/>
              </a:rPr>
              <a:t>Risk, incident and improvements</a:t>
            </a:r>
          </a:p>
          <a:p>
            <a:r>
              <a:rPr sz="1800" b="0">
                <a:solidFill>
                  <a:srgbClr val="D6EEF0"/>
                </a:solidFill>
                <a:latin typeface="Calibri"/>
              </a:rPr>
              <a:t>What I would escalate, a drill, and three proposals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What I would escalate</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Silent failures first — clients cannot alert on HTTP 200</a:t>
            </a:r>
          </a:p>
        </p:txBody>
      </p:sp>
      <p:sp>
        <p:nvSpPr>
          <p:cNvPr id="7" name="Rounded Rectangle 6"/>
          <p:cNvSpPr/>
          <p:nvPr/>
        </p:nvSpPr>
        <p:spPr>
          <a:xfrm>
            <a:off x="256032" y="1143000"/>
            <a:ext cx="5760720" cy="5394960"/>
          </a:xfrm>
          <a:prstGeom prst="round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Ranked risks</a:t>
            </a:r>
          </a:p>
          <a:p>
            <a:pPr>
              <a:spcBef>
                <a:spcPts val="300"/>
              </a:spcBef>
            </a:pPr>
            <a:r>
              <a:rPr sz="1500" b="0">
                <a:solidFill>
                  <a:srgbClr val="FFFFFF"/>
                </a:solidFill>
                <a:latin typeface="Calibri"/>
              </a:rPr>
              <a:t>1  Silent 8,000 cap / empty OK</a:t>
            </a:r>
          </a:p>
          <a:p>
            <a:pPr>
              <a:spcBef>
                <a:spcPts val="300"/>
              </a:spcBef>
            </a:pPr>
            <a:r>
              <a:rPr sz="1500" b="0">
                <a:solidFill>
                  <a:srgbClr val="FFFFFF"/>
                </a:solidFill>
                <a:latin typeface="Calibri"/>
              </a:rPr>
              <a:t>2  Cross-timeframe volume (mostly ETH, rare RTH)</a:t>
            </a:r>
          </a:p>
          <a:p>
            <a:pPr>
              <a:spcBef>
                <a:spcPts val="300"/>
              </a:spcBef>
            </a:pPr>
            <a:r>
              <a:rPr sz="1500" b="0">
                <a:solidFill>
                  <a:srgbClr val="FFFFFF"/>
                </a:solidFill>
                <a:latin typeface="Calibri"/>
              </a:rPr>
              <a:t>3  Saturation: queueing, no 429, no Retry-After</a:t>
            </a:r>
          </a:p>
          <a:p>
            <a:pPr>
              <a:spcBef>
                <a:spcPts val="300"/>
              </a:spcBef>
            </a:pPr>
            <a:r>
              <a:rPr sz="1500" b="0">
                <a:solidFill>
                  <a:srgbClr val="FFFFFF"/>
                </a:solidFill>
                <a:latin typeface="Calibri"/>
              </a:rPr>
              <a:t>4  Staleness that looks like a closed market</a:t>
            </a:r>
          </a:p>
          <a:p>
            <a:pPr>
              <a:spcBef>
                <a:spcPts val="300"/>
              </a:spcBef>
            </a:pPr>
            <a:r>
              <a:rPr sz="1500" b="0">
                <a:solidFill>
                  <a:srgbClr val="FFFFFF"/>
                </a:solidFill>
                <a:latin typeface="Calibri"/>
              </a:rPr>
              <a:t>5  FX bid-only candles and TIMED_OUT symbols</a:t>
            </a:r>
          </a:p>
          <a:p>
            <a:pPr>
              <a:spcBef>
                <a:spcPts val="300"/>
              </a:spcBef>
            </a:pPr>
            <a:r>
              <a:rPr sz="1500" b="0">
                <a:solidFill>
                  <a:srgbClr val="FFFFFF"/>
                </a:solidFill>
                <a:latin typeface="Calibri"/>
              </a:rPr>
              <a:t>6  Out-of-session FX prints used as a session signal</a:t>
            </a:r>
          </a:p>
          <a:p>
            <a:pPr>
              <a:spcBef>
                <a:spcPts val="300"/>
              </a:spcBef>
            </a:pPr>
            <a:r>
              <a:rPr sz="1500" b="0">
                <a:solidFill>
                  <a:srgbClr val="FFFFFF"/>
                </a:solidFill>
                <a:latin typeface="Calibri"/>
              </a:rPr>
              <a:t>7  Monitors that only watch HTTP errors</a:t>
            </a:r>
          </a:p>
        </p:txBody>
      </p:sp>
      <p:sp>
        <p:nvSpPr>
          <p:cNvPr id="8" name="Rounded Rectangle 7"/>
          <p:cNvSpPr/>
          <p:nvPr/>
        </p:nvSpPr>
        <p:spPr>
          <a:xfrm>
            <a:off x="6172200" y="1143000"/>
            <a:ext cx="5715000" cy="539496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Incident drill INC-SIM-01</a:t>
            </a:r>
          </a:p>
          <a:p>
            <a:pPr>
              <a:spcBef>
                <a:spcPts val="300"/>
              </a:spcBef>
            </a:pPr>
            <a:r>
              <a:rPr sz="1500" b="0">
                <a:solidFill>
                  <a:srgbClr val="FFFFFF"/>
                </a:solidFill>
                <a:latin typeface="Calibri"/>
              </a:rPr>
              <a:t>Client: AAPL 18:00 ET hourly volume is ~98% below the 1-minute roll-up (served 845k vs 14k).</a:t>
            </a:r>
          </a:p>
          <a:p>
            <a:pPr>
              <a:spcBef>
                <a:spcPts val="300"/>
              </a:spcBef>
            </a:pPr>
            <a:r>
              <a:rPr sz="1500" b="0">
                <a:solidFill>
                  <a:srgbClr val="FFFFFF"/>
                </a:solidFill>
                <a:latin typeface="Calibri"/>
              </a:rPr>
              <a:t>First 15 minutes: reproduce on the demo, count ETH vs RTH, check the daily total.</a:t>
            </a:r>
          </a:p>
          <a:p>
            <a:pPr>
              <a:spcBef>
                <a:spcPts val="300"/>
              </a:spcBef>
            </a:pPr>
            <a:r>
              <a:rPr sz="1500" b="0">
                <a:solidFill>
                  <a:srgbClr val="FFFFFF"/>
                </a:solidFill>
                <a:latin typeface="Calibri"/>
              </a:rPr>
              <a:t>Daily 2026-10-14: hourly sum closer than 1m sum.</a:t>
            </a:r>
          </a:p>
          <a:p>
            <a:pPr>
              <a:spcBef>
                <a:spcPts val="300"/>
              </a:spcBef>
            </a:pPr>
            <a:r>
              <a:rPr sz="1500" b="0">
                <a:solidFill>
                  <a:srgbClr val="FFFFFF"/>
                </a:solidFill>
                <a:latin typeface="Calibri"/>
              </a:rPr>
              <a:t>Escalate with the CSV; ask which series is the reference.</a:t>
            </a:r>
          </a:p>
          <a:p>
            <a:pPr>
              <a:spcBef>
                <a:spcPts val="300"/>
              </a:spcBef>
            </a:pPr>
            <a:r>
              <a:rPr sz="1500" b="0">
                <a:solidFill>
                  <a:srgbClr val="FFFFFF"/>
                </a:solidFill>
                <a:latin typeface="Calibri"/>
              </a:rPr>
              <a:t>Client note: facts, next-update time. No workaround claimed (tho=true untested).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Three improvements</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Technical · monitoring · documentation</a:t>
            </a:r>
          </a:p>
        </p:txBody>
      </p:sp>
      <p:sp>
        <p:nvSpPr>
          <p:cNvPr id="7" name="Rounded Rectangle 6"/>
          <p:cNvSpPr/>
          <p:nvPr/>
        </p:nvSpPr>
        <p:spPr>
          <a:xfrm>
            <a:off x="256032" y="1188720"/>
            <a:ext cx="3840480" cy="521208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Technical</a:t>
            </a:r>
          </a:p>
          <a:p>
            <a:pPr>
              <a:spcBef>
                <a:spcPts val="300"/>
              </a:spcBef>
            </a:pPr>
            <a:r>
              <a:rPr sz="1500" b="0">
                <a:solidFill>
                  <a:srgbClr val="FFFFFF"/>
                </a:solidFill>
                <a:latin typeface="Calibri"/>
              </a:rPr>
              <a:t>Put truncated, serverTime, delaySeconds, and lastEventTime on the response.</a:t>
            </a:r>
          </a:p>
          <a:p>
            <a:pPr>
              <a:spcBef>
                <a:spcPts val="300"/>
              </a:spcBef>
            </a:pPr>
            <a:r>
              <a:rPr sz="1500" b="0">
                <a:solidFill>
                  <a:srgbClr val="FFFFFF"/>
                </a:solidFill>
                <a:latin typeface="Calibri"/>
              </a:rPr>
              <a:t>Flag the forming candle.</a:t>
            </a:r>
          </a:p>
          <a:p>
            <a:pPr>
              <a:spcBef>
                <a:spcPts val="300"/>
              </a:spcBef>
            </a:pPr>
            <a:r>
              <a:rPr sz="1500" b="0">
                <a:solidFill>
                  <a:srgbClr val="FFFFFF"/>
                </a:solidFill>
                <a:latin typeface="Calibri"/>
              </a:rPr>
              <a:t>Return UNKNOWN_SYMBOL immediately instead of a 3.3 s TIMED_OUT.</a:t>
            </a:r>
          </a:p>
          <a:p>
            <a:pPr>
              <a:spcBef>
                <a:spcPts val="300"/>
              </a:spcBef>
            </a:pPr>
            <a:r>
              <a:rPr sz="1500" b="0">
                <a:solidFill>
                  <a:srgbClr val="FFFFFF"/>
                </a:solidFill>
                <a:latin typeface="Calibri"/>
              </a:rPr>
              <a:t>Complexity: medium.</a:t>
            </a:r>
          </a:p>
          <a:p>
            <a:pPr>
              <a:spcBef>
                <a:spcPts val="300"/>
              </a:spcBef>
            </a:pPr>
            <a:r>
              <a:rPr sz="1500" b="0">
                <a:solidFill>
                  <a:srgbClr val="FFFFFF"/>
                </a:solidFill>
                <a:latin typeface="Calibri"/>
              </a:rPr>
              <a:t>Fewer false “no data” tickets.</a:t>
            </a:r>
          </a:p>
        </p:txBody>
      </p:sp>
      <p:sp>
        <p:nvSpPr>
          <p:cNvPr id="8" name="Rounded Rectangle 7"/>
          <p:cNvSpPr/>
          <p:nvPr/>
        </p:nvSpPr>
        <p:spPr>
          <a:xfrm>
            <a:off x="4187952" y="1188720"/>
            <a:ext cx="3840480" cy="5212080"/>
          </a:xfrm>
          <a:prstGeom prst="roundRect">
            <a:avLst/>
          </a:prstGeom>
          <a:solidFill>
            <a:srgbClr val="E09F3E"/>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Monitoring</a:t>
            </a:r>
          </a:p>
          <a:p>
            <a:pPr>
              <a:spcBef>
                <a:spcPts val="300"/>
              </a:spcBef>
            </a:pPr>
            <a:r>
              <a:rPr sz="1500" b="0">
                <a:solidFill>
                  <a:srgbClr val="FFFFFF"/>
                </a:solidFill>
                <a:latin typeface="Calibri"/>
              </a:rPr>
              <a:t>One synthetic probe per asset class.</a:t>
            </a:r>
          </a:p>
          <a:p>
            <a:pPr>
              <a:spcBef>
                <a:spcPts val="300"/>
              </a:spcBef>
            </a:pPr>
            <a:r>
              <a:rPr sz="1500" b="0">
                <a:solidFill>
                  <a:srgbClr val="FFFFFF"/>
                </a:solidFill>
                <a:latin typeface="Calibri"/>
              </a:rPr>
              <a:t>Watch p95, freshness versus 900 s, and 1-hour versus 1-minute volume.</a:t>
            </a:r>
          </a:p>
          <a:p>
            <a:pPr>
              <a:spcBef>
                <a:spcPts val="300"/>
              </a:spcBef>
            </a:pPr>
            <a:r>
              <a:rPr sz="1500" b="0">
                <a:solidFill>
                  <a:srgbClr val="FFFFFF"/>
                </a:solidFill>
                <a:latin typeface="Calibri"/>
              </a:rPr>
              <a:t>Page when p95 &gt; 5 s at low concurrency, or freshness &gt; 1200 s.</a:t>
            </a:r>
          </a:p>
          <a:p>
            <a:pPr>
              <a:spcBef>
                <a:spcPts val="300"/>
              </a:spcBef>
            </a:pPr>
            <a:r>
              <a:rPr sz="1500" b="0">
                <a:solidFill>
                  <a:srgbClr val="FFFFFF"/>
                </a:solidFill>
                <a:latin typeface="Calibri"/>
              </a:rPr>
              <a:t>Complexity: small to medium.</a:t>
            </a:r>
          </a:p>
          <a:p>
            <a:pPr>
              <a:spcBef>
                <a:spcPts val="300"/>
              </a:spcBef>
            </a:pPr>
            <a:r>
              <a:rPr sz="1500" b="0">
                <a:solidFill>
                  <a:srgbClr val="FFFFFF"/>
                </a:solidFill>
                <a:latin typeface="Calibri"/>
              </a:rPr>
              <a:t>Probes spend real capacity on a service that queues. Budget them.</a:t>
            </a:r>
          </a:p>
        </p:txBody>
      </p:sp>
      <p:sp>
        <p:nvSpPr>
          <p:cNvPr id="9" name="Rounded Rectangle 8"/>
          <p:cNvSpPr/>
          <p:nvPr/>
        </p:nvSpPr>
        <p:spPr>
          <a:xfrm>
            <a:off x="8119872" y="1188720"/>
            <a:ext cx="3794760" cy="5212080"/>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Documentation</a:t>
            </a:r>
          </a:p>
          <a:p>
            <a:pPr>
              <a:spcBef>
                <a:spcPts val="300"/>
              </a:spcBef>
            </a:pPr>
            <a:r>
              <a:rPr sz="1500" b="0">
                <a:solidFill>
                  <a:srgbClr val="FFFFFF"/>
                </a:solidFill>
                <a:latin typeface="Calibri"/>
              </a:rPr>
              <a:t>One demo-facts page: delay, retention, symbol list, FX bid, Radar ≠ REST.</a:t>
            </a:r>
          </a:p>
          <a:p>
            <a:pPr>
              <a:spcBef>
                <a:spcPts val="300"/>
              </a:spcBef>
            </a:pPr>
            <a:r>
              <a:rPr sz="1500" b="0">
                <a:solidFill>
                  <a:srgbClr val="FFFFFF"/>
                </a:solidFill>
                <a:latin typeface="Calibri"/>
              </a:rPr>
              <a:t>Complexity: small.</a:t>
            </a:r>
          </a:p>
          <a:p>
            <a:pPr>
              <a:spcBef>
                <a:spcPts val="300"/>
              </a:spcBef>
            </a:pPr>
            <a:r>
              <a:rPr sz="1500" b="0">
                <a:solidFill>
                  <a:srgbClr val="FFFFFF"/>
                </a:solidFill>
                <a:latin typeface="Calibri"/>
              </a:rPr>
              <a:t>This report is the draft.</a:t>
            </a:r>
          </a:p>
          <a:p>
            <a:pPr>
              <a:spcBef>
                <a:spcPts val="300"/>
              </a:spcBef>
            </a:pPr>
            <a:r>
              <a:rPr sz="1500" b="0">
                <a:solidFill>
                  <a:srgbClr val="FFFFFF"/>
                </a:solidFill>
                <a:latin typeface="Calibri"/>
              </a:rPr>
              <a:t>It removes the three-experiment tax on every new integrator.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73152"/>
          </a:xfrm>
          <a:prstGeom prst="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109728"/>
            <a:ext cx="11430000" cy="438912"/>
          </a:xfrm>
          <a:prstGeom prst="rect">
            <a:avLst/>
          </a:prstGeom>
          <a:noFill/>
        </p:spPr>
        <p:txBody>
          <a:bodyPr wrap="none">
            <a:spAutoFit/>
          </a:bodyPr>
          <a:lstStyle/>
          <a:p>
            <a:r>
              <a:rPr sz="2600" b="1">
                <a:solidFill>
                  <a:srgbClr val="FFFFFF"/>
                </a:solidFill>
                <a:latin typeface="Calibri"/>
              </a:rPr>
              <a:t>Questions</a:t>
            </a:r>
          </a:p>
        </p:txBody>
      </p:sp>
      <p:sp>
        <p:nvSpPr>
          <p:cNvPr id="6" name="TextBox 5"/>
          <p:cNvSpPr txBox="1"/>
          <p:nvPr/>
        </p:nvSpPr>
        <p:spPr>
          <a:xfrm>
            <a:off x="347472" y="475488"/>
            <a:ext cx="11430000" cy="310896"/>
          </a:xfrm>
          <a:prstGeom prst="rect">
            <a:avLst/>
          </a:prstGeom>
          <a:noFill/>
        </p:spPr>
        <p:txBody>
          <a:bodyPr wrap="none">
            <a:spAutoFit/>
          </a:bodyPr>
          <a:lstStyle/>
          <a:p>
            <a:r>
              <a:rPr sz="1300" b="0">
                <a:solidFill>
                  <a:srgbClr val="D6EEF0"/>
                </a:solidFill>
                <a:latin typeface="Calibri"/>
              </a:rPr>
              <a:t>Offline fallbacks are in evidence/ if the demo is slow</a:t>
            </a:r>
          </a:p>
        </p:txBody>
      </p:sp>
      <p:sp>
        <p:nvSpPr>
          <p:cNvPr id="7" name="Rounded Rectangle 6"/>
          <p:cNvSpPr/>
          <p:nvPr/>
        </p:nvSpPr>
        <p:spPr>
          <a:xfrm>
            <a:off x="320040" y="1188720"/>
            <a:ext cx="5669280" cy="5212080"/>
          </a:xfrm>
          <a:prstGeom prst="roundRect">
            <a:avLst/>
          </a:prstGeom>
          <a:solidFill>
            <a:srgbClr val="12324D"/>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I can open live</a:t>
            </a:r>
          </a:p>
          <a:p>
            <a:pPr>
              <a:spcBef>
                <a:spcPts val="300"/>
              </a:spcBef>
            </a:pPr>
            <a:r>
              <a:rPr sz="1600" b="0">
                <a:solidFill>
                  <a:srgbClr val="FFFFFF"/>
                </a:solidFill>
                <a:latin typeface="Calibri"/>
              </a:rPr>
              <a:t>8,000 cap: a long fromTime, or chunks.jsonl.</a:t>
            </a:r>
          </a:p>
          <a:p>
            <a:pPr>
              <a:spcBef>
                <a:spcPts val="300"/>
              </a:spcBef>
            </a:pPr>
            <a:r>
              <a:rPr sz="1600" b="0">
                <a:solidFill>
                  <a:srgbClr val="FFFFFF"/>
                </a:solidFill>
                <a:latin typeface="Calibri"/>
              </a:rPr>
              <a:t>Volume: validate_candles.py --pass pass1, then the AAPL CSV.</a:t>
            </a:r>
          </a:p>
          <a:p>
            <a:pPr>
              <a:spcBef>
                <a:spcPts val="300"/>
              </a:spcBef>
            </a:pPr>
            <a:r>
              <a:rPr sz="1600" b="0">
                <a:solidFill>
                  <a:srgbClr val="FFFFFF"/>
                </a:solidFill>
                <a:latin typeface="Calibri"/>
              </a:rPr>
              <a:t>Show both the −99% extended-hours row and the +2% regular-hours row.</a:t>
            </a:r>
          </a:p>
          <a:p>
            <a:pPr>
              <a:spcBef>
                <a:spcPts val="300"/>
              </a:spcBef>
            </a:pPr>
            <a:r>
              <a:rPr sz="1600" b="0">
                <a:solidFill>
                  <a:srgbClr val="FFFFFF"/>
                </a:solidFill>
                <a:latin typeface="Calibri"/>
              </a:rPr>
              <a:t>Radar screenshots are already saved.</a:t>
            </a:r>
          </a:p>
        </p:txBody>
      </p:sp>
      <p:sp>
        <p:nvSpPr>
          <p:cNvPr id="8" name="Rounded Rectangle 7"/>
          <p:cNvSpPr/>
          <p:nvPr/>
        </p:nvSpPr>
        <p:spPr>
          <a:xfrm>
            <a:off x="6172200" y="1188720"/>
            <a:ext cx="5669280" cy="5212080"/>
          </a:xfrm>
          <a:prstGeom prst="roundRect">
            <a:avLst/>
          </a:prstGeom>
          <a:solidFill>
            <a:srgbClr val="E05D4C"/>
          </a:solidFill>
          <a:ln>
            <a:noFill/>
          </a:ln>
        </p:spPr>
        <p:style>
          <a:lnRef idx="1">
            <a:schemeClr val="accent1"/>
          </a:lnRef>
          <a:fillRef idx="3">
            <a:schemeClr val="accent1"/>
          </a:fillRef>
          <a:effectRef idx="2">
            <a:schemeClr val="accent1"/>
          </a:effectRef>
          <a:fontRef idx="minor">
            <a:schemeClr val="lt1"/>
          </a:fontRef>
        </p:style>
        <p:txBody>
          <a:bodyPr rtlCol="0" anchor="t" wrap="square" lIns="128016" rIns="109728" tIns="73152"/>
          <a:lstStyle/>
          <a:p>
            <a:pPr algn="ctr"/>
            <a:r>
              <a:rPr sz="1500" b="1">
                <a:solidFill>
                  <a:srgbClr val="FFFFFF"/>
                </a:solidFill>
                <a:latin typeface="Calibri"/>
              </a:rPr>
              <a:t>I will not claim</a:t>
            </a:r>
          </a:p>
          <a:p>
            <a:pPr>
              <a:spcBef>
                <a:spcPts val="300"/>
              </a:spcBef>
            </a:pPr>
            <a:r>
              <a:rPr sz="1600" b="0">
                <a:solidFill>
                  <a:srgbClr val="FFFFFF"/>
                </a:solidFill>
                <a:latin typeface="Calibri"/>
              </a:rPr>
              <a:t>A root cause, or which volume series is the reference.</a:t>
            </a:r>
          </a:p>
          <a:p>
            <a:pPr>
              <a:spcBef>
                <a:spcPts val="300"/>
              </a:spcBef>
            </a:pPr>
            <a:r>
              <a:rPr sz="1600" b="0">
                <a:solidFill>
                  <a:srgbClr val="FFFFFF"/>
                </a:solidFill>
                <a:latin typeface="Calibri"/>
              </a:rPr>
              <a:t>That weekend EUR/USD prints are trades.</a:t>
            </a:r>
          </a:p>
          <a:p>
            <a:pPr>
              <a:spcBef>
                <a:spcPts val="300"/>
              </a:spcBef>
            </a:pPr>
            <a:r>
              <a:rPr sz="1600" b="0">
                <a:solidFill>
                  <a:srgbClr val="FFFFFF"/>
                </a:solidFill>
                <a:latin typeface="Calibri"/>
              </a:rPr>
              <a:t>Production capacity from this shared demo.</a:t>
            </a:r>
          </a:p>
          <a:p>
            <a:pPr>
              <a:spcBef>
                <a:spcPts val="300"/>
              </a:spcBef>
            </a:pPr>
            <a:r>
              <a:rPr sz="1600" b="0">
                <a:solidFill>
                  <a:srgbClr val="FFFFFF"/>
                </a:solidFill>
                <a:latin typeface="Calibri"/>
              </a:rPr>
              <a:t>Pass 2, a live Drive upload, or a CME calendar.</a:t>
            </a:r>
          </a:p>
          <a:p>
            <a:pPr>
              <a:spcBef>
                <a:spcPts val="300"/>
              </a:spcBef>
            </a:pPr>
            <a:r>
              <a:rPr sz="1600" b="0">
                <a:solidFill>
                  <a:srgbClr val="FFFFFF"/>
                </a:solidFill>
                <a:latin typeface="Calibri"/>
              </a:rPr>
              <a:t>That regular hours or OHLC were a perfect match.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