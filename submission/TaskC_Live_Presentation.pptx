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Irakli. For Task C I treated the demo feed the way I would treat a client saying 'your data looks wrong'. I pulled enough history to test it properly, rebuilt the bigger candles from the smaller ones, compared everything, and then put some polite load on it. All of this was on Friday 16 October. Everything I show today can be recomputed from the saved files without touching the demo again.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Most of the time goes to data consistency, because that is where the interesting problems are. Every slide has a tag in the corner: verified means I reproduced it from the saved data, hypothesis means it fits but I could not prove it, not done means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this is it. The feed is delayed by exactly fifteen minutes. History silently stops at about eight thousand candles. Hourly volume for US stocks doesn't match the five-minute candles outside regular hours. FX prints a few candles when the market is closed. And under load the service queues instead of saying slow down. All latencies today are in seconds, not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I pulled history in chunks, validated each series, rebuilt the bigger timeframes from the smaller ones, cross-checked against the stream and Radar, then ran the load test. At the end I re-ran every headline number offline, and that re-check corrected four of my own earlier claims. I'll point them out when we get there. Crypto was in the brief, but every crypto symbol timed out on the demo, so TSLA is my high-volatility instrument.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A: holiday calendar. About 3 minutes. The calendar Task C uses to tell a holiday from a gap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built a small scraper with one adapter per exchange. It writes one CSV per exchange plus a combined file, and validates them. There are 75 rows: NYSE 34, NASDAQ 12, OPRA 14 and CME 15. NYSE and NASDAQ match on every closed day and early close in 2026, which is the year the Task C data sits in. The overall result is WARN, not FAIL, and the warnings are about which years each source has published, not about wrong dates. I uploaded the CSVs to Drive myself. The automated Drive upload is written but has not run with real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CME's website blocks scripts and its terms forbid scraping, so I don't scrape it. Instead I downloaded the Trading Hours holiday spreadsheets by hand: Thanksgiving and Christmas 2026, and the full 2027 set. The adapter reads the Equities row of each file. An empty cell means closed, and a close before the normal 4 pm Central means an early close. That gives 15 CME rows. For 2027, CME and NYSE agree on all ten closures and on the early close after Thanksgiving; the validator now checks that automatically. NASDAQ only publishes the current year and OPRA hasn't published 2026 or 2027 yet, so those rows are missing rather than guessed.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consistency. About 15 minutes. What is right, and the problems that do not raise an error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say what works before the problems. Across all twelve series there are no misaligned timestamps, nothing out of order, no NaN prices. Equities are empty on every NYSE holiday, matching Task A, and EUR/USD trades through them, which is correct. The 21 duplicates come from toTime being inclusive, and they carry identical values, so dropping them is safe.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 age sits on nine hundred seconds for every symbol, on every surface. That's fine for a demo, but nothing in the response says it is delayed. A client who builds a 'data is stale' alert from zero will page all day. I'd want the delay in the payload.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I'd escalate first. I asked for two weeks of one-minute AAPL and got the newest eight thousand, with status OK. The decisive test was a window completely before that edge: OK again, empty body. It may well be an intentional demo quota, and that's fine. The problem is the silence. A truncated flag, or one sentence in the docs, fixes it. I can show this live with chunks.jsonl.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interesting finding. Each cell is one hour; red means the served hourly bar has more volume than its five-minute bars add up to. The boxed regular-hours block is white, and outside it the difference goes up to 99 percent. There is one blue cell inside regular hours, 8 October 11:00 ET, plus 2 percent the other way. TSLA has two exceptions on the same day and hours, which points to a market-wide event, not an AAPL thing. Re-fetching 11 minutes later gave the same values. The test that would explain it needs TimeAndSale, and that timed out on the demo. So: real pattern, cause open.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changed my advice. My first draft said 'build extended-hours analytics from one-minute data'. The data doesn't support that: on the only day with a daily candle, the hourly sum is slightly closer. One data point, so I don't pick a winner. tho=true might be a workaround but I never tested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correcting myself here. An earlier draft said prices always agree. They nearly do. Three of the six differences are the bar that was still forming, which is expected. Three are complete hours, and two of those are TSLA on 8 October, the same block as the volume exception. Small, but I'd rather say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FX trades Sunday 17:00 to Friday 17:00 New York time. My first count used the UTC weekday and got 214, but 170 of those are just the Sunday reopen. Against the real session it's 50. They might be indicative quotes or a heartbeat; I set up a weekend logger to tell them apart, but it stopped on Saturday, so that stays open. The client risk is session logic: 'last candle is fresh' would call FX open on Sunday morning.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small ones. None of them throws an error, which is exactly why they turn into tickets. My favourite is the 2038 date: if you open the stream inside the delay window you get NaN candles dated 2038. A parser that ignores the flags stores them. Radar versus REST is just different symbol lists, but support will hear 'it works in Radar' a lot.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Behaviour under load. About 9 minutes. What happens when one client adds parallel requests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Market-hours run. Left: throughput measured through completion. It jumps from one to five workers and then stays flat around three requests a second, and drops a little at fifty. Right: latency. Median goes from half a second to eight seconds, p95 to twenty-six. I want to be careful about two things. An earlier version said throughput rose to 4.6; that number ignored requests still in flight, and it's wrong. And these are seconds. Zero errors, no 429, no Retry-After: the service queues, it never tells the client to back off.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Queueing isn't uniform. Quotes stay fairly quick while both candle requests wait eleven or twelve seconds. That fits per-request cost or separate queues, not one simple line. On the right, the timeout for an unknown symbol: three seconds alone, twenty-nine under load, because queue time is added before the server's own timeout starts. A dashboard mixing quotes and candles will look half alive.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question I asked myself was whether I was the bottleneck. Little's law says no: at five and ten workers the average in flight equals the setting, so they were all waiting on the server. The pool allowed 52 connections and I never ran more than 50. What I can't say is whether the cap is per IP or shared with other demo users. That needs a second client at the same time, and I didn't run it. If anyone asks for a production number: I won't extrapolate one from a free demo.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incident and improvements. About 10 minutes. What I would escalate, how I'd run the incident, what I'd fix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ranked risks by how often I actually saw them and how much damage they do if nobody notices. Silent ones go to the top: the 8,000 cap, the volume difference, and staleness that looks like a closed market. Queueing without a 429 is next. The FX prints are real but low impact if clients use a proper session calendar.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scenario is invented, the numbers are real. A quant client's nightly reconciliation flags the 18:00 hour. In the first fifteen minutes I reproduce it from public endpoints, count how many hours are affected, check five-minute against one-minute, and escalate with the CSV and one clear question. The client message gives facts and a next-update time. It doesn't guess a cause and it doesn't offer tho=true, because I never tested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proposals. The technical one matters most, because a truncated flag fixes the silent cap with an additive JSON field. Monitoring: the scripts I wrote are most of a probe already; what's missing is wiring and a session calendar. Documentation is the cheapest: one page, and my report is the draft.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rather show you this than have you find it. Each of these was in an earlier draft. The offline re-check caught all four, and every slide today uses the corrected numbers.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ask what I didn't verify, this is the answer. Pass 2 and the logger are only waiting on the clock. The volume cause is blocked because the demo doesn't serve TimeAndSale history. The rest I simply didn't run, and I'm not going to present them as results.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it from me. If you ask whether the 8,000 cap is just a quota: possibly, and the missing signal is still the defect. If you ask about production capacity: the monitoring design transfers, the numbers don't.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0"/>
            <a:ext cx="91440"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10515600" cy="1097280"/>
          </a:xfrm>
          <a:prstGeom prst="rect">
            <a:avLst/>
          </a:prstGeom>
          <a:noFill/>
        </p:spPr>
        <p:txBody>
          <a:bodyPr wrap="square" anchor="t" lIns="73152" rIns="73152" tIns="36576" bIns="36576">
            <a:spAutoFit/>
          </a:bodyPr>
          <a:lstStyle/>
          <a:p>
            <a:pPr algn="l"/>
            <a:r>
              <a:rPr sz="4600" b="1" i="0">
                <a:solidFill>
                  <a:srgbClr val="FFFFFF"/>
                </a:solidFill>
                <a:latin typeface="Calibri"/>
              </a:rPr>
              <a:t>How reliable is the dxFeed demo feed?</a:t>
            </a:r>
          </a:p>
        </p:txBody>
      </p:sp>
      <p:sp>
        <p:nvSpPr>
          <p:cNvPr id="6" name="TextBox 5"/>
          <p:cNvSpPr txBox="1"/>
          <p:nvPr/>
        </p:nvSpPr>
        <p:spPr>
          <a:xfrm>
            <a:off x="868680" y="2697480"/>
            <a:ext cx="10515600" cy="731520"/>
          </a:xfrm>
          <a:prstGeom prst="rect">
            <a:avLst/>
          </a:prstGeom>
          <a:noFill/>
        </p:spPr>
        <p:txBody>
          <a:bodyPr wrap="square" anchor="t" lIns="73152" rIns="73152" tIns="36576" bIns="36576">
            <a:spAutoFit/>
          </a:bodyPr>
          <a:lstStyle/>
          <a:p>
            <a:pPr algn="l"/>
            <a:r>
              <a:rPr sz="2200" b="0" i="0">
                <a:solidFill>
                  <a:srgbClr val="C9D6E8"/>
                </a:solidFill>
                <a:latin typeface="Calibri"/>
              </a:rPr>
              <a:t>Data consistency, behaviour under load, and what I would do about it</a:t>
            </a:r>
          </a:p>
        </p:txBody>
      </p:sp>
      <p:sp>
        <p:nvSpPr>
          <p:cNvPr id="7" name="TextBox 6"/>
          <p:cNvSpPr txBox="1"/>
          <p:nvPr/>
        </p:nvSpPr>
        <p:spPr>
          <a:xfrm>
            <a:off x="868680" y="3931920"/>
            <a:ext cx="10515600" cy="457200"/>
          </a:xfrm>
          <a:prstGeom prst="rect">
            <a:avLst/>
          </a:prstGeom>
          <a:noFill/>
        </p:spPr>
        <p:txBody>
          <a:bodyPr wrap="square" anchor="t" lIns="73152" rIns="73152" tIns="36576" bIns="36576">
            <a:spAutoFit/>
          </a:bodyPr>
          <a:lstStyle/>
          <a:p>
            <a:pPr algn="l"/>
            <a:r>
              <a:rPr sz="1600" b="1" i="0">
                <a:solidFill>
                  <a:srgbClr val="FFFFFF"/>
                </a:solidFill>
                <a:latin typeface="Calibri"/>
              </a:rPr>
              <a:t>Irakli · L2 Support Engineer assessment · Task C</a:t>
            </a:r>
          </a:p>
        </p:txBody>
      </p:sp>
      <p:sp>
        <p:nvSpPr>
          <p:cNvPr id="8" name="TextBox 7"/>
          <p:cNvSpPr txBox="1"/>
          <p:nvPr/>
        </p:nvSpPr>
        <p:spPr>
          <a:xfrm>
            <a:off x="868680" y="4343400"/>
            <a:ext cx="10515600" cy="457200"/>
          </a:xfrm>
          <a:prstGeom prst="rect">
            <a:avLst/>
          </a:prstGeom>
          <a:noFill/>
        </p:spPr>
        <p:txBody>
          <a:bodyPr wrap="square" anchor="t" lIns="73152" rIns="73152" tIns="36576" bIns="36576">
            <a:spAutoFit/>
          </a:bodyPr>
          <a:lstStyle/>
          <a:p>
            <a:pPr algn="l"/>
            <a:r>
              <a:rPr sz="1400" b="0" i="0">
                <a:solidFill>
                  <a:srgbClr val="C9D6E8"/>
                </a:solidFill>
                <a:latin typeface="Calibri"/>
              </a:rPr>
              <a:t>Measured on Friday 16 October 2026 · every number reproducible offline from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5C677D"/>
                </a:solidFill>
                <a:latin typeface="Calibri"/>
              </a:rPr>
              <a:t>CONTEXT</a:t>
            </a:r>
          </a:p>
        </p:txBody>
      </p:sp>
      <p:sp>
        <p:nvSpPr>
          <p:cNvPr id="5" name="TextBox 4"/>
          <p:cNvSpPr txBox="1"/>
          <p:nvPr/>
        </p:nvSpPr>
        <p:spPr>
          <a:xfrm>
            <a:off x="502920" y="548640"/>
            <a:ext cx="11155680" cy="731520"/>
          </a:xfrm>
          <a:prstGeom prst="rect">
            <a:avLst/>
          </a:prstGeom>
          <a:noFill/>
        </p:spPr>
        <p:txBody>
          <a:bodyPr wrap="square" anchor="t" lIns="73152" rIns="73152" tIns="36576" bIns="36576">
            <a:spAutoFit/>
          </a:bodyPr>
          <a:lstStyle/>
          <a:p>
            <a:pPr algn="l"/>
            <a:r>
              <a:rPr sz="2800" b="1" i="0">
                <a:solidFill>
                  <a:srgbClr val="14213D"/>
                </a:solidFill>
                <a:latin typeface="Calibri"/>
              </a:rPr>
              <a:t>What I will cover</a:t>
            </a:r>
          </a:p>
        </p:txBody>
      </p:sp>
      <p:sp>
        <p:nvSpPr>
          <p:cNvPr id="6" name="Rectangle 5"/>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81912"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60904"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2" name="TextBox 11"/>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a:t>
            </a:r>
          </a:p>
        </p:txBody>
      </p:sp>
      <p:sp>
        <p:nvSpPr>
          <p:cNvPr id="13" name="Rounded Rectangle 12"/>
          <p:cNvSpPr/>
          <p:nvPr/>
        </p:nvSpPr>
        <p:spPr>
          <a:xfrm>
            <a:off x="502920" y="1554480"/>
            <a:ext cx="11185855" cy="713232"/>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554480"/>
            <a:ext cx="109728" cy="713232"/>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64207"/>
            <a:ext cx="822960" cy="502920"/>
          </a:xfrm>
          <a:prstGeom prst="rect">
            <a:avLst/>
          </a:prstGeom>
          <a:noFill/>
        </p:spPr>
        <p:txBody>
          <a:bodyPr wrap="square" anchor="ctr" lIns="73152" rIns="73152" tIns="36576" bIns="36576">
            <a:spAutoFit/>
          </a:bodyPr>
          <a:lstStyle/>
          <a:p>
            <a:pPr algn="l"/>
            <a:r>
              <a:rPr sz="2400" b="1" i="0">
                <a:solidFill>
                  <a:srgbClr val="E9A23B"/>
                </a:solidFill>
                <a:latin typeface="Calibri"/>
              </a:rPr>
              <a:t>01</a:t>
            </a:r>
          </a:p>
        </p:txBody>
      </p:sp>
      <p:sp>
        <p:nvSpPr>
          <p:cNvPr id="16" name="TextBox 15"/>
          <p:cNvSpPr txBox="1"/>
          <p:nvPr/>
        </p:nvSpPr>
        <p:spPr>
          <a:xfrm>
            <a:off x="1600200" y="1664207"/>
            <a:ext cx="3657600" cy="502920"/>
          </a:xfrm>
          <a:prstGeom prst="rect">
            <a:avLst/>
          </a:prstGeom>
          <a:noFill/>
        </p:spPr>
        <p:txBody>
          <a:bodyPr wrap="square" anchor="ctr" lIns="73152" rIns="73152" tIns="36576" bIns="36576">
            <a:spAutoFit/>
          </a:bodyPr>
          <a:lstStyle/>
          <a:p>
            <a:pPr algn="l"/>
            <a:r>
              <a:rPr sz="2000" b="1" i="0">
                <a:solidFill>
                  <a:srgbClr val="14213D"/>
                </a:solidFill>
                <a:latin typeface="Calibri"/>
              </a:rPr>
              <a:t>Task A calendar</a:t>
            </a:r>
          </a:p>
        </p:txBody>
      </p:sp>
      <p:sp>
        <p:nvSpPr>
          <p:cNvPr id="17" name="TextBox 16"/>
          <p:cNvSpPr txBox="1"/>
          <p:nvPr/>
        </p:nvSpPr>
        <p:spPr>
          <a:xfrm>
            <a:off x="5120640" y="1664207"/>
            <a:ext cx="5486400" cy="502920"/>
          </a:xfrm>
          <a:prstGeom prst="rect">
            <a:avLst/>
          </a:prstGeom>
          <a:noFill/>
        </p:spPr>
        <p:txBody>
          <a:bodyPr wrap="square" anchor="ctr" lIns="73152" rIns="73152" tIns="36576" bIns="36576">
            <a:spAutoFit/>
          </a:bodyPr>
          <a:lstStyle/>
          <a:p>
            <a:pPr algn="l"/>
            <a:r>
              <a:rPr sz="1500" b="0" i="0">
                <a:solidFill>
                  <a:srgbClr val="5C677D"/>
                </a:solidFill>
                <a:latin typeface="Calibri"/>
              </a:rPr>
              <a:t>Where the holiday data comes from, and what I could not get</a:t>
            </a:r>
          </a:p>
        </p:txBody>
      </p:sp>
      <p:sp>
        <p:nvSpPr>
          <p:cNvPr id="18" name="TextBox 17"/>
          <p:cNvSpPr txBox="1"/>
          <p:nvPr/>
        </p:nvSpPr>
        <p:spPr>
          <a:xfrm>
            <a:off x="10332720" y="1664207"/>
            <a:ext cx="1280160" cy="502920"/>
          </a:xfrm>
          <a:prstGeom prst="rect">
            <a:avLst/>
          </a:prstGeom>
          <a:noFill/>
        </p:spPr>
        <p:txBody>
          <a:bodyPr wrap="square" anchor="ctr" lIns="73152" rIns="73152" tIns="36576" bIns="36576">
            <a:spAutoFit/>
          </a:bodyPr>
          <a:lstStyle/>
          <a:p>
            <a:pPr algn="r"/>
            <a:r>
              <a:rPr sz="1500" b="1" i="0">
                <a:solidFill>
                  <a:srgbClr val="E9A23B"/>
                </a:solidFill>
                <a:latin typeface="Calibri"/>
              </a:rPr>
              <a:t>3 min</a:t>
            </a:r>
          </a:p>
        </p:txBody>
      </p:sp>
      <p:sp>
        <p:nvSpPr>
          <p:cNvPr id="19" name="Rounded Rectangle 18"/>
          <p:cNvSpPr/>
          <p:nvPr/>
        </p:nvSpPr>
        <p:spPr>
          <a:xfrm>
            <a:off x="502920" y="2395728"/>
            <a:ext cx="11185855" cy="713232"/>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395728"/>
            <a:ext cx="109728" cy="713232"/>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505456"/>
            <a:ext cx="822960" cy="502920"/>
          </a:xfrm>
          <a:prstGeom prst="rect">
            <a:avLst/>
          </a:prstGeom>
          <a:noFill/>
        </p:spPr>
        <p:txBody>
          <a:bodyPr wrap="square" anchor="ctr" lIns="73152" rIns="73152" tIns="36576" bIns="36576">
            <a:spAutoFit/>
          </a:bodyPr>
          <a:lstStyle/>
          <a:p>
            <a:pPr algn="l"/>
            <a:r>
              <a:rPr sz="2400" b="1" i="0">
                <a:solidFill>
                  <a:srgbClr val="0F8B8D"/>
                </a:solidFill>
                <a:latin typeface="Calibri"/>
              </a:rPr>
              <a:t>02</a:t>
            </a:r>
          </a:p>
        </p:txBody>
      </p:sp>
      <p:sp>
        <p:nvSpPr>
          <p:cNvPr id="22" name="TextBox 21"/>
          <p:cNvSpPr txBox="1"/>
          <p:nvPr/>
        </p:nvSpPr>
        <p:spPr>
          <a:xfrm>
            <a:off x="1600200" y="2505456"/>
            <a:ext cx="3657600" cy="502920"/>
          </a:xfrm>
          <a:prstGeom prst="rect">
            <a:avLst/>
          </a:prstGeom>
          <a:noFill/>
        </p:spPr>
        <p:txBody>
          <a:bodyPr wrap="square" anchor="ctr" lIns="73152" rIns="73152" tIns="36576" bIns="36576">
            <a:spAutoFit/>
          </a:bodyPr>
          <a:lstStyle/>
          <a:p>
            <a:pPr algn="l"/>
            <a:r>
              <a:rPr sz="2000" b="1" i="0">
                <a:solidFill>
                  <a:srgbClr val="14213D"/>
                </a:solidFill>
                <a:latin typeface="Calibri"/>
              </a:rPr>
              <a:t>Data consistency</a:t>
            </a:r>
          </a:p>
        </p:txBody>
      </p:sp>
      <p:sp>
        <p:nvSpPr>
          <p:cNvPr id="23" name="TextBox 22"/>
          <p:cNvSpPr txBox="1"/>
          <p:nvPr/>
        </p:nvSpPr>
        <p:spPr>
          <a:xfrm>
            <a:off x="5120640" y="2505456"/>
            <a:ext cx="5486400" cy="502920"/>
          </a:xfrm>
          <a:prstGeom prst="rect">
            <a:avLst/>
          </a:prstGeom>
          <a:noFill/>
        </p:spPr>
        <p:txBody>
          <a:bodyPr wrap="square" anchor="ctr" lIns="73152" rIns="73152" tIns="36576" bIns="36576">
            <a:spAutoFit/>
          </a:bodyPr>
          <a:lstStyle/>
          <a:p>
            <a:pPr algn="l"/>
            <a:r>
              <a:rPr sz="1500" b="0" i="0">
                <a:solidFill>
                  <a:srgbClr val="5C677D"/>
                </a:solidFill>
                <a:latin typeface="Calibri"/>
              </a:rPr>
              <a:t>Delay, the silent history cap, volume, prices, FX sessions</a:t>
            </a:r>
          </a:p>
        </p:txBody>
      </p:sp>
      <p:sp>
        <p:nvSpPr>
          <p:cNvPr id="24" name="TextBox 23"/>
          <p:cNvSpPr txBox="1"/>
          <p:nvPr/>
        </p:nvSpPr>
        <p:spPr>
          <a:xfrm>
            <a:off x="10332720" y="2505456"/>
            <a:ext cx="1280160" cy="502920"/>
          </a:xfrm>
          <a:prstGeom prst="rect">
            <a:avLst/>
          </a:prstGeom>
          <a:noFill/>
        </p:spPr>
        <p:txBody>
          <a:bodyPr wrap="square" anchor="ctr" lIns="73152" rIns="73152" tIns="36576" bIns="36576">
            <a:spAutoFit/>
          </a:bodyPr>
          <a:lstStyle/>
          <a:p>
            <a:pPr algn="r"/>
            <a:r>
              <a:rPr sz="1500" b="1" i="0">
                <a:solidFill>
                  <a:srgbClr val="0F8B8D"/>
                </a:solidFill>
                <a:latin typeface="Calibri"/>
              </a:rPr>
              <a:t>15 min</a:t>
            </a:r>
          </a:p>
        </p:txBody>
      </p:sp>
      <p:sp>
        <p:nvSpPr>
          <p:cNvPr id="25" name="Rounded Rectangle 24"/>
          <p:cNvSpPr/>
          <p:nvPr/>
        </p:nvSpPr>
        <p:spPr>
          <a:xfrm>
            <a:off x="502920" y="3236976"/>
            <a:ext cx="11185855" cy="713232"/>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236976"/>
            <a:ext cx="109728" cy="71323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346704"/>
            <a:ext cx="822960" cy="502920"/>
          </a:xfrm>
          <a:prstGeom prst="rect">
            <a:avLst/>
          </a:prstGeom>
          <a:noFill/>
        </p:spPr>
        <p:txBody>
          <a:bodyPr wrap="square" anchor="ctr" lIns="73152" rIns="73152" tIns="36576" bIns="36576">
            <a:spAutoFit/>
          </a:bodyPr>
          <a:lstStyle/>
          <a:p>
            <a:pPr algn="l"/>
            <a:r>
              <a:rPr sz="2400" b="1" i="0">
                <a:solidFill>
                  <a:srgbClr val="E76F51"/>
                </a:solidFill>
                <a:latin typeface="Calibri"/>
              </a:rPr>
              <a:t>03</a:t>
            </a:r>
          </a:p>
        </p:txBody>
      </p:sp>
      <p:sp>
        <p:nvSpPr>
          <p:cNvPr id="28" name="TextBox 27"/>
          <p:cNvSpPr txBox="1"/>
          <p:nvPr/>
        </p:nvSpPr>
        <p:spPr>
          <a:xfrm>
            <a:off x="1600200" y="3346704"/>
            <a:ext cx="3657600" cy="502920"/>
          </a:xfrm>
          <a:prstGeom prst="rect">
            <a:avLst/>
          </a:prstGeom>
          <a:noFill/>
        </p:spPr>
        <p:txBody>
          <a:bodyPr wrap="square" anchor="ctr" lIns="73152" rIns="73152" tIns="36576" bIns="36576">
            <a:spAutoFit/>
          </a:bodyPr>
          <a:lstStyle/>
          <a:p>
            <a:pPr algn="l"/>
            <a:r>
              <a:rPr sz="2000" b="1" i="0">
                <a:solidFill>
                  <a:srgbClr val="14213D"/>
                </a:solidFill>
                <a:latin typeface="Calibri"/>
              </a:rPr>
              <a:t>Behaviour under load</a:t>
            </a:r>
          </a:p>
        </p:txBody>
      </p:sp>
      <p:sp>
        <p:nvSpPr>
          <p:cNvPr id="29" name="TextBox 28"/>
          <p:cNvSpPr txBox="1"/>
          <p:nvPr/>
        </p:nvSpPr>
        <p:spPr>
          <a:xfrm>
            <a:off x="5120640" y="3346704"/>
            <a:ext cx="5486400" cy="502920"/>
          </a:xfrm>
          <a:prstGeom prst="rect">
            <a:avLst/>
          </a:prstGeom>
          <a:noFill/>
        </p:spPr>
        <p:txBody>
          <a:bodyPr wrap="square" anchor="ctr" lIns="73152" rIns="73152" tIns="36576" bIns="36576">
            <a:spAutoFit/>
          </a:bodyPr>
          <a:lstStyle/>
          <a:p>
            <a:pPr algn="l"/>
            <a:r>
              <a:rPr sz="1500" b="0" i="0">
                <a:solidFill>
                  <a:srgbClr val="5C677D"/>
                </a:solidFill>
                <a:latin typeface="Calibri"/>
              </a:rPr>
              <a:t>What happens when I add parallel requests</a:t>
            </a:r>
          </a:p>
        </p:txBody>
      </p:sp>
      <p:sp>
        <p:nvSpPr>
          <p:cNvPr id="30" name="TextBox 29"/>
          <p:cNvSpPr txBox="1"/>
          <p:nvPr/>
        </p:nvSpPr>
        <p:spPr>
          <a:xfrm>
            <a:off x="10332720" y="3346704"/>
            <a:ext cx="1280160" cy="502920"/>
          </a:xfrm>
          <a:prstGeom prst="rect">
            <a:avLst/>
          </a:prstGeom>
          <a:noFill/>
        </p:spPr>
        <p:txBody>
          <a:bodyPr wrap="square" anchor="ctr" lIns="73152" rIns="73152" tIns="36576" bIns="36576">
            <a:spAutoFit/>
          </a:bodyPr>
          <a:lstStyle/>
          <a:p>
            <a:pPr algn="r"/>
            <a:r>
              <a:rPr sz="1500" b="1" i="0">
                <a:solidFill>
                  <a:srgbClr val="E76F51"/>
                </a:solidFill>
                <a:latin typeface="Calibri"/>
              </a:rPr>
              <a:t>9 min</a:t>
            </a:r>
          </a:p>
        </p:txBody>
      </p:sp>
      <p:sp>
        <p:nvSpPr>
          <p:cNvPr id="31" name="Rounded Rectangle 30"/>
          <p:cNvSpPr/>
          <p:nvPr/>
        </p:nvSpPr>
        <p:spPr>
          <a:xfrm>
            <a:off x="502920" y="4078224"/>
            <a:ext cx="11185855" cy="713232"/>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4078224"/>
            <a:ext cx="109728" cy="7132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187952"/>
            <a:ext cx="822960" cy="502920"/>
          </a:xfrm>
          <a:prstGeom prst="rect">
            <a:avLst/>
          </a:prstGeom>
          <a:noFill/>
        </p:spPr>
        <p:txBody>
          <a:bodyPr wrap="square" anchor="ctr" lIns="73152" rIns="73152" tIns="36576" bIns="36576">
            <a:spAutoFit/>
          </a:bodyPr>
          <a:lstStyle/>
          <a:p>
            <a:pPr algn="l"/>
            <a:r>
              <a:rPr sz="2400" b="1" i="0">
                <a:solidFill>
                  <a:srgbClr val="2A9D8F"/>
                </a:solidFill>
                <a:latin typeface="Calibri"/>
              </a:rPr>
              <a:t>04</a:t>
            </a:r>
          </a:p>
        </p:txBody>
      </p:sp>
      <p:sp>
        <p:nvSpPr>
          <p:cNvPr id="34" name="TextBox 33"/>
          <p:cNvSpPr txBox="1"/>
          <p:nvPr/>
        </p:nvSpPr>
        <p:spPr>
          <a:xfrm>
            <a:off x="1600200" y="4187952"/>
            <a:ext cx="3657600" cy="502920"/>
          </a:xfrm>
          <a:prstGeom prst="rect">
            <a:avLst/>
          </a:prstGeom>
          <a:noFill/>
        </p:spPr>
        <p:txBody>
          <a:bodyPr wrap="square" anchor="ctr" lIns="73152" rIns="73152" tIns="36576" bIns="36576">
            <a:spAutoFit/>
          </a:bodyPr>
          <a:lstStyle/>
          <a:p>
            <a:pPr algn="l"/>
            <a:r>
              <a:rPr sz="2000" b="1" i="0">
                <a:solidFill>
                  <a:srgbClr val="14213D"/>
                </a:solidFill>
                <a:latin typeface="Calibri"/>
              </a:rPr>
              <a:t>Risk, incident, improvements</a:t>
            </a:r>
          </a:p>
        </p:txBody>
      </p:sp>
      <p:sp>
        <p:nvSpPr>
          <p:cNvPr id="35" name="TextBox 34"/>
          <p:cNvSpPr txBox="1"/>
          <p:nvPr/>
        </p:nvSpPr>
        <p:spPr>
          <a:xfrm>
            <a:off x="5120640" y="4187952"/>
            <a:ext cx="5486400" cy="502920"/>
          </a:xfrm>
          <a:prstGeom prst="rect">
            <a:avLst/>
          </a:prstGeom>
          <a:noFill/>
        </p:spPr>
        <p:txBody>
          <a:bodyPr wrap="square" anchor="ctr" lIns="73152" rIns="73152" tIns="36576" bIns="36576">
            <a:spAutoFit/>
          </a:bodyPr>
          <a:lstStyle/>
          <a:p>
            <a:pPr algn="l"/>
            <a:r>
              <a:rPr sz="1500" b="0" i="0">
                <a:solidFill>
                  <a:srgbClr val="5C677D"/>
                </a:solidFill>
                <a:latin typeface="Calibri"/>
              </a:rPr>
              <a:t>What I would escalate, a drill, three proposals</a:t>
            </a:r>
          </a:p>
        </p:txBody>
      </p:sp>
      <p:sp>
        <p:nvSpPr>
          <p:cNvPr id="36" name="TextBox 35"/>
          <p:cNvSpPr txBox="1"/>
          <p:nvPr/>
        </p:nvSpPr>
        <p:spPr>
          <a:xfrm>
            <a:off x="10332720" y="4187952"/>
            <a:ext cx="1280160" cy="502920"/>
          </a:xfrm>
          <a:prstGeom prst="rect">
            <a:avLst/>
          </a:prstGeom>
          <a:noFill/>
        </p:spPr>
        <p:txBody>
          <a:bodyPr wrap="square" anchor="ctr" lIns="73152" rIns="73152" tIns="36576" bIns="36576">
            <a:spAutoFit/>
          </a:bodyPr>
          <a:lstStyle/>
          <a:p>
            <a:pPr algn="r"/>
            <a:r>
              <a:rPr sz="1500" b="1" i="0">
                <a:solidFill>
                  <a:srgbClr val="2A9D8F"/>
                </a:solidFill>
                <a:latin typeface="Calibri"/>
              </a:rPr>
              <a:t>10 min</a:t>
            </a:r>
          </a:p>
        </p:txBody>
      </p:sp>
      <p:sp>
        <p:nvSpPr>
          <p:cNvPr id="37" name="Rounded Rectangle 36"/>
          <p:cNvSpPr/>
          <p:nvPr/>
        </p:nvSpPr>
        <p:spPr>
          <a:xfrm>
            <a:off x="502920" y="4919472"/>
            <a:ext cx="11185855" cy="713232"/>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4919472"/>
            <a:ext cx="109728" cy="713232"/>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029200"/>
            <a:ext cx="822960" cy="502920"/>
          </a:xfrm>
          <a:prstGeom prst="rect">
            <a:avLst/>
          </a:prstGeom>
          <a:noFill/>
        </p:spPr>
        <p:txBody>
          <a:bodyPr wrap="square" anchor="ctr" lIns="73152" rIns="73152" tIns="36576" bIns="36576">
            <a:spAutoFit/>
          </a:bodyPr>
          <a:lstStyle/>
          <a:p>
            <a:pPr algn="l"/>
            <a:r>
              <a:rPr sz="2400" b="1" i="0">
                <a:solidFill>
                  <a:srgbClr val="5C677D"/>
                </a:solidFill>
                <a:latin typeface="Calibri"/>
              </a:rPr>
              <a:t/>
            </a:r>
          </a:p>
        </p:txBody>
      </p:sp>
      <p:sp>
        <p:nvSpPr>
          <p:cNvPr id="40" name="TextBox 39"/>
          <p:cNvSpPr txBox="1"/>
          <p:nvPr/>
        </p:nvSpPr>
        <p:spPr>
          <a:xfrm>
            <a:off x="1600200" y="5029200"/>
            <a:ext cx="3657600" cy="502920"/>
          </a:xfrm>
          <a:prstGeom prst="rect">
            <a:avLst/>
          </a:prstGeom>
          <a:noFill/>
        </p:spPr>
        <p:txBody>
          <a:bodyPr wrap="square" anchor="ctr" lIns="73152" rIns="73152" tIns="36576" bIns="36576">
            <a:spAutoFit/>
          </a:bodyPr>
          <a:lstStyle/>
          <a:p>
            <a:pPr algn="l"/>
            <a:r>
              <a:rPr sz="2000" b="1" i="0">
                <a:solidFill>
                  <a:srgbClr val="14213D"/>
                </a:solidFill>
                <a:latin typeface="Calibri"/>
              </a:rPr>
              <a:t>Questions</a:t>
            </a:r>
          </a:p>
        </p:txBody>
      </p:sp>
      <p:sp>
        <p:nvSpPr>
          <p:cNvPr id="41" name="TextBox 40"/>
          <p:cNvSpPr txBox="1"/>
          <p:nvPr/>
        </p:nvSpPr>
        <p:spPr>
          <a:xfrm>
            <a:off x="5120640" y="5029200"/>
            <a:ext cx="5486400" cy="502920"/>
          </a:xfrm>
          <a:prstGeom prst="rect">
            <a:avLst/>
          </a:prstGeom>
          <a:noFill/>
        </p:spPr>
        <p:txBody>
          <a:bodyPr wrap="square" anchor="ctr" lIns="73152" rIns="73152" tIns="36576" bIns="36576">
            <a:spAutoFit/>
          </a:bodyPr>
          <a:lstStyle/>
          <a:p>
            <a:pPr algn="l"/>
            <a:r>
              <a:rPr sz="1500" b="0" i="0">
                <a:solidFill>
                  <a:srgbClr val="5C677D"/>
                </a:solidFill>
                <a:latin typeface="Calibri"/>
              </a:rPr>
              <a:t/>
            </a:r>
          </a:p>
        </p:txBody>
      </p:sp>
      <p:sp>
        <p:nvSpPr>
          <p:cNvPr id="42" name="TextBox 41"/>
          <p:cNvSpPr txBox="1"/>
          <p:nvPr/>
        </p:nvSpPr>
        <p:spPr>
          <a:xfrm>
            <a:off x="10332720" y="5029200"/>
            <a:ext cx="1280160" cy="502920"/>
          </a:xfrm>
          <a:prstGeom prst="rect">
            <a:avLst/>
          </a:prstGeom>
          <a:noFill/>
        </p:spPr>
        <p:txBody>
          <a:bodyPr wrap="square" anchor="ctr" lIns="73152" rIns="73152" tIns="36576" bIns="36576">
            <a:spAutoFit/>
          </a:bodyPr>
          <a:lstStyle/>
          <a:p>
            <a:pPr algn="r"/>
            <a:r>
              <a:rPr sz="1500" b="1" i="0">
                <a:solidFill>
                  <a:srgbClr val="5C677D"/>
                </a:solidFill>
                <a:latin typeface="Calibri"/>
              </a:rPr>
              <a:t>5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5C677D"/>
                </a:solidFill>
                <a:latin typeface="Calibri"/>
              </a:rPr>
              <a:t>CONTEXT</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The short version</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3</a:t>
            </a:r>
          </a:p>
        </p:txBody>
      </p:sp>
      <p:sp>
        <p:nvSpPr>
          <p:cNvPr id="14" name="Rounded Rectangle 13"/>
          <p:cNvSpPr/>
          <p:nvPr/>
        </p:nvSpPr>
        <p:spPr>
          <a:xfrm>
            <a:off x="502920" y="1508760"/>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508760"/>
            <a:ext cx="82296" cy="1874519"/>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737360"/>
            <a:ext cx="2259253" cy="822960"/>
          </a:xfrm>
          <a:prstGeom prst="rect">
            <a:avLst/>
          </a:prstGeom>
          <a:noFill/>
        </p:spPr>
        <p:txBody>
          <a:bodyPr wrap="square" anchor="t" lIns="73152" rIns="73152" tIns="36576" bIns="36576">
            <a:spAutoFit/>
          </a:bodyPr>
          <a:lstStyle/>
          <a:p>
            <a:pPr algn="l"/>
            <a:r>
              <a:rPr sz="4000" b="1" i="0">
                <a:solidFill>
                  <a:srgbClr val="14213D"/>
                </a:solidFill>
                <a:latin typeface="Calibri"/>
              </a:rPr>
              <a:t>58,315</a:t>
            </a:r>
          </a:p>
        </p:txBody>
      </p:sp>
      <p:sp>
        <p:nvSpPr>
          <p:cNvPr id="17" name="TextBox 16"/>
          <p:cNvSpPr txBox="1"/>
          <p:nvPr/>
        </p:nvSpPr>
        <p:spPr>
          <a:xfrm>
            <a:off x="731520" y="260603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candles pulled and checked</a:t>
            </a:r>
          </a:p>
        </p:txBody>
      </p:sp>
      <p:sp>
        <p:nvSpPr>
          <p:cNvPr id="18" name="Rounded Rectangle 17"/>
          <p:cNvSpPr/>
          <p:nvPr/>
        </p:nvSpPr>
        <p:spPr>
          <a:xfrm>
            <a:off x="3356533" y="1508760"/>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56533" y="1508760"/>
            <a:ext cx="82296" cy="1874519"/>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5133" y="1737360"/>
            <a:ext cx="2259253" cy="822960"/>
          </a:xfrm>
          <a:prstGeom prst="rect">
            <a:avLst/>
          </a:prstGeom>
          <a:noFill/>
        </p:spPr>
        <p:txBody>
          <a:bodyPr wrap="square" anchor="t" lIns="73152" rIns="73152" tIns="36576" bIns="36576">
            <a:spAutoFit/>
          </a:bodyPr>
          <a:lstStyle/>
          <a:p>
            <a:pPr algn="l"/>
            <a:r>
              <a:rPr sz="4000" b="1" i="0">
                <a:solidFill>
                  <a:srgbClr val="0F8B8D"/>
                </a:solidFill>
                <a:latin typeface="Calibri"/>
              </a:rPr>
              <a:t>900 s</a:t>
            </a:r>
          </a:p>
        </p:txBody>
      </p:sp>
      <p:sp>
        <p:nvSpPr>
          <p:cNvPr id="21" name="TextBox 20"/>
          <p:cNvSpPr txBox="1"/>
          <p:nvPr/>
        </p:nvSpPr>
        <p:spPr>
          <a:xfrm>
            <a:off x="3585133" y="260603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delay on every symbol: the feed is 15 min behind</a:t>
            </a:r>
          </a:p>
        </p:txBody>
      </p:sp>
      <p:sp>
        <p:nvSpPr>
          <p:cNvPr id="22" name="Rounded Rectangle 21"/>
          <p:cNvSpPr/>
          <p:nvPr/>
        </p:nvSpPr>
        <p:spPr>
          <a:xfrm>
            <a:off x="6210147" y="1508760"/>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0147" y="1508760"/>
            <a:ext cx="82296" cy="1874519"/>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8747" y="1737360"/>
            <a:ext cx="2259253" cy="822960"/>
          </a:xfrm>
          <a:prstGeom prst="rect">
            <a:avLst/>
          </a:prstGeom>
          <a:noFill/>
        </p:spPr>
        <p:txBody>
          <a:bodyPr wrap="square" anchor="t" lIns="73152" rIns="73152" tIns="36576" bIns="36576">
            <a:spAutoFit/>
          </a:bodyPr>
          <a:lstStyle/>
          <a:p>
            <a:pPr algn="l"/>
            <a:r>
              <a:rPr sz="4000" b="1" i="0">
                <a:solidFill>
                  <a:srgbClr val="E76F51"/>
                </a:solidFill>
                <a:latin typeface="Calibri"/>
              </a:rPr>
              <a:t>8,000</a:t>
            </a:r>
          </a:p>
        </p:txBody>
      </p:sp>
      <p:sp>
        <p:nvSpPr>
          <p:cNvPr id="25" name="TextBox 24"/>
          <p:cNvSpPr txBox="1"/>
          <p:nvPr/>
        </p:nvSpPr>
        <p:spPr>
          <a:xfrm>
            <a:off x="6438747" y="260603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candles per series, then it stops and still says OK</a:t>
            </a:r>
          </a:p>
        </p:txBody>
      </p:sp>
      <p:sp>
        <p:nvSpPr>
          <p:cNvPr id="26" name="Rounded Rectangle 25"/>
          <p:cNvSpPr/>
          <p:nvPr/>
        </p:nvSpPr>
        <p:spPr>
          <a:xfrm>
            <a:off x="9063761" y="1508760"/>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63761" y="1508760"/>
            <a:ext cx="82296" cy="1874519"/>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92361" y="1737360"/>
            <a:ext cx="2259253" cy="822960"/>
          </a:xfrm>
          <a:prstGeom prst="rect">
            <a:avLst/>
          </a:prstGeom>
          <a:noFill/>
        </p:spPr>
        <p:txBody>
          <a:bodyPr wrap="square" anchor="t" lIns="73152" rIns="73152" tIns="36576" bIns="36576">
            <a:spAutoFit/>
          </a:bodyPr>
          <a:lstStyle/>
          <a:p>
            <a:pPr algn="l"/>
            <a:r>
              <a:rPr sz="4000" b="1" i="0">
                <a:solidFill>
                  <a:srgbClr val="E9A23B"/>
                </a:solidFill>
                <a:latin typeface="Calibri"/>
              </a:rPr>
              <a:t>130 + 1</a:t>
            </a:r>
          </a:p>
        </p:txBody>
      </p:sp>
      <p:sp>
        <p:nvSpPr>
          <p:cNvPr id="29" name="TextBox 28"/>
          <p:cNvSpPr txBox="1"/>
          <p:nvPr/>
        </p:nvSpPr>
        <p:spPr>
          <a:xfrm>
            <a:off x="9292361" y="260603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AAPL hours where 1h volume ≠ sum of 5m (ETH + RTH)</a:t>
            </a:r>
          </a:p>
        </p:txBody>
      </p:sp>
      <p:sp>
        <p:nvSpPr>
          <p:cNvPr id="30" name="Rounded Rectangle 29"/>
          <p:cNvSpPr/>
          <p:nvPr/>
        </p:nvSpPr>
        <p:spPr>
          <a:xfrm>
            <a:off x="502920" y="3611879"/>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3611879"/>
            <a:ext cx="82296" cy="1874519"/>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40479"/>
            <a:ext cx="2259253" cy="822960"/>
          </a:xfrm>
          <a:prstGeom prst="rect">
            <a:avLst/>
          </a:prstGeom>
          <a:noFill/>
        </p:spPr>
        <p:txBody>
          <a:bodyPr wrap="square" anchor="t" lIns="73152" rIns="73152" tIns="36576" bIns="36576">
            <a:spAutoFit/>
          </a:bodyPr>
          <a:lstStyle/>
          <a:p>
            <a:pPr algn="l"/>
            <a:r>
              <a:rPr sz="4000" b="1" i="0">
                <a:solidFill>
                  <a:srgbClr val="E9A23B"/>
                </a:solidFill>
                <a:latin typeface="Calibri"/>
              </a:rPr>
              <a:t>50</a:t>
            </a:r>
          </a:p>
        </p:txBody>
      </p:sp>
      <p:sp>
        <p:nvSpPr>
          <p:cNvPr id="33" name="TextBox 32"/>
          <p:cNvSpPr txBox="1"/>
          <p:nvPr/>
        </p:nvSpPr>
        <p:spPr>
          <a:xfrm>
            <a:off x="731520" y="470915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EUR/USD 1-minute candles outside the FX session</a:t>
            </a:r>
          </a:p>
        </p:txBody>
      </p:sp>
      <p:sp>
        <p:nvSpPr>
          <p:cNvPr id="34" name="Rounded Rectangle 33"/>
          <p:cNvSpPr/>
          <p:nvPr/>
        </p:nvSpPr>
        <p:spPr>
          <a:xfrm>
            <a:off x="3356533" y="3611879"/>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56533" y="3611879"/>
            <a:ext cx="82296" cy="1874519"/>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85133" y="3840479"/>
            <a:ext cx="2259253" cy="822960"/>
          </a:xfrm>
          <a:prstGeom prst="rect">
            <a:avLst/>
          </a:prstGeom>
          <a:noFill/>
        </p:spPr>
        <p:txBody>
          <a:bodyPr wrap="square" anchor="t" lIns="73152" rIns="73152" tIns="36576" bIns="36576">
            <a:spAutoFit/>
          </a:bodyPr>
          <a:lstStyle/>
          <a:p>
            <a:pPr algn="l"/>
            <a:r>
              <a:rPr sz="4000" b="1" i="0">
                <a:solidFill>
                  <a:srgbClr val="E76F51"/>
                </a:solidFill>
                <a:latin typeface="Calibri"/>
              </a:rPr>
              <a:t>~3 req/s</a:t>
            </a:r>
          </a:p>
        </p:txBody>
      </p:sp>
      <p:sp>
        <p:nvSpPr>
          <p:cNvPr id="37" name="TextBox 36"/>
          <p:cNvSpPr txBox="1"/>
          <p:nvPr/>
        </p:nvSpPr>
        <p:spPr>
          <a:xfrm>
            <a:off x="3585133" y="470915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throughput ceiling; more workers just wait longer</a:t>
            </a:r>
          </a:p>
        </p:txBody>
      </p:sp>
      <p:sp>
        <p:nvSpPr>
          <p:cNvPr id="38" name="Rounded Rectangle 37"/>
          <p:cNvSpPr/>
          <p:nvPr/>
        </p:nvSpPr>
        <p:spPr>
          <a:xfrm>
            <a:off x="6210147" y="3611879"/>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0147" y="3611879"/>
            <a:ext cx="82296" cy="1874519"/>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8747" y="3840479"/>
            <a:ext cx="2259253" cy="822960"/>
          </a:xfrm>
          <a:prstGeom prst="rect">
            <a:avLst/>
          </a:prstGeom>
          <a:noFill/>
        </p:spPr>
        <p:txBody>
          <a:bodyPr wrap="square" anchor="t" lIns="73152" rIns="73152" tIns="36576" bIns="36576">
            <a:spAutoFit/>
          </a:bodyPr>
          <a:lstStyle/>
          <a:p>
            <a:pPr algn="l"/>
            <a:r>
              <a:rPr sz="4000" b="1" i="0">
                <a:solidFill>
                  <a:srgbClr val="2A9D8F"/>
                </a:solidFill>
                <a:latin typeface="Calibri"/>
              </a:rPr>
              <a:t>0</a:t>
            </a:r>
          </a:p>
        </p:txBody>
      </p:sp>
      <p:sp>
        <p:nvSpPr>
          <p:cNvPr id="41" name="TextBox 40"/>
          <p:cNvSpPr txBox="1"/>
          <p:nvPr/>
        </p:nvSpPr>
        <p:spPr>
          <a:xfrm>
            <a:off x="6438747" y="470915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HTTP errors in 648 load requests, and no 429</a:t>
            </a:r>
          </a:p>
        </p:txBody>
      </p:sp>
      <p:sp>
        <p:nvSpPr>
          <p:cNvPr id="42" name="Rounded Rectangle 41"/>
          <p:cNvSpPr/>
          <p:nvPr/>
        </p:nvSpPr>
        <p:spPr>
          <a:xfrm>
            <a:off x="9063761" y="3611879"/>
            <a:ext cx="2625013"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063761" y="3611879"/>
            <a:ext cx="82296" cy="1874519"/>
          </a:xfrm>
          <a:prstGeom prst="rect">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92361" y="3840479"/>
            <a:ext cx="2259253" cy="822960"/>
          </a:xfrm>
          <a:prstGeom prst="rect">
            <a:avLst/>
          </a:prstGeom>
          <a:noFill/>
        </p:spPr>
        <p:txBody>
          <a:bodyPr wrap="square" anchor="t" lIns="73152" rIns="73152" tIns="36576" bIns="36576">
            <a:spAutoFit/>
          </a:bodyPr>
          <a:lstStyle/>
          <a:p>
            <a:pPr algn="l"/>
            <a:r>
              <a:rPr sz="4000" b="1" i="0">
                <a:solidFill>
                  <a:srgbClr val="3A86FF"/>
                </a:solidFill>
                <a:latin typeface="Calibri"/>
              </a:rPr>
              <a:t>75</a:t>
            </a:r>
          </a:p>
        </p:txBody>
      </p:sp>
      <p:sp>
        <p:nvSpPr>
          <p:cNvPr id="45" name="TextBox 44"/>
          <p:cNvSpPr txBox="1"/>
          <p:nvPr/>
        </p:nvSpPr>
        <p:spPr>
          <a:xfrm>
            <a:off x="9292361" y="4709159"/>
            <a:ext cx="2259253" cy="731520"/>
          </a:xfrm>
          <a:prstGeom prst="rect">
            <a:avLst/>
          </a:prstGeom>
          <a:noFill/>
        </p:spPr>
        <p:txBody>
          <a:bodyPr wrap="square" anchor="t" lIns="73152" rIns="73152" tIns="36576" bIns="36576">
            <a:spAutoFit/>
          </a:bodyPr>
          <a:lstStyle/>
          <a:p>
            <a:pPr algn="l"/>
            <a:r>
              <a:rPr sz="1400" b="0" i="0">
                <a:solidFill>
                  <a:srgbClr val="1B1B1E"/>
                </a:solidFill>
                <a:latin typeface="Calibri"/>
              </a:rPr>
              <a:t>holiday rows from the Task A scraper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5C677D"/>
                </a:solidFill>
                <a:latin typeface="Calibri"/>
              </a:rPr>
              <a:t>CONTEXT</a:t>
            </a:r>
          </a:p>
        </p:txBody>
      </p:sp>
      <p:sp>
        <p:nvSpPr>
          <p:cNvPr id="5" name="TextBox 4"/>
          <p:cNvSpPr txBox="1"/>
          <p:nvPr/>
        </p:nvSpPr>
        <p:spPr>
          <a:xfrm>
            <a:off x="502920" y="548640"/>
            <a:ext cx="11155680" cy="731520"/>
          </a:xfrm>
          <a:prstGeom prst="rect">
            <a:avLst/>
          </a:prstGeom>
          <a:noFill/>
        </p:spPr>
        <p:txBody>
          <a:bodyPr wrap="square" anchor="t" lIns="73152" rIns="73152" tIns="36576" bIns="36576">
            <a:spAutoFit/>
          </a:bodyPr>
          <a:lstStyle/>
          <a:p>
            <a:pPr algn="l"/>
            <a:r>
              <a:rPr sz="2800" b="1" i="0">
                <a:solidFill>
                  <a:srgbClr val="14213D"/>
                </a:solidFill>
                <a:latin typeface="Calibri"/>
              </a:rPr>
              <a:t>How I worked</a:t>
            </a:r>
          </a:p>
        </p:txBody>
      </p:sp>
      <p:sp>
        <p:nvSpPr>
          <p:cNvPr id="6" name="Rectangle 5"/>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81912"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60904"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2" name="TextBox 11"/>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4</a:t>
            </a:r>
          </a:p>
        </p:txBody>
      </p:sp>
      <p:sp>
        <p:nvSpPr>
          <p:cNvPr id="13" name="Pentagon 12"/>
          <p:cNvSpPr/>
          <p:nvPr/>
        </p:nvSpPr>
        <p:spPr>
          <a:xfrm>
            <a:off x="502920" y="1600200"/>
            <a:ext cx="1772869" cy="914400"/>
          </a:xfrm>
          <a:prstGeom prst="homePlat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Pull</a:t>
            </a:r>
          </a:p>
        </p:txBody>
      </p:sp>
      <p:sp>
        <p:nvSpPr>
          <p:cNvPr id="14" name="TextBox 13"/>
          <p:cNvSpPr txBox="1"/>
          <p:nvPr/>
        </p:nvSpPr>
        <p:spPr>
          <a:xfrm>
            <a:off x="594360"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96 chunked requests, 4 instruments, 1m / 5m / 1h</a:t>
            </a:r>
          </a:p>
        </p:txBody>
      </p:sp>
      <p:sp>
        <p:nvSpPr>
          <p:cNvPr id="15" name="Chevron 14"/>
          <p:cNvSpPr/>
          <p:nvPr/>
        </p:nvSpPr>
        <p:spPr>
          <a:xfrm>
            <a:off x="2385517" y="1600200"/>
            <a:ext cx="1772869" cy="914400"/>
          </a:xfrm>
          <a:prstGeom prst="chevron">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Validate</a:t>
            </a:r>
          </a:p>
        </p:txBody>
      </p:sp>
      <p:sp>
        <p:nvSpPr>
          <p:cNvPr id="16" name="TextBox 15"/>
          <p:cNvSpPr txBox="1"/>
          <p:nvPr/>
        </p:nvSpPr>
        <p:spPr>
          <a:xfrm>
            <a:off x="2476957"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gaps, order, grid, NaN, sessions, holidays, DST</a:t>
            </a:r>
          </a:p>
        </p:txBody>
      </p:sp>
      <p:sp>
        <p:nvSpPr>
          <p:cNvPr id="17" name="Chevron 16"/>
          <p:cNvSpPr/>
          <p:nvPr/>
        </p:nvSpPr>
        <p:spPr>
          <a:xfrm>
            <a:off x="4268114" y="1600200"/>
            <a:ext cx="1772869" cy="914400"/>
          </a:xfrm>
          <a:prstGeom prst="chevron">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Rebuild</a:t>
            </a:r>
          </a:p>
        </p:txBody>
      </p:sp>
      <p:sp>
        <p:nvSpPr>
          <p:cNvPr id="18" name="TextBox 17"/>
          <p:cNvSpPr txBox="1"/>
          <p:nvPr/>
        </p:nvSpPr>
        <p:spPr>
          <a:xfrm>
            <a:off x="4359554"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5m from 1m, 1h from 5m, compare candle by candle</a:t>
            </a:r>
          </a:p>
        </p:txBody>
      </p:sp>
      <p:sp>
        <p:nvSpPr>
          <p:cNvPr id="19" name="Chevron 18"/>
          <p:cNvSpPr/>
          <p:nvPr/>
        </p:nvSpPr>
        <p:spPr>
          <a:xfrm>
            <a:off x="6150711" y="1600200"/>
            <a:ext cx="1772869" cy="914400"/>
          </a:xfrm>
          <a:prstGeom prst="chevron">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Compare</a:t>
            </a:r>
          </a:p>
        </p:txBody>
      </p:sp>
      <p:sp>
        <p:nvSpPr>
          <p:cNvPr id="20" name="TextBox 19"/>
          <p:cNvSpPr txBox="1"/>
          <p:nvPr/>
        </p:nvSpPr>
        <p:spPr>
          <a:xfrm>
            <a:off x="6242151"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SSE stream and the Radar web tool</a:t>
            </a:r>
          </a:p>
        </p:txBody>
      </p:sp>
      <p:sp>
        <p:nvSpPr>
          <p:cNvPr id="21" name="Chevron 20"/>
          <p:cNvSpPr/>
          <p:nvPr/>
        </p:nvSpPr>
        <p:spPr>
          <a:xfrm>
            <a:off x="8033308" y="1600200"/>
            <a:ext cx="1772869" cy="914400"/>
          </a:xfrm>
          <a:prstGeom prst="chevron">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Load</a:t>
            </a:r>
          </a:p>
        </p:txBody>
      </p:sp>
      <p:sp>
        <p:nvSpPr>
          <p:cNvPr id="22" name="TextBox 21"/>
          <p:cNvSpPr txBox="1"/>
          <p:nvPr/>
        </p:nvSpPr>
        <p:spPr>
          <a:xfrm>
            <a:off x="8124748"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1 → 50 workers with automatic stop rules</a:t>
            </a:r>
          </a:p>
        </p:txBody>
      </p:sp>
      <p:sp>
        <p:nvSpPr>
          <p:cNvPr id="23" name="Chevron 22"/>
          <p:cNvSpPr/>
          <p:nvPr/>
        </p:nvSpPr>
        <p:spPr>
          <a:xfrm>
            <a:off x="9915906" y="1600200"/>
            <a:ext cx="1772869" cy="914400"/>
          </a:xfrm>
          <a:prstGeom prst="chevron">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500" b="1" i="0">
                <a:solidFill>
                  <a:srgbClr val="FFFFFF"/>
                </a:solidFill>
                <a:latin typeface="Calibri"/>
              </a:rPr>
              <a:t>Recheck</a:t>
            </a:r>
          </a:p>
        </p:txBody>
      </p:sp>
      <p:sp>
        <p:nvSpPr>
          <p:cNvPr id="24" name="TextBox 23"/>
          <p:cNvSpPr txBox="1"/>
          <p:nvPr/>
        </p:nvSpPr>
        <p:spPr>
          <a:xfrm>
            <a:off x="10007346" y="2651760"/>
            <a:ext cx="1589989" cy="1097280"/>
          </a:xfrm>
          <a:prstGeom prst="rect">
            <a:avLst/>
          </a:prstGeom>
          <a:noFill/>
        </p:spPr>
        <p:txBody>
          <a:bodyPr wrap="square" anchor="t" lIns="73152" rIns="73152" tIns="36576" bIns="36576">
            <a:spAutoFit/>
          </a:bodyPr>
          <a:lstStyle/>
          <a:p>
            <a:pPr algn="ctr"/>
            <a:r>
              <a:rPr sz="1300" b="0" i="0">
                <a:solidFill>
                  <a:srgbClr val="1B1B1E"/>
                </a:solidFill>
                <a:latin typeface="Calibri"/>
              </a:rPr>
              <a:t>every headline number recomputed from disk</a:t>
            </a:r>
          </a:p>
        </p:txBody>
      </p:sp>
      <p:sp>
        <p:nvSpPr>
          <p:cNvPr id="25" name="Rounded Rectangle 24"/>
          <p:cNvSpPr/>
          <p:nvPr/>
        </p:nvSpPr>
        <p:spPr>
          <a:xfrm>
            <a:off x="502920" y="3520440"/>
            <a:ext cx="3611880" cy="19659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520440"/>
            <a:ext cx="3611880" cy="82296"/>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03320"/>
            <a:ext cx="3337560" cy="411480"/>
          </a:xfrm>
          <a:prstGeom prst="rect">
            <a:avLst/>
          </a:prstGeom>
          <a:noFill/>
        </p:spPr>
        <p:txBody>
          <a:bodyPr wrap="square" anchor="t" lIns="73152" rIns="73152" tIns="36576" bIns="36576">
            <a:spAutoFit/>
          </a:bodyPr>
          <a:lstStyle/>
          <a:p>
            <a:pPr algn="l"/>
            <a:r>
              <a:rPr sz="1700" b="1" i="0">
                <a:solidFill>
                  <a:srgbClr val="14213D"/>
                </a:solidFill>
                <a:latin typeface="Calibri"/>
              </a:rPr>
              <a:t>Instruments</a:t>
            </a:r>
          </a:p>
        </p:txBody>
      </p:sp>
      <p:sp>
        <p:nvSpPr>
          <p:cNvPr id="28" name="TextBox 27"/>
          <p:cNvSpPr txBox="1"/>
          <p:nvPr/>
        </p:nvSpPr>
        <p:spPr>
          <a:xfrm>
            <a:off x="640080" y="4160520"/>
            <a:ext cx="3337560" cy="1234439"/>
          </a:xfrm>
          <a:prstGeom prst="rect">
            <a:avLst/>
          </a:prstGeom>
          <a:noFill/>
        </p:spPr>
        <p:txBody>
          <a:bodyPr wrap="square" anchor="t" lIns="73152" rIns="73152" tIns="36576" bIns="36576">
            <a:spAutoFit/>
          </a:bodyPr>
          <a:lstStyle/>
          <a:p>
            <a:pPr algn="l"/>
            <a:r>
              <a:rPr sz="1300" b="0" i="0">
                <a:solidFill>
                  <a:srgbClr val="1B1B1E"/>
                </a:solidFill>
                <a:latin typeface="Calibri"/>
              </a:rPr>
              <a:t>AAPL · US stock</a:t>
            </a:r>
          </a:p>
          <a:p>
            <a:pPr algn="l">
              <a:spcBef>
                <a:spcPts val="600"/>
              </a:spcBef>
            </a:pPr>
            <a:r>
              <a:rPr sz="1300" b="0" i="0">
                <a:solidFill>
                  <a:srgbClr val="1B1B1E"/>
                </a:solidFill>
                <a:latin typeface="Calibri"/>
              </a:rPr>
              <a:t>TSLA · high volatility (no crypto on demo)</a:t>
            </a:r>
          </a:p>
          <a:p>
            <a:pPr algn="l">
              <a:spcBef>
                <a:spcPts val="600"/>
              </a:spcBef>
            </a:pPr>
            <a:r>
              <a:rPr sz="1300" b="0" i="0">
                <a:solidFill>
                  <a:srgbClr val="1B1B1E"/>
                </a:solidFill>
                <a:latin typeface="Calibri"/>
              </a:rPr>
              <a:t>EUR/USD · FX, bid candles only</a:t>
            </a:r>
          </a:p>
          <a:p>
            <a:pPr algn="l">
              <a:spcBef>
                <a:spcPts val="600"/>
              </a:spcBef>
            </a:pPr>
            <a:r>
              <a:rPr sz="1300" b="0" i="0">
                <a:solidFill>
                  <a:srgbClr val="1B1B1E"/>
                </a:solidFill>
                <a:latin typeface="Calibri"/>
              </a:rPr>
              <a:t>/ESZ26 · futures, used as a control</a:t>
            </a:r>
          </a:p>
        </p:txBody>
      </p:sp>
      <p:sp>
        <p:nvSpPr>
          <p:cNvPr id="29" name="Rounded Rectangle 28"/>
          <p:cNvSpPr/>
          <p:nvPr/>
        </p:nvSpPr>
        <p:spPr>
          <a:xfrm>
            <a:off x="4288536" y="3520440"/>
            <a:ext cx="3611880" cy="19659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88536" y="3520440"/>
            <a:ext cx="3611880" cy="82296"/>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25696" y="3703320"/>
            <a:ext cx="3337560" cy="411480"/>
          </a:xfrm>
          <a:prstGeom prst="rect">
            <a:avLst/>
          </a:prstGeom>
          <a:noFill/>
        </p:spPr>
        <p:txBody>
          <a:bodyPr wrap="square" anchor="t" lIns="73152" rIns="73152" tIns="36576" bIns="36576">
            <a:spAutoFit/>
          </a:bodyPr>
          <a:lstStyle/>
          <a:p>
            <a:pPr algn="l"/>
            <a:r>
              <a:rPr sz="1700" b="1" i="0">
                <a:solidFill>
                  <a:srgbClr val="0F8B8D"/>
                </a:solidFill>
                <a:latin typeface="Calibri"/>
              </a:rPr>
              <a:t>Logged for every call</a:t>
            </a:r>
          </a:p>
        </p:txBody>
      </p:sp>
      <p:sp>
        <p:nvSpPr>
          <p:cNvPr id="32" name="TextBox 31"/>
          <p:cNvSpPr txBox="1"/>
          <p:nvPr/>
        </p:nvSpPr>
        <p:spPr>
          <a:xfrm>
            <a:off x="4425696" y="4160520"/>
            <a:ext cx="3337560" cy="1234439"/>
          </a:xfrm>
          <a:prstGeom prst="rect">
            <a:avLst/>
          </a:prstGeom>
          <a:noFill/>
        </p:spPr>
        <p:txBody>
          <a:bodyPr wrap="square" anchor="t" lIns="73152" rIns="73152" tIns="36576" bIns="36576">
            <a:spAutoFit/>
          </a:bodyPr>
          <a:lstStyle/>
          <a:p>
            <a:pPr algn="l"/>
            <a:r>
              <a:rPr sz="1300" b="0" i="0">
                <a:solidFill>
                  <a:srgbClr val="1B1B1E"/>
                </a:solidFill>
                <a:latin typeface="Calibri"/>
              </a:rPr>
              <a:t>URL and parameters, UTC time</a:t>
            </a:r>
          </a:p>
          <a:p>
            <a:pPr algn="l">
              <a:spcBef>
                <a:spcPts val="600"/>
              </a:spcBef>
            </a:pPr>
            <a:r>
              <a:rPr sz="1300" b="0" i="0">
                <a:solidFill>
                  <a:srgbClr val="1B1B1E"/>
                </a:solidFill>
                <a:latin typeface="Calibri"/>
              </a:rPr>
              <a:t>latency, status, body hash</a:t>
            </a:r>
          </a:p>
          <a:p>
            <a:pPr algn="l">
              <a:spcBef>
                <a:spcPts val="600"/>
              </a:spcBef>
            </a:pPr>
            <a:r>
              <a:rPr sz="1300" b="0" i="0">
                <a:solidFill>
                  <a:srgbClr val="1B1B1E"/>
                </a:solidFill>
                <a:latin typeface="Calibri"/>
              </a:rPr>
              <a:t>raw body saved (gzip)</a:t>
            </a:r>
          </a:p>
        </p:txBody>
      </p:sp>
      <p:sp>
        <p:nvSpPr>
          <p:cNvPr id="33" name="Rounded Rectangle 32"/>
          <p:cNvSpPr/>
          <p:nvPr/>
        </p:nvSpPr>
        <p:spPr>
          <a:xfrm>
            <a:off x="8074152" y="3520440"/>
            <a:ext cx="3611880" cy="19659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74152" y="3520440"/>
            <a:ext cx="3611880" cy="8229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11312" y="3703320"/>
            <a:ext cx="3337560" cy="411480"/>
          </a:xfrm>
          <a:prstGeom prst="rect">
            <a:avLst/>
          </a:prstGeom>
          <a:noFill/>
        </p:spPr>
        <p:txBody>
          <a:bodyPr wrap="square" anchor="t" lIns="73152" rIns="73152" tIns="36576" bIns="36576">
            <a:spAutoFit/>
          </a:bodyPr>
          <a:lstStyle/>
          <a:p>
            <a:pPr algn="l"/>
            <a:r>
              <a:rPr sz="1700" b="1" i="0">
                <a:solidFill>
                  <a:srgbClr val="2A9D8F"/>
                </a:solidFill>
                <a:latin typeface="Calibri"/>
              </a:rPr>
              <a:t>Polite by design</a:t>
            </a:r>
          </a:p>
        </p:txBody>
      </p:sp>
      <p:sp>
        <p:nvSpPr>
          <p:cNvPr id="36" name="TextBox 35"/>
          <p:cNvSpPr txBox="1"/>
          <p:nvPr/>
        </p:nvSpPr>
        <p:spPr>
          <a:xfrm>
            <a:off x="8211312" y="4160520"/>
            <a:ext cx="3337560" cy="1234439"/>
          </a:xfrm>
          <a:prstGeom prst="rect">
            <a:avLst/>
          </a:prstGeom>
          <a:noFill/>
        </p:spPr>
        <p:txBody>
          <a:bodyPr wrap="square" anchor="t" lIns="73152" rIns="73152" tIns="36576" bIns="36576">
            <a:spAutoFit/>
          </a:bodyPr>
          <a:lstStyle/>
          <a:p>
            <a:pPr algn="l"/>
            <a:r>
              <a:rPr sz="1300" b="0" i="0">
                <a:solidFill>
                  <a:srgbClr val="1B1B1E"/>
                </a:solidFill>
                <a:latin typeface="Calibri"/>
              </a:rPr>
              <a:t>one client, think time 0.25 s</a:t>
            </a:r>
          </a:p>
          <a:p>
            <a:pPr algn="l">
              <a:spcBef>
                <a:spcPts val="600"/>
              </a:spcBef>
            </a:pPr>
            <a:r>
              <a:rPr sz="1300" b="0" i="0">
                <a:solidFill>
                  <a:srgbClr val="1B1B1E"/>
                </a:solidFill>
                <a:latin typeface="Calibri"/>
              </a:rPr>
              <a:t>stop on 429, errors, p50 &gt; 8 s</a:t>
            </a:r>
          </a:p>
          <a:p>
            <a:pPr algn="l">
              <a:spcBef>
                <a:spcPts val="600"/>
              </a:spcBef>
            </a:pPr>
            <a:r>
              <a:rPr sz="1300" b="0" i="0">
                <a:solidFill>
                  <a:srgbClr val="1B1B1E"/>
                </a:solidFill>
                <a:latin typeface="Calibri"/>
              </a:rPr>
              <a:t>budget of 3,500 requests</a:t>
            </a:r>
          </a:p>
        </p:txBody>
      </p:sp>
      <p:sp>
        <p:nvSpPr>
          <p:cNvPr id="37" name="Rounded Rectangle 36"/>
          <p:cNvSpPr/>
          <p:nvPr/>
        </p:nvSpPr>
        <p:spPr>
          <a:xfrm>
            <a:off x="502920" y="5669280"/>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Rule I kept: a number goes on a slide only if I can recompute it offline.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3657600" cy="1280160"/>
          </a:xfrm>
          <a:prstGeom prst="rect">
            <a:avLst/>
          </a:prstGeom>
          <a:noFill/>
        </p:spPr>
        <p:txBody>
          <a:bodyPr wrap="square" anchor="t" lIns="73152" rIns="73152" tIns="36576" bIns="36576">
            <a:spAutoFit/>
          </a:bodyPr>
          <a:lstStyle/>
          <a:p>
            <a:pPr algn="l"/>
            <a:r>
              <a:rPr sz="9600" b="1" i="0">
                <a:solidFill>
                  <a:srgbClr val="E9A23B"/>
                </a:solidFill>
                <a:latin typeface="Calibri"/>
              </a:rPr>
              <a:t>01</a:t>
            </a:r>
          </a:p>
        </p:txBody>
      </p:sp>
      <p:sp>
        <p:nvSpPr>
          <p:cNvPr id="5" name="TextBox 4"/>
          <p:cNvSpPr txBox="1"/>
          <p:nvPr/>
        </p:nvSpPr>
        <p:spPr>
          <a:xfrm>
            <a:off x="822960" y="2788920"/>
            <a:ext cx="10058400" cy="822960"/>
          </a:xfrm>
          <a:prstGeom prst="rect">
            <a:avLst/>
          </a:prstGeom>
          <a:noFill/>
        </p:spPr>
        <p:txBody>
          <a:bodyPr wrap="square" anchor="t" lIns="73152" rIns="73152" tIns="36576" bIns="36576">
            <a:spAutoFit/>
          </a:bodyPr>
          <a:lstStyle/>
          <a:p>
            <a:pPr algn="l"/>
            <a:r>
              <a:rPr sz="4400" b="1" i="0">
                <a:solidFill>
                  <a:srgbClr val="FFFFFF"/>
                </a:solidFill>
                <a:latin typeface="Calibri"/>
              </a:rPr>
              <a:t>Task A: holiday calendar</a:t>
            </a:r>
          </a:p>
        </p:txBody>
      </p:sp>
      <p:sp>
        <p:nvSpPr>
          <p:cNvPr id="6" name="TextBox 5"/>
          <p:cNvSpPr txBox="1"/>
          <p:nvPr/>
        </p:nvSpPr>
        <p:spPr>
          <a:xfrm>
            <a:off x="822960" y="3657600"/>
            <a:ext cx="10058400" cy="822960"/>
          </a:xfrm>
          <a:prstGeom prst="rect">
            <a:avLst/>
          </a:prstGeom>
          <a:noFill/>
        </p:spPr>
        <p:txBody>
          <a:bodyPr wrap="square" anchor="t" lIns="73152" rIns="73152" tIns="36576" bIns="36576">
            <a:spAutoFit/>
          </a:bodyPr>
          <a:lstStyle/>
          <a:p>
            <a:pPr algn="l"/>
            <a:r>
              <a:rPr sz="2000" b="0" i="0">
                <a:solidFill>
                  <a:srgbClr val="C9D6E8"/>
                </a:solidFill>
                <a:latin typeface="Calibri"/>
              </a:rPr>
              <a:t>The calendar Task C uses to tell a holiday from a gap</a:t>
            </a:r>
          </a:p>
        </p:txBody>
      </p:sp>
      <p:sp>
        <p:nvSpPr>
          <p:cNvPr id="7" name="Rectangle 6"/>
          <p:cNvSpPr/>
          <p:nvPr/>
        </p:nvSpPr>
        <p:spPr>
          <a:xfrm>
            <a:off x="822960" y="5120640"/>
            <a:ext cx="1325880" cy="9144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028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7492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349240"/>
            <a:ext cx="5486400" cy="365760"/>
          </a:xfrm>
          <a:prstGeom prst="rect">
            <a:avLst/>
          </a:prstGeom>
          <a:noFill/>
        </p:spPr>
        <p:txBody>
          <a:bodyPr wrap="square" anchor="t" lIns="73152" rIns="73152" tIns="36576" bIns="36576">
            <a:spAutoFit/>
          </a:bodyPr>
          <a:lstStyle/>
          <a:p>
            <a:pPr algn="l"/>
            <a:r>
              <a:rPr sz="1400" b="0" i="0">
                <a:solidFill>
                  <a:srgbClr val="C9D6E8"/>
                </a:solidFill>
                <a:latin typeface="Calibri"/>
              </a:rPr>
              <a:t>about 3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E9A23B"/>
                </a:solidFill>
                <a:latin typeface="Calibri"/>
              </a:rPr>
              <a:t>TASK A CALENDAR</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NYSE and NASDAQ agree on every 2026 date</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GAPS LISTED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6</a:t>
            </a:r>
          </a:p>
        </p:txBody>
      </p:sp>
      <p:sp>
        <p:nvSpPr>
          <p:cNvPr id="14" name="Rounded Rectangle 13"/>
          <p:cNvSpPr/>
          <p:nvPr/>
        </p:nvSpPr>
        <p:spPr>
          <a:xfrm>
            <a:off x="411480" y="1371600"/>
            <a:ext cx="11368735"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alendar_2026.png"/>
          <p:cNvPicPr>
            <a:picLocks noChangeAspect="1"/>
          </p:cNvPicPr>
          <p:nvPr/>
        </p:nvPicPr>
        <p:blipFill>
          <a:blip r:embed="rId2"/>
          <a:stretch>
            <a:fillRect/>
          </a:stretch>
        </p:blipFill>
        <p:spPr>
          <a:xfrm>
            <a:off x="502920" y="2064695"/>
            <a:ext cx="8229600" cy="2728608"/>
          </a:xfrm>
          <a:prstGeom prst="rect">
            <a:avLst/>
          </a:prstGeom>
        </p:spPr>
      </p:pic>
      <p:sp>
        <p:nvSpPr>
          <p:cNvPr id="16" name="Rectangle 15"/>
          <p:cNvSpPr/>
          <p:nvPr/>
        </p:nvSpPr>
        <p:spPr>
          <a:xfrm>
            <a:off x="8915400" y="1600200"/>
            <a:ext cx="27432" cy="3657600"/>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98280" y="1636776"/>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8" name="TextBox 17"/>
          <p:cNvSpPr txBox="1"/>
          <p:nvPr/>
        </p:nvSpPr>
        <p:spPr>
          <a:xfrm>
            <a:off x="9601200" y="1600200"/>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75 rows: </a:t>
            </a:r>
            <a:r>
              <a:rPr sz="1400" b="0" i="0">
                <a:solidFill>
                  <a:srgbClr val="1B1B1E"/>
                </a:solidFill>
                <a:latin typeface="Calibri"/>
              </a:rPr>
              <a:t>NYSE 34, NASDAQ 12, OPRA 14, CME 15.</a:t>
            </a:r>
          </a:p>
        </p:txBody>
      </p:sp>
      <p:sp>
        <p:nvSpPr>
          <p:cNvPr id="19" name="Oval 18"/>
          <p:cNvSpPr/>
          <p:nvPr/>
        </p:nvSpPr>
        <p:spPr>
          <a:xfrm>
            <a:off x="9098280" y="2538603"/>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20" name="TextBox 19"/>
          <p:cNvSpPr txBox="1"/>
          <p:nvPr/>
        </p:nvSpPr>
        <p:spPr>
          <a:xfrm>
            <a:off x="9601200" y="2502027"/>
            <a:ext cx="2103120" cy="528066"/>
          </a:xfrm>
          <a:prstGeom prst="rect">
            <a:avLst/>
          </a:prstGeom>
          <a:noFill/>
        </p:spPr>
        <p:txBody>
          <a:bodyPr wrap="square" anchor="t" lIns="73152" rIns="73152" tIns="36576" bIns="36576">
            <a:spAutoFit/>
          </a:bodyPr>
          <a:lstStyle/>
          <a:p>
            <a:pPr algn="l"/>
            <a:r>
              <a:rPr sz="1400" b="1" i="0">
                <a:solidFill>
                  <a:srgbClr val="14213D"/>
                </a:solidFill>
                <a:latin typeface="Calibri"/>
              </a:rPr>
              <a:t>2026: </a:t>
            </a:r>
            <a:r>
              <a:rPr sz="1400" b="0" i="0">
                <a:solidFill>
                  <a:srgbClr val="1B1B1E"/>
                </a:solidFill>
                <a:latin typeface="Calibri"/>
              </a:rPr>
              <a:t>NYSE = NASDAQ, 0 differences.</a:t>
            </a:r>
          </a:p>
        </p:txBody>
      </p:sp>
      <p:sp>
        <p:nvSpPr>
          <p:cNvPr id="21" name="Oval 20"/>
          <p:cNvSpPr/>
          <p:nvPr/>
        </p:nvSpPr>
        <p:spPr>
          <a:xfrm>
            <a:off x="9098280" y="3176397"/>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2" name="TextBox 21"/>
          <p:cNvSpPr txBox="1"/>
          <p:nvPr/>
        </p:nvSpPr>
        <p:spPr>
          <a:xfrm>
            <a:off x="9601200" y="3139821"/>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Years: </a:t>
            </a:r>
            <a:r>
              <a:rPr sz="1400" b="0" i="0">
                <a:solidFill>
                  <a:srgbClr val="1B1B1E"/>
                </a:solidFill>
                <a:latin typeface="Calibri"/>
              </a:rPr>
              <a:t>NYSE 2026–28, NASDAQ 2026, OPRA 2025.</a:t>
            </a:r>
          </a:p>
        </p:txBody>
      </p:sp>
      <p:sp>
        <p:nvSpPr>
          <p:cNvPr id="23" name="Oval 22"/>
          <p:cNvSpPr/>
          <p:nvPr/>
        </p:nvSpPr>
        <p:spPr>
          <a:xfrm>
            <a:off x="9098280" y="4078224"/>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4</a:t>
            </a:r>
          </a:p>
        </p:txBody>
      </p:sp>
      <p:sp>
        <p:nvSpPr>
          <p:cNvPr id="24" name="TextBox 23"/>
          <p:cNvSpPr txBox="1"/>
          <p:nvPr/>
        </p:nvSpPr>
        <p:spPr>
          <a:xfrm>
            <a:off x="9601200" y="4041648"/>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Drive: </a:t>
            </a:r>
            <a:r>
              <a:rPr sz="1400" b="0" i="0">
                <a:solidFill>
                  <a:srgbClr val="1B1B1E"/>
                </a:solidFill>
                <a:latin typeface="Calibri"/>
              </a:rPr>
              <a:t>uploaded by hand; API path untested.</a:t>
            </a:r>
          </a:p>
        </p:txBody>
      </p:sp>
      <p:sp>
        <p:nvSpPr>
          <p:cNvPr id="25" name="Rounded Rectangle 24"/>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75 rows from four exchanges, weekly on GitHub Actions. Validation: WARN, not FAIL.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E9A23B"/>
                </a:solidFill>
                <a:latin typeface="Calibri"/>
              </a:rPr>
              <a:t>TASK A CALENDAR</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CME matches NYSE on every 2027 date</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GAPS LISTED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7</a:t>
            </a:r>
          </a:p>
        </p:txBody>
      </p:sp>
      <p:sp>
        <p:nvSpPr>
          <p:cNvPr id="14" name="Rounded Rectangle 13"/>
          <p:cNvSpPr/>
          <p:nvPr/>
        </p:nvSpPr>
        <p:spPr>
          <a:xfrm>
            <a:off x="411480" y="1371600"/>
            <a:ext cx="11368735"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alendar_2027.png"/>
          <p:cNvPicPr>
            <a:picLocks noChangeAspect="1"/>
          </p:cNvPicPr>
          <p:nvPr/>
        </p:nvPicPr>
        <p:blipFill>
          <a:blip r:embed="rId2"/>
          <a:stretch>
            <a:fillRect/>
          </a:stretch>
        </p:blipFill>
        <p:spPr>
          <a:xfrm>
            <a:off x="502920" y="1966900"/>
            <a:ext cx="8229600" cy="2924198"/>
          </a:xfrm>
          <a:prstGeom prst="rect">
            <a:avLst/>
          </a:prstGeom>
        </p:spPr>
      </p:pic>
      <p:sp>
        <p:nvSpPr>
          <p:cNvPr id="16" name="Rectangle 15"/>
          <p:cNvSpPr/>
          <p:nvPr/>
        </p:nvSpPr>
        <p:spPr>
          <a:xfrm>
            <a:off x="8915400" y="1600200"/>
            <a:ext cx="27432" cy="3657600"/>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98280" y="1636776"/>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8" name="TextBox 17"/>
          <p:cNvSpPr txBox="1"/>
          <p:nvPr/>
        </p:nvSpPr>
        <p:spPr>
          <a:xfrm>
            <a:off x="9601200" y="1600200"/>
            <a:ext cx="2103120" cy="528066"/>
          </a:xfrm>
          <a:prstGeom prst="rect">
            <a:avLst/>
          </a:prstGeom>
          <a:noFill/>
        </p:spPr>
        <p:txBody>
          <a:bodyPr wrap="square" anchor="t" lIns="73152" rIns="73152" tIns="36576" bIns="36576">
            <a:spAutoFit/>
          </a:bodyPr>
          <a:lstStyle/>
          <a:p>
            <a:pPr algn="l"/>
            <a:r>
              <a:rPr sz="1400" b="1" i="0">
                <a:solidFill>
                  <a:srgbClr val="14213D"/>
                </a:solidFill>
                <a:latin typeface="Calibri"/>
              </a:rPr>
              <a:t>CME: </a:t>
            </a:r>
            <a:r>
              <a:rPr sz="1400" b="0" i="0">
                <a:solidFill>
                  <a:srgbClr val="1B1B1E"/>
                </a:solidFill>
                <a:latin typeface="Calibri"/>
              </a:rPr>
              <a:t>manual xlsx, Equities row only.</a:t>
            </a:r>
          </a:p>
        </p:txBody>
      </p:sp>
      <p:sp>
        <p:nvSpPr>
          <p:cNvPr id="19" name="Oval 18"/>
          <p:cNvSpPr/>
          <p:nvPr/>
        </p:nvSpPr>
        <p:spPr>
          <a:xfrm>
            <a:off x="9098280" y="2274570"/>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20" name="TextBox 19"/>
          <p:cNvSpPr txBox="1"/>
          <p:nvPr/>
        </p:nvSpPr>
        <p:spPr>
          <a:xfrm>
            <a:off x="9601200" y="2237994"/>
            <a:ext cx="2103120" cy="528066"/>
          </a:xfrm>
          <a:prstGeom prst="rect">
            <a:avLst/>
          </a:prstGeom>
          <a:noFill/>
        </p:spPr>
        <p:txBody>
          <a:bodyPr wrap="square" anchor="t" lIns="73152" rIns="73152" tIns="36576" bIns="36576">
            <a:spAutoFit/>
          </a:bodyPr>
          <a:lstStyle/>
          <a:p>
            <a:pPr algn="l"/>
            <a:r>
              <a:rPr sz="1400" b="1" i="0">
                <a:solidFill>
                  <a:srgbClr val="14213D"/>
                </a:solidFill>
                <a:latin typeface="Calibri"/>
              </a:rPr>
              <a:t>2027: </a:t>
            </a:r>
            <a:r>
              <a:rPr sz="1400" b="0" i="0">
                <a:solidFill>
                  <a:srgbClr val="1B1B1E"/>
                </a:solidFill>
                <a:latin typeface="Calibri"/>
              </a:rPr>
              <a:t>NYSE = CME, 0 differences.</a:t>
            </a:r>
          </a:p>
        </p:txBody>
      </p:sp>
      <p:sp>
        <p:nvSpPr>
          <p:cNvPr id="21" name="Oval 20"/>
          <p:cNvSpPr/>
          <p:nvPr/>
        </p:nvSpPr>
        <p:spPr>
          <a:xfrm>
            <a:off x="9098280" y="2912363"/>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2" name="TextBox 21"/>
          <p:cNvSpPr txBox="1"/>
          <p:nvPr/>
        </p:nvSpPr>
        <p:spPr>
          <a:xfrm>
            <a:off x="9601200" y="2875787"/>
            <a:ext cx="2103120" cy="528066"/>
          </a:xfrm>
          <a:prstGeom prst="rect">
            <a:avLst/>
          </a:prstGeom>
          <a:noFill/>
        </p:spPr>
        <p:txBody>
          <a:bodyPr wrap="square" anchor="t" lIns="73152" rIns="73152" tIns="36576" bIns="36576">
            <a:spAutoFit/>
          </a:bodyPr>
          <a:lstStyle/>
          <a:p>
            <a:pPr algn="l"/>
            <a:r>
              <a:rPr sz="1400" b="1" i="0">
                <a:solidFill>
                  <a:srgbClr val="14213D"/>
                </a:solidFill>
                <a:latin typeface="Calibri"/>
              </a:rPr>
              <a:t>NASDAQ </a:t>
            </a:r>
            <a:r>
              <a:rPr sz="1400" b="0" i="0">
                <a:solidFill>
                  <a:srgbClr val="1B1B1E"/>
                </a:solidFill>
                <a:latin typeface="Calibri"/>
              </a:rPr>
              <a:t>2027 not published yet.</a:t>
            </a:r>
          </a:p>
        </p:txBody>
      </p:sp>
      <p:sp>
        <p:nvSpPr>
          <p:cNvPr id="23" name="Oval 22"/>
          <p:cNvSpPr/>
          <p:nvPr/>
        </p:nvSpPr>
        <p:spPr>
          <a:xfrm>
            <a:off x="9098280" y="3550157"/>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4</a:t>
            </a:r>
          </a:p>
        </p:txBody>
      </p:sp>
      <p:sp>
        <p:nvSpPr>
          <p:cNvPr id="24" name="TextBox 23"/>
          <p:cNvSpPr txBox="1"/>
          <p:nvPr/>
        </p:nvSpPr>
        <p:spPr>
          <a:xfrm>
            <a:off x="9601200" y="3513581"/>
            <a:ext cx="2103120" cy="528066"/>
          </a:xfrm>
          <a:prstGeom prst="rect">
            <a:avLst/>
          </a:prstGeom>
          <a:noFill/>
        </p:spPr>
        <p:txBody>
          <a:bodyPr wrap="square" anchor="t" lIns="73152" rIns="73152" tIns="36576" bIns="36576">
            <a:spAutoFit/>
          </a:bodyPr>
          <a:lstStyle/>
          <a:p>
            <a:pPr algn="l"/>
            <a:r>
              <a:rPr sz="1400" b="1" i="0">
                <a:solidFill>
                  <a:srgbClr val="14213D"/>
                </a:solidFill>
                <a:latin typeface="Calibri"/>
              </a:rPr>
              <a:t>OPRA </a:t>
            </a:r>
            <a:r>
              <a:rPr sz="1400" b="0" i="0">
                <a:solidFill>
                  <a:srgbClr val="1B1B1E"/>
                </a:solidFill>
                <a:latin typeface="Calibri"/>
              </a:rPr>
              <a:t>2026 / 2027 PDFs return 403.</a:t>
            </a:r>
          </a:p>
        </p:txBody>
      </p:sp>
      <p:sp>
        <p:nvSpPr>
          <p:cNvPr id="25" name="Rounded Rectangle 24"/>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CME comes from Trading Hours files I downloaded. The site itself is never scraped.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3657600" cy="1280160"/>
          </a:xfrm>
          <a:prstGeom prst="rect">
            <a:avLst/>
          </a:prstGeom>
          <a:noFill/>
        </p:spPr>
        <p:txBody>
          <a:bodyPr wrap="square" anchor="t" lIns="73152" rIns="73152" tIns="36576" bIns="36576">
            <a:spAutoFit/>
          </a:bodyPr>
          <a:lstStyle/>
          <a:p>
            <a:pPr algn="l"/>
            <a:r>
              <a:rPr sz="9600" b="1" i="0">
                <a:solidFill>
                  <a:srgbClr val="0F8B8D"/>
                </a:solidFill>
                <a:latin typeface="Calibri"/>
              </a:rPr>
              <a:t>02</a:t>
            </a:r>
          </a:p>
        </p:txBody>
      </p:sp>
      <p:sp>
        <p:nvSpPr>
          <p:cNvPr id="5" name="TextBox 4"/>
          <p:cNvSpPr txBox="1"/>
          <p:nvPr/>
        </p:nvSpPr>
        <p:spPr>
          <a:xfrm>
            <a:off x="822960" y="2788920"/>
            <a:ext cx="10058400" cy="822960"/>
          </a:xfrm>
          <a:prstGeom prst="rect">
            <a:avLst/>
          </a:prstGeom>
          <a:noFill/>
        </p:spPr>
        <p:txBody>
          <a:bodyPr wrap="square" anchor="t" lIns="73152" rIns="73152" tIns="36576" bIns="36576">
            <a:spAutoFit/>
          </a:bodyPr>
          <a:lstStyle/>
          <a:p>
            <a:pPr algn="l"/>
            <a:r>
              <a:rPr sz="4400" b="1" i="0">
                <a:solidFill>
                  <a:srgbClr val="FFFFFF"/>
                </a:solidFill>
                <a:latin typeface="Calibri"/>
              </a:rPr>
              <a:t>Data consistency</a:t>
            </a:r>
          </a:p>
        </p:txBody>
      </p:sp>
      <p:sp>
        <p:nvSpPr>
          <p:cNvPr id="6" name="TextBox 5"/>
          <p:cNvSpPr txBox="1"/>
          <p:nvPr/>
        </p:nvSpPr>
        <p:spPr>
          <a:xfrm>
            <a:off x="822960" y="3657600"/>
            <a:ext cx="10058400" cy="822960"/>
          </a:xfrm>
          <a:prstGeom prst="rect">
            <a:avLst/>
          </a:prstGeom>
          <a:noFill/>
        </p:spPr>
        <p:txBody>
          <a:bodyPr wrap="square" anchor="t" lIns="73152" rIns="73152" tIns="36576" bIns="36576">
            <a:spAutoFit/>
          </a:bodyPr>
          <a:lstStyle/>
          <a:p>
            <a:pPr algn="l"/>
            <a:r>
              <a:rPr sz="2000" b="0" i="0">
                <a:solidFill>
                  <a:srgbClr val="C9D6E8"/>
                </a:solidFill>
                <a:latin typeface="Calibri"/>
              </a:rPr>
              <a:t>What is right, and the problems that do not raise an error</a:t>
            </a:r>
          </a:p>
        </p:txBody>
      </p:sp>
      <p:sp>
        <p:nvSpPr>
          <p:cNvPr id="7" name="Rectangle 6"/>
          <p:cNvSpPr/>
          <p:nvPr/>
        </p:nvSpPr>
        <p:spPr>
          <a:xfrm>
            <a:off x="822960" y="5120640"/>
            <a:ext cx="1325880" cy="9144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0280" y="5120640"/>
            <a:ext cx="1325880" cy="914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7492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349240"/>
            <a:ext cx="5486400" cy="365760"/>
          </a:xfrm>
          <a:prstGeom prst="rect">
            <a:avLst/>
          </a:prstGeom>
          <a:noFill/>
        </p:spPr>
        <p:txBody>
          <a:bodyPr wrap="square" anchor="t" lIns="73152" rIns="73152" tIns="36576" bIns="36576">
            <a:spAutoFit/>
          </a:bodyPr>
          <a:lstStyle/>
          <a:p>
            <a:pPr algn="l"/>
            <a:r>
              <a:rPr sz="1400" b="0" i="0">
                <a:solidFill>
                  <a:srgbClr val="C9D6E8"/>
                </a:solidFill>
                <a:latin typeface="Calibri"/>
              </a:rPr>
              <a:t>about 15 minutes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What is right: the basics are clean</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9</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er_day_1m_counts.png"/>
          <p:cNvPicPr>
            <a:picLocks noChangeAspect="1"/>
          </p:cNvPicPr>
          <p:nvPr/>
        </p:nvPicPr>
        <p:blipFill>
          <a:blip r:embed="rId2"/>
          <a:stretch>
            <a:fillRect/>
          </a:stretch>
        </p:blipFill>
        <p:spPr>
          <a:xfrm>
            <a:off x="2045017" y="1463040"/>
            <a:ext cx="4505325" cy="3931920"/>
          </a:xfrm>
          <a:prstGeom prst="rect">
            <a:avLst/>
          </a:prstGeom>
        </p:spPr>
      </p:pic>
      <p:sp>
        <p:nvSpPr>
          <p:cNvPr id="16" name="Oval 15"/>
          <p:cNvSpPr/>
          <p:nvPr/>
        </p:nvSpPr>
        <p:spPr>
          <a:xfrm>
            <a:off x="8503920" y="1545336"/>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0 </a:t>
            </a:r>
            <a:r>
              <a:rPr sz="1500" b="0" i="0">
                <a:solidFill>
                  <a:srgbClr val="1B1B1E"/>
                </a:solidFill>
                <a:latin typeface="Calibri"/>
              </a:rPr>
              <a:t>timestamps off the grid, out of order, or NaN.</a:t>
            </a:r>
          </a:p>
        </p:txBody>
      </p:sp>
      <p:sp>
        <p:nvSpPr>
          <p:cNvPr id="18" name="Oval 17"/>
          <p:cNvSpPr/>
          <p:nvPr/>
        </p:nvSpPr>
        <p:spPr>
          <a:xfrm>
            <a:off x="8503920" y="2503741"/>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467165"/>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Holidays </a:t>
            </a:r>
            <a:r>
              <a:rPr sz="1500" b="0" i="0">
                <a:solidFill>
                  <a:srgbClr val="1B1B1E"/>
                </a:solidFill>
                <a:latin typeface="Calibri"/>
              </a:rPr>
              <a:t>match my Task A calendar exactly.</a:t>
            </a:r>
          </a:p>
        </p:txBody>
      </p:sp>
      <p:sp>
        <p:nvSpPr>
          <p:cNvPr id="20" name="Oval 19"/>
          <p:cNvSpPr/>
          <p:nvPr/>
        </p:nvSpPr>
        <p:spPr>
          <a:xfrm>
            <a:off x="8503920" y="3179254"/>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142678"/>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21 duplicates </a:t>
            </a:r>
            <a:r>
              <a:rPr sz="1500" b="0" i="0">
                <a:solidFill>
                  <a:srgbClr val="1B1B1E"/>
                </a:solidFill>
                <a:latin typeface="Calibri"/>
              </a:rPr>
              <a:t>at chunk edges, all identical.</a:t>
            </a:r>
          </a:p>
        </p:txBody>
      </p:sp>
      <p:sp>
        <p:nvSpPr>
          <p:cNvPr id="22" name="Oval 21"/>
          <p:cNvSpPr/>
          <p:nvPr/>
        </p:nvSpPr>
        <p:spPr>
          <a:xfrm>
            <a:off x="8503920" y="4137660"/>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4</a:t>
            </a:r>
          </a:p>
        </p:txBody>
      </p:sp>
      <p:sp>
        <p:nvSpPr>
          <p:cNvPr id="23" name="TextBox 22"/>
          <p:cNvSpPr txBox="1"/>
          <p:nvPr/>
        </p:nvSpPr>
        <p:spPr>
          <a:xfrm>
            <a:off x="9006840" y="4101084"/>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DST </a:t>
            </a:r>
            <a:r>
              <a:rPr sz="1500" b="0" i="0">
                <a:solidFill>
                  <a:srgbClr val="1B1B1E"/>
                </a:solidFill>
                <a:latin typeface="Calibri"/>
              </a:rPr>
              <a:t>handled; first bar is 00:00 ET.</a:t>
            </a:r>
          </a:p>
        </p:txBody>
      </p:sp>
      <p:sp>
        <p:nvSpPr>
          <p:cNvPr id="24" name="Rounded Rectangle 23"/>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58,315 candles: the price path is sound. The problems are quieter than that.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Every quote is exactly 15 minutes old</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10</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quote_age.png"/>
          <p:cNvPicPr>
            <a:picLocks noChangeAspect="1"/>
          </p:cNvPicPr>
          <p:nvPr/>
        </p:nvPicPr>
        <p:blipFill>
          <a:blip r:embed="rId2"/>
          <a:stretch>
            <a:fillRect/>
          </a:stretch>
        </p:blipFill>
        <p:spPr>
          <a:xfrm>
            <a:off x="502920" y="1667333"/>
            <a:ext cx="7589520" cy="3523332"/>
          </a:xfrm>
          <a:prstGeom prst="rect">
            <a:avLst/>
          </a:prstGeom>
        </p:spPr>
      </p:pic>
      <p:sp>
        <p:nvSpPr>
          <p:cNvPr id="16" name="Oval 15"/>
          <p:cNvSpPr/>
          <p:nvPr/>
        </p:nvSpPr>
        <p:spPr>
          <a:xfrm>
            <a:off x="8503920" y="1545336"/>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Median 900.6 s </a:t>
            </a:r>
            <a:r>
              <a:rPr sz="1500" b="0" i="0">
                <a:solidFill>
                  <a:srgbClr val="1B1B1E"/>
                </a:solidFill>
                <a:latin typeface="Calibri"/>
              </a:rPr>
              <a:t>on REST, SSE and Radar.</a:t>
            </a:r>
          </a:p>
        </p:txBody>
      </p:sp>
      <p:sp>
        <p:nvSpPr>
          <p:cNvPr id="18" name="Oval 17"/>
          <p:cNvSpPr/>
          <p:nvPr/>
        </p:nvSpPr>
        <p:spPr>
          <a:xfrm>
            <a:off x="8503920" y="2220849"/>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184273"/>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Load </a:t>
            </a:r>
            <a:r>
              <a:rPr sz="1500" b="0" i="0">
                <a:solidFill>
                  <a:srgbClr val="1B1B1E"/>
                </a:solidFill>
                <a:latin typeface="Calibri"/>
              </a:rPr>
              <a:t>did not change it. Latency moved, freshness did not.</a:t>
            </a:r>
          </a:p>
        </p:txBody>
      </p:sp>
      <p:sp>
        <p:nvSpPr>
          <p:cNvPr id="20" name="Oval 19"/>
          <p:cNvSpPr/>
          <p:nvPr/>
        </p:nvSpPr>
        <p:spPr>
          <a:xfrm>
            <a:off x="8503920" y="3179254"/>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142678"/>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Nothing </a:t>
            </a:r>
            <a:r>
              <a:rPr sz="1500" b="0" i="0">
                <a:solidFill>
                  <a:srgbClr val="1B1B1E"/>
                </a:solidFill>
                <a:latin typeface="Calibri"/>
              </a:rPr>
              <a:t>in the payload says the data is delayed.</a:t>
            </a:r>
          </a:p>
        </p:txBody>
      </p:sp>
      <p:sp>
        <p:nvSpPr>
          <p:cNvPr id="22" name="Rounded Rectangle 21"/>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Any freshness alert has to start from a 900-second floor, not from zero.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History stops at 8,000 candles and still says OK</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11</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andle_totals.png"/>
          <p:cNvPicPr>
            <a:picLocks noChangeAspect="1"/>
          </p:cNvPicPr>
          <p:nvPr/>
        </p:nvPicPr>
        <p:blipFill>
          <a:blip r:embed="rId2"/>
          <a:stretch>
            <a:fillRect/>
          </a:stretch>
        </p:blipFill>
        <p:spPr>
          <a:xfrm>
            <a:off x="502920" y="1733089"/>
            <a:ext cx="7589520" cy="3391821"/>
          </a:xfrm>
          <a:prstGeom prst="rect">
            <a:avLst/>
          </a:prstGeom>
        </p:spPr>
      </p:pic>
      <p:sp>
        <p:nvSpPr>
          <p:cNvPr id="16" name="Oval 15"/>
          <p:cNvSpPr/>
          <p:nvPr/>
        </p:nvSpPr>
        <p:spPr>
          <a:xfrm>
            <a:off x="8503920" y="1545336"/>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All four </a:t>
            </a:r>
            <a:r>
              <a:rPr sz="1500" b="0" i="0">
                <a:solidFill>
                  <a:srgbClr val="1B1B1E"/>
                </a:solidFill>
                <a:latin typeface="Calibri"/>
              </a:rPr>
              <a:t>1-minute series stop at 8,000 or 8,001.</a:t>
            </a:r>
          </a:p>
        </p:txBody>
      </p:sp>
      <p:sp>
        <p:nvSpPr>
          <p:cNvPr id="18" name="Oval 17"/>
          <p:cNvSpPr/>
          <p:nvPr/>
        </p:nvSpPr>
        <p:spPr>
          <a:xfrm>
            <a:off x="8503920" y="2503741"/>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467165"/>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Older window: </a:t>
            </a:r>
            <a:r>
              <a:rPr sz="1500" b="0" i="0">
                <a:solidFill>
                  <a:srgbClr val="1B1B1E"/>
                </a:solidFill>
                <a:latin typeface="Calibri"/>
              </a:rPr>
              <a:t>status OK, empty body, 15 bytes.</a:t>
            </a:r>
          </a:p>
        </p:txBody>
      </p:sp>
      <p:sp>
        <p:nvSpPr>
          <p:cNvPr id="20" name="Oval 19"/>
          <p:cNvSpPr/>
          <p:nvPr/>
        </p:nvSpPr>
        <p:spPr>
          <a:xfrm>
            <a:off x="8503920" y="3462147"/>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425571"/>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So it is retention, </a:t>
            </a:r>
            <a:r>
              <a:rPr sz="1500" b="0" i="0">
                <a:solidFill>
                  <a:srgbClr val="1B1B1E"/>
                </a:solidFill>
                <a:latin typeface="Calibri"/>
              </a:rPr>
              <a:t>not a response-size limit.</a:t>
            </a:r>
          </a:p>
        </p:txBody>
      </p:sp>
      <p:sp>
        <p:nvSpPr>
          <p:cNvPr id="22" name="Rounded Rectangle 21"/>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A two-week backtest silently loses a week. To the client it looks like a holiday.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Hourly volume breaks outside regular hours</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CAUSE OPEN</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12</a:t>
            </a:r>
          </a:p>
        </p:txBody>
      </p:sp>
      <p:sp>
        <p:nvSpPr>
          <p:cNvPr id="14" name="Rounded Rectangle 13"/>
          <p:cNvSpPr/>
          <p:nvPr/>
        </p:nvSpPr>
        <p:spPr>
          <a:xfrm>
            <a:off x="411480" y="1371600"/>
            <a:ext cx="11368735"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apl_volume_heatmap.png"/>
          <p:cNvPicPr>
            <a:picLocks noChangeAspect="1"/>
          </p:cNvPicPr>
          <p:nvPr/>
        </p:nvPicPr>
        <p:blipFill>
          <a:blip r:embed="rId2"/>
          <a:stretch>
            <a:fillRect/>
          </a:stretch>
        </p:blipFill>
        <p:spPr>
          <a:xfrm>
            <a:off x="502920" y="1475176"/>
            <a:ext cx="8229600" cy="3907647"/>
          </a:xfrm>
          <a:prstGeom prst="rect">
            <a:avLst/>
          </a:prstGeom>
        </p:spPr>
      </p:pic>
      <p:sp>
        <p:nvSpPr>
          <p:cNvPr id="16" name="Rectangle 15"/>
          <p:cNvSpPr/>
          <p:nvPr/>
        </p:nvSpPr>
        <p:spPr>
          <a:xfrm>
            <a:off x="8915400" y="1600200"/>
            <a:ext cx="27432" cy="3657600"/>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98280" y="1636776"/>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8" name="TextBox 17"/>
          <p:cNvSpPr txBox="1"/>
          <p:nvPr/>
        </p:nvSpPr>
        <p:spPr>
          <a:xfrm>
            <a:off x="9601200" y="1600200"/>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Red </a:t>
            </a:r>
            <a:r>
              <a:rPr sz="1400" b="0" i="0">
                <a:solidFill>
                  <a:srgbClr val="1B1B1E"/>
                </a:solidFill>
                <a:latin typeface="Calibri"/>
              </a:rPr>
              <a:t>= hourly bar has more volume, up to 99 %.</a:t>
            </a:r>
          </a:p>
        </p:txBody>
      </p:sp>
      <p:sp>
        <p:nvSpPr>
          <p:cNvPr id="19" name="Oval 18"/>
          <p:cNvSpPr/>
          <p:nvPr/>
        </p:nvSpPr>
        <p:spPr>
          <a:xfrm>
            <a:off x="9098280" y="2538603"/>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20" name="TextBox 19"/>
          <p:cNvSpPr txBox="1"/>
          <p:nvPr/>
        </p:nvSpPr>
        <p:spPr>
          <a:xfrm>
            <a:off x="9601200" y="2502027"/>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Boxed </a:t>
            </a:r>
            <a:r>
              <a:rPr sz="1400" b="0" i="0">
                <a:solidFill>
                  <a:srgbClr val="1B1B1E"/>
                </a:solidFill>
                <a:latin typeface="Calibri"/>
              </a:rPr>
              <a:t>regular hours are clean except one cell.</a:t>
            </a:r>
          </a:p>
        </p:txBody>
      </p:sp>
      <p:sp>
        <p:nvSpPr>
          <p:cNvPr id="21" name="Oval 20"/>
          <p:cNvSpPr/>
          <p:nvPr/>
        </p:nvSpPr>
        <p:spPr>
          <a:xfrm>
            <a:off x="9098280" y="3440430"/>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2" name="TextBox 21"/>
          <p:cNvSpPr txBox="1"/>
          <p:nvPr/>
        </p:nvSpPr>
        <p:spPr>
          <a:xfrm>
            <a:off x="9601200" y="3403854"/>
            <a:ext cx="2103120" cy="528066"/>
          </a:xfrm>
          <a:prstGeom prst="rect">
            <a:avLst/>
          </a:prstGeom>
          <a:noFill/>
        </p:spPr>
        <p:txBody>
          <a:bodyPr wrap="square" anchor="t" lIns="73152" rIns="73152" tIns="36576" bIns="36576">
            <a:spAutoFit/>
          </a:bodyPr>
          <a:lstStyle/>
          <a:p>
            <a:pPr algn="l"/>
            <a:r>
              <a:rPr sz="1400" b="1" i="0">
                <a:solidFill>
                  <a:srgbClr val="14213D"/>
                </a:solidFill>
                <a:latin typeface="Calibri"/>
              </a:rPr>
              <a:t>TSLA </a:t>
            </a:r>
            <a:r>
              <a:rPr sz="1400" b="0" i="0">
                <a:solidFill>
                  <a:srgbClr val="1B1B1E"/>
                </a:solidFill>
                <a:latin typeface="Calibri"/>
              </a:rPr>
              <a:t>shows the same shape.</a:t>
            </a:r>
          </a:p>
        </p:txBody>
      </p:sp>
      <p:sp>
        <p:nvSpPr>
          <p:cNvPr id="23" name="Oval 22"/>
          <p:cNvSpPr/>
          <p:nvPr/>
        </p:nvSpPr>
        <p:spPr>
          <a:xfrm>
            <a:off x="9098280" y="4078224"/>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4</a:t>
            </a:r>
          </a:p>
        </p:txBody>
      </p:sp>
      <p:sp>
        <p:nvSpPr>
          <p:cNvPr id="24" name="TextBox 23"/>
          <p:cNvSpPr txBox="1"/>
          <p:nvPr/>
        </p:nvSpPr>
        <p:spPr>
          <a:xfrm>
            <a:off x="9601200" y="4041648"/>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1m and 5m </a:t>
            </a:r>
            <a:r>
              <a:rPr sz="1400" b="0" i="0">
                <a:solidFill>
                  <a:srgbClr val="1B1B1E"/>
                </a:solidFill>
                <a:latin typeface="Calibri"/>
              </a:rPr>
              <a:t>agree on every complete bucket.</a:t>
            </a:r>
          </a:p>
        </p:txBody>
      </p:sp>
      <p:sp>
        <p:nvSpPr>
          <p:cNvPr id="25" name="Rounded Rectangle 24"/>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AAPL: 130 extended-hours mismatches and 1 in regular hours. TSLA: 118 + 2. Cause not proven.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Which volume is right? Not decided yet</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CAUSE OPEN</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13</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olume_reconcile.png"/>
          <p:cNvPicPr>
            <a:picLocks noChangeAspect="1"/>
          </p:cNvPicPr>
          <p:nvPr/>
        </p:nvPicPr>
        <p:blipFill>
          <a:blip r:embed="rId2"/>
          <a:stretch>
            <a:fillRect/>
          </a:stretch>
        </p:blipFill>
        <p:spPr>
          <a:xfrm>
            <a:off x="502920" y="2016433"/>
            <a:ext cx="7589520" cy="2825132"/>
          </a:xfrm>
          <a:prstGeom prst="rect">
            <a:avLst/>
          </a:prstGeom>
        </p:spPr>
      </p:pic>
      <p:sp>
        <p:nvSpPr>
          <p:cNvPr id="16" name="Oval 15"/>
          <p:cNvSpPr/>
          <p:nvPr/>
        </p:nvSpPr>
        <p:spPr>
          <a:xfrm>
            <a:off x="8503920" y="1545336"/>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14 Oct daily candle: </a:t>
            </a:r>
            <a:r>
              <a:rPr sz="1500" b="0" i="0">
                <a:solidFill>
                  <a:srgbClr val="1B1B1E"/>
                </a:solidFill>
                <a:latin typeface="Calibri"/>
              </a:rPr>
              <a:t>hourly −0.13 %, 1-minute −0.15 %.</a:t>
            </a:r>
          </a:p>
        </p:txBody>
      </p:sp>
      <p:sp>
        <p:nvSpPr>
          <p:cNvPr id="18" name="Oval 17"/>
          <p:cNvSpPr/>
          <p:nvPr/>
        </p:nvSpPr>
        <p:spPr>
          <a:xfrm>
            <a:off x="8503920" y="2503741"/>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467165"/>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Hourly </a:t>
            </a:r>
            <a:r>
              <a:rPr sz="1500" b="0" i="0">
                <a:solidFill>
                  <a:srgbClr val="1B1B1E"/>
                </a:solidFill>
                <a:latin typeface="Calibri"/>
              </a:rPr>
              <a:t>is never below 1-minute on any day.</a:t>
            </a:r>
          </a:p>
        </p:txBody>
      </p:sp>
      <p:sp>
        <p:nvSpPr>
          <p:cNvPr id="20" name="Oval 19"/>
          <p:cNvSpPr/>
          <p:nvPr/>
        </p:nvSpPr>
        <p:spPr>
          <a:xfrm>
            <a:off x="8503920" y="3179254"/>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142678"/>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One day </a:t>
            </a:r>
            <a:r>
              <a:rPr sz="1500" b="0" i="0">
                <a:solidFill>
                  <a:srgbClr val="1B1B1E"/>
                </a:solidFill>
                <a:latin typeface="Calibri"/>
              </a:rPr>
              <a:t>is not enough to pick a reference.</a:t>
            </a:r>
          </a:p>
        </p:txBody>
      </p:sp>
      <p:sp>
        <p:nvSpPr>
          <p:cNvPr id="22" name="Rounded Rectangle 21"/>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What I would tell a client: we are confirming which series is the reference. No workaround yet.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Prices are almost, not perfectly, consistent</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CORRECTED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14</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ohlc_mismatches.png"/>
          <p:cNvPicPr>
            <a:picLocks noChangeAspect="1"/>
          </p:cNvPicPr>
          <p:nvPr/>
        </p:nvPicPr>
        <p:blipFill>
          <a:blip r:embed="rId2"/>
          <a:stretch>
            <a:fillRect/>
          </a:stretch>
        </p:blipFill>
        <p:spPr>
          <a:xfrm>
            <a:off x="502920" y="1931180"/>
            <a:ext cx="7589520" cy="2995638"/>
          </a:xfrm>
          <a:prstGeom prst="rect">
            <a:avLst/>
          </a:prstGeom>
        </p:spPr>
      </p:pic>
      <p:sp>
        <p:nvSpPr>
          <p:cNvPr id="16" name="Oval 15"/>
          <p:cNvSpPr/>
          <p:nvPr/>
        </p:nvSpPr>
        <p:spPr>
          <a:xfrm>
            <a:off x="8503920" y="1545336"/>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6 hourly candles </a:t>
            </a:r>
            <a:r>
              <a:rPr sz="1500" b="0" i="0">
                <a:solidFill>
                  <a:srgbClr val="1B1B1E"/>
                </a:solidFill>
                <a:latin typeface="Calibri"/>
              </a:rPr>
              <a:t>differ from their 5-minute rebuild.</a:t>
            </a:r>
          </a:p>
        </p:txBody>
      </p:sp>
      <p:sp>
        <p:nvSpPr>
          <p:cNvPr id="18" name="Oval 17"/>
          <p:cNvSpPr/>
          <p:nvPr/>
        </p:nvSpPr>
        <p:spPr>
          <a:xfrm>
            <a:off x="8503920" y="2503741"/>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467165"/>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3 </a:t>
            </a:r>
            <a:r>
              <a:rPr sz="1500" b="0" i="0">
                <a:solidFill>
                  <a:srgbClr val="1B1B1E"/>
                </a:solidFill>
                <a:latin typeface="Calibri"/>
              </a:rPr>
              <a:t>are the bar still forming at fetch time.</a:t>
            </a:r>
          </a:p>
        </p:txBody>
      </p:sp>
      <p:sp>
        <p:nvSpPr>
          <p:cNvPr id="20" name="Oval 19"/>
          <p:cNvSpPr/>
          <p:nvPr/>
        </p:nvSpPr>
        <p:spPr>
          <a:xfrm>
            <a:off x="8503920" y="3179254"/>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142678"/>
            <a:ext cx="2773375" cy="565785"/>
          </a:xfrm>
          <a:prstGeom prst="rect">
            <a:avLst/>
          </a:prstGeom>
          <a:noFill/>
        </p:spPr>
        <p:txBody>
          <a:bodyPr wrap="square" anchor="t" lIns="73152" rIns="73152" tIns="36576" bIns="36576">
            <a:spAutoFit/>
          </a:bodyPr>
          <a:lstStyle/>
          <a:p>
            <a:pPr algn="l"/>
            <a:r>
              <a:rPr sz="1500" b="1" i="0">
                <a:solidFill>
                  <a:srgbClr val="14213D"/>
                </a:solidFill>
                <a:latin typeface="Calibri"/>
              </a:rPr>
              <a:t>3 </a:t>
            </a:r>
            <a:r>
              <a:rPr sz="1500" b="0" i="0">
                <a:solidFill>
                  <a:srgbClr val="1B1B1E"/>
                </a:solidFill>
                <a:latin typeface="Calibri"/>
              </a:rPr>
              <a:t>are complete hours. Largest gap 0.023 %.</a:t>
            </a:r>
          </a:p>
        </p:txBody>
      </p:sp>
      <p:sp>
        <p:nvSpPr>
          <p:cNvPr id="22" name="Rounded Rectangle 21"/>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I first wrote 'OHLC always agrees'. It doesn't. The gaps are tiny, but real.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EUR/USD prints 50 candles while FX is closed</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CORRECTED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15</a:t>
            </a:r>
          </a:p>
        </p:txBody>
      </p:sp>
      <p:sp>
        <p:nvSpPr>
          <p:cNvPr id="14" name="Rounded Rectangle 13"/>
          <p:cNvSpPr/>
          <p:nvPr/>
        </p:nvSpPr>
        <p:spPr>
          <a:xfrm>
            <a:off x="411480" y="1371600"/>
            <a:ext cx="7772400"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x_outside_session.png"/>
          <p:cNvPicPr>
            <a:picLocks noChangeAspect="1"/>
          </p:cNvPicPr>
          <p:nvPr/>
        </p:nvPicPr>
        <p:blipFill>
          <a:blip r:embed="rId2"/>
          <a:stretch>
            <a:fillRect/>
          </a:stretch>
        </p:blipFill>
        <p:spPr>
          <a:xfrm>
            <a:off x="502920" y="1833110"/>
            <a:ext cx="7589520" cy="3191779"/>
          </a:xfrm>
          <a:prstGeom prst="rect">
            <a:avLst/>
          </a:prstGeom>
        </p:spPr>
      </p:pic>
      <p:sp>
        <p:nvSpPr>
          <p:cNvPr id="16" name="Oval 15"/>
          <p:cNvSpPr/>
          <p:nvPr/>
        </p:nvSpPr>
        <p:spPr>
          <a:xfrm>
            <a:off x="8503920" y="1545336"/>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7" name="TextBox 16"/>
          <p:cNvSpPr txBox="1"/>
          <p:nvPr/>
        </p:nvSpPr>
        <p:spPr>
          <a:xfrm>
            <a:off x="9006840" y="1508760"/>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7 </a:t>
            </a:r>
            <a:r>
              <a:rPr sz="1500" b="0" i="0">
                <a:solidFill>
                  <a:srgbClr val="1B1B1E"/>
                </a:solidFill>
                <a:latin typeface="Calibri"/>
              </a:rPr>
              <a:t>after the Friday close, 0 Saturday, 43 Sunday early.</a:t>
            </a:r>
          </a:p>
        </p:txBody>
      </p:sp>
      <p:sp>
        <p:nvSpPr>
          <p:cNvPr id="18" name="Oval 17"/>
          <p:cNvSpPr/>
          <p:nvPr/>
        </p:nvSpPr>
        <p:spPr>
          <a:xfrm>
            <a:off x="8503920" y="2503741"/>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19" name="TextBox 18"/>
          <p:cNvSpPr txBox="1"/>
          <p:nvPr/>
        </p:nvSpPr>
        <p:spPr>
          <a:xfrm>
            <a:off x="9006840" y="2467165"/>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170 </a:t>
            </a:r>
            <a:r>
              <a:rPr sz="1500" b="0" i="0">
                <a:solidFill>
                  <a:srgbClr val="1B1B1E"/>
                </a:solidFill>
                <a:latin typeface="Calibri"/>
              </a:rPr>
              <a:t>Sunday-evening candles are the normal reopen.</a:t>
            </a:r>
          </a:p>
        </p:txBody>
      </p:sp>
      <p:sp>
        <p:nvSpPr>
          <p:cNvPr id="20" name="Oval 19"/>
          <p:cNvSpPr/>
          <p:nvPr/>
        </p:nvSpPr>
        <p:spPr>
          <a:xfrm>
            <a:off x="8503920" y="3462147"/>
            <a:ext cx="384048" cy="384048"/>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1" name="TextBox 20"/>
          <p:cNvSpPr txBox="1"/>
          <p:nvPr/>
        </p:nvSpPr>
        <p:spPr>
          <a:xfrm>
            <a:off x="9006840" y="3425571"/>
            <a:ext cx="2773375" cy="848677"/>
          </a:xfrm>
          <a:prstGeom prst="rect">
            <a:avLst/>
          </a:prstGeom>
          <a:noFill/>
        </p:spPr>
        <p:txBody>
          <a:bodyPr wrap="square" anchor="t" lIns="73152" rIns="73152" tIns="36576" bIns="36576">
            <a:spAutoFit/>
          </a:bodyPr>
          <a:lstStyle/>
          <a:p>
            <a:pPr algn="l"/>
            <a:r>
              <a:rPr sz="1500" b="1" i="0">
                <a:solidFill>
                  <a:srgbClr val="14213D"/>
                </a:solidFill>
                <a:latin typeface="Calibri"/>
              </a:rPr>
              <a:t>ES futures: </a:t>
            </a:r>
            <a:r>
              <a:rPr sz="1500" b="0" i="0">
                <a:solidFill>
                  <a:srgbClr val="1B1B1E"/>
                </a:solidFill>
                <a:latin typeface="Calibri"/>
              </a:rPr>
              <a:t>0 outside session, so the method works.</a:t>
            </a:r>
          </a:p>
        </p:txBody>
      </p:sp>
      <p:sp>
        <p:nvSpPr>
          <p:cNvPr id="22" name="Rounded Rectangle 21"/>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I first counted 214 by UTC weekday. Against the real FX session it is 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0F8B8D"/>
                </a:solidFill>
                <a:latin typeface="Calibri"/>
              </a:rPr>
              <a:t>DATA CONSISTENCY</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Small things that turn into tickets</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16</a:t>
            </a:r>
          </a:p>
        </p:txBody>
      </p:sp>
      <p:graphicFrame>
        <p:nvGraphicFramePr>
          <p:cNvPr id="14" name="Table 13"/>
          <p:cNvGraphicFramePr>
            <a:graphicFrameLocks noGrp="1"/>
          </p:cNvGraphicFramePr>
          <p:nvPr/>
        </p:nvGraphicFramePr>
        <p:xfrm>
          <a:off x="502920" y="1463040"/>
          <a:ext cx="11183112" cy="4023360"/>
        </p:xfrm>
        <a:graphic>
          <a:graphicData uri="http://schemas.openxmlformats.org/drawingml/2006/table">
            <a:tbl>
              <a:tblPr firstRow="1" bandRow="1">
                <a:tableStyleId>{5C22544A-7EE6-4342-B048-85BDC9FD1C3A}</a:tableStyleId>
              </a:tblPr>
              <a:tblGrid>
                <a:gridCol w="2651760"/>
                <a:gridCol w="5120640"/>
                <a:gridCol w="3410712"/>
              </a:tblGrid>
              <a:tr h="502920">
                <a:tc>
                  <a:txBody>
                    <a:bodyPr wrap="square" anchor="t" lIns="73152" rIns="73152" tIns="36576" bIns="36576"/>
                    <a:lstStyle/>
                    <a:p>
                      <a:pPr algn="l"/>
                      <a:r>
                        <a:rPr sz="1400" b="1" i="0">
                          <a:solidFill>
                            <a:srgbClr val="FFFFFF"/>
                          </a:solidFill>
                          <a:latin typeface="Calibri"/>
                        </a:rPr>
                        <a:t>Where</a:t>
                      </a:r>
                    </a:p>
                  </a:txBody>
                  <a:tcPr>
                    <a:solidFill>
                      <a:srgbClr val="14213D"/>
                    </a:solidFill>
                  </a:tcPr>
                </a:tc>
                <a:tc>
                  <a:txBody>
                    <a:bodyPr wrap="square" anchor="t" lIns="73152" rIns="73152" tIns="36576" bIns="36576"/>
                    <a:lstStyle/>
                    <a:p>
                      <a:pPr algn="l"/>
                      <a:r>
                        <a:rPr sz="1400" b="1" i="0">
                          <a:solidFill>
                            <a:srgbClr val="FFFFFF"/>
                          </a:solidFill>
                          <a:latin typeface="Calibri"/>
                        </a:rPr>
                        <a:t>What happens</a:t>
                      </a:r>
                    </a:p>
                  </a:txBody>
                  <a:tcPr>
                    <a:solidFill>
                      <a:srgbClr val="14213D"/>
                    </a:solidFill>
                  </a:tcPr>
                </a:tc>
                <a:tc>
                  <a:txBody>
                    <a:bodyPr wrap="square" anchor="t" lIns="73152" rIns="73152" tIns="36576" bIns="36576"/>
                    <a:lstStyle/>
                    <a:p>
                      <a:pPr algn="l"/>
                      <a:r>
                        <a:rPr sz="1400" b="1" i="0">
                          <a:solidFill>
                            <a:srgbClr val="FFFFFF"/>
                          </a:solidFill>
                          <a:latin typeface="Calibri"/>
                        </a:rPr>
                        <a:t>What the client sees</a:t>
                      </a:r>
                    </a:p>
                  </a:txBody>
                  <a:tcPr>
                    <a:solidFill>
                      <a:srgbClr val="14213D"/>
                    </a:solidFill>
                  </a:tcPr>
                </a:tc>
              </a:tr>
              <a:tr h="502920">
                <a:tc>
                  <a:txBody>
                    <a:bodyPr wrap="square" anchor="t" lIns="73152" rIns="73152" tIns="36576" bIns="36576"/>
                    <a:lstStyle/>
                    <a:p>
                      <a:pPr algn="l"/>
                      <a:r>
                        <a:rPr sz="1400" b="1" i="0">
                          <a:solidFill>
                            <a:srgbClr val="14213D"/>
                          </a:solidFill>
                          <a:latin typeface="Calibri"/>
                        </a:rPr>
                        <a:t>EUR/USD{=1m}</a:t>
                      </a:r>
                    </a:p>
                  </a:txBody>
                  <a:tcPr>
                    <a:solidFill>
                      <a:srgbClr val="FFFFFF"/>
                    </a:solidFill>
                  </a:tcPr>
                </a:tc>
                <a:tc>
                  <a:txBody>
                    <a:bodyPr wrap="square" anchor="t" lIns="73152" rIns="73152" tIns="36576" bIns="36576"/>
                    <a:lstStyle/>
                    <a:p>
                      <a:pPr algn="l"/>
                      <a:r>
                        <a:rPr sz="1400" b="0" i="0">
                          <a:solidFill>
                            <a:srgbClr val="1B1B1E"/>
                          </a:solidFill>
                          <a:latin typeface="Calibri"/>
                        </a:rPr>
                        <a:t>OK, no candles. Only price=bid works</a:t>
                      </a:r>
                    </a:p>
                  </a:txBody>
                  <a:tcPr>
                    <a:solidFill>
                      <a:srgbClr val="FFFFFF"/>
                    </a:solidFill>
                  </a:tcPr>
                </a:tc>
                <a:tc>
                  <a:txBody>
                    <a:bodyPr wrap="square" anchor="t" lIns="73152" rIns="73152" tIns="36576" bIns="36576"/>
                    <a:lstStyle/>
                    <a:p>
                      <a:pPr algn="l"/>
                      <a:r>
                        <a:rPr sz="1400" b="0" i="0">
                          <a:solidFill>
                            <a:srgbClr val="E76F51"/>
                          </a:solidFill>
                          <a:latin typeface="Calibri"/>
                        </a:rPr>
                        <a:t>Silent empty result</a:t>
                      </a:r>
                    </a:p>
                  </a:txBody>
                  <a:tcPr>
                    <a:solidFill>
                      <a:srgbClr val="FFFFFF"/>
                    </a:solidFill>
                  </a:tcPr>
                </a:tc>
              </a:tr>
              <a:tr h="502920">
                <a:tc>
                  <a:txBody>
                    <a:bodyPr wrap="square" anchor="t" lIns="73152" rIns="73152" tIns="36576" bIns="36576"/>
                    <a:lstStyle/>
                    <a:p>
                      <a:pPr algn="l"/>
                      <a:r>
                        <a:rPr sz="1400" b="1" i="0">
                          <a:solidFill>
                            <a:srgbClr val="14213D"/>
                          </a:solidFill>
                          <a:latin typeface="Calibri"/>
                        </a:rPr>
                        <a:t>Daily candle</a:t>
                      </a:r>
                    </a:p>
                  </a:txBody>
                  <a:tcPr>
                    <a:solidFill>
                      <a:srgbClr val="EEF2F7"/>
                    </a:solidFill>
                  </a:tcPr>
                </a:tc>
                <a:tc>
                  <a:txBody>
                    <a:bodyPr wrap="square" anchor="t" lIns="73152" rIns="73152" tIns="36576" bIns="36576"/>
                    <a:lstStyle/>
                    <a:p>
                      <a:pPr algn="l"/>
                      <a:r>
                        <a:rPr sz="1400" b="0" i="0">
                          <a:solidFill>
                            <a:srgbClr val="1B1B1E"/>
                          </a:solidFill>
                          <a:latin typeface="Calibri"/>
                        </a:rPr>
                        <a:t>Stamped 00:00 UTC = 20:00 ET the day before</a:t>
                      </a:r>
                    </a:p>
                  </a:txBody>
                  <a:tcPr>
                    <a:solidFill>
                      <a:srgbClr val="EEF2F7"/>
                    </a:solidFill>
                  </a:tcPr>
                </a:tc>
                <a:tc>
                  <a:txBody>
                    <a:bodyPr wrap="square" anchor="t" lIns="73152" rIns="73152" tIns="36576" bIns="36576"/>
                    <a:lstStyle/>
                    <a:p>
                      <a:pPr algn="l"/>
                      <a:r>
                        <a:rPr sz="1400" b="0" i="0">
                          <a:solidFill>
                            <a:srgbClr val="E76F51"/>
                          </a:solidFill>
                          <a:latin typeface="Calibri"/>
                        </a:rPr>
                        <a:t>Wrong date once shown in ET</a:t>
                      </a:r>
                    </a:p>
                  </a:txBody>
                  <a:tcPr>
                    <a:solidFill>
                      <a:srgbClr val="EEF2F7"/>
                    </a:solidFill>
                  </a:tcPr>
                </a:tc>
              </a:tr>
              <a:tr h="502920">
                <a:tc>
                  <a:txBody>
                    <a:bodyPr wrap="square" anchor="t" lIns="73152" rIns="73152" tIns="36576" bIns="36576"/>
                    <a:lstStyle/>
                    <a:p>
                      <a:pPr algn="l"/>
                      <a:r>
                        <a:rPr sz="1400" b="1" i="0">
                          <a:solidFill>
                            <a:srgbClr val="14213D"/>
                          </a:solidFill>
                          <a:latin typeface="Calibri"/>
                        </a:rPr>
                        <a:t>toTime</a:t>
                      </a:r>
                    </a:p>
                  </a:txBody>
                  <a:tcPr>
                    <a:solidFill>
                      <a:srgbClr val="FFFFFF"/>
                    </a:solidFill>
                  </a:tcPr>
                </a:tc>
                <a:tc>
                  <a:txBody>
                    <a:bodyPr wrap="square" anchor="t" lIns="73152" rIns="73152" tIns="36576" bIns="36576"/>
                    <a:lstStyle/>
                    <a:p>
                      <a:pPr algn="l"/>
                      <a:r>
                        <a:rPr sz="1400" b="0" i="0">
                          <a:solidFill>
                            <a:srgbClr val="1B1B1E"/>
                          </a:solidFill>
                          <a:latin typeface="Calibri"/>
                        </a:rPr>
                        <a:t>Inclusive: 60 minutes returns 61 candles</a:t>
                      </a:r>
                    </a:p>
                  </a:txBody>
                  <a:tcPr>
                    <a:solidFill>
                      <a:srgbClr val="FFFFFF"/>
                    </a:solidFill>
                  </a:tcPr>
                </a:tc>
                <a:tc>
                  <a:txBody>
                    <a:bodyPr wrap="square" anchor="t" lIns="73152" rIns="73152" tIns="36576" bIns="36576"/>
                    <a:lstStyle/>
                    <a:p>
                      <a:pPr algn="l"/>
                      <a:r>
                        <a:rPr sz="1400" b="0" i="0">
                          <a:solidFill>
                            <a:srgbClr val="E76F51"/>
                          </a:solidFill>
                          <a:latin typeface="Calibri"/>
                        </a:rPr>
                        <a:t>Duplicates at chunk edges</a:t>
                      </a:r>
                    </a:p>
                  </a:txBody>
                  <a:tcPr>
                    <a:solidFill>
                      <a:srgbClr val="FFFFFF"/>
                    </a:solidFill>
                  </a:tcPr>
                </a:tc>
              </a:tr>
              <a:tr h="502920">
                <a:tc>
                  <a:txBody>
                    <a:bodyPr wrap="square" anchor="t" lIns="73152" rIns="73152" tIns="36576" bIns="36576"/>
                    <a:lstStyle/>
                    <a:p>
                      <a:pPr algn="l"/>
                      <a:r>
                        <a:rPr sz="1400" b="1" i="0">
                          <a:solidFill>
                            <a:srgbClr val="14213D"/>
                          </a:solidFill>
                          <a:latin typeface="Calibri"/>
                        </a:rPr>
                        <a:t>Unknown symbol</a:t>
                      </a:r>
                    </a:p>
                  </a:txBody>
                  <a:tcPr>
                    <a:solidFill>
                      <a:srgbClr val="EEF2F7"/>
                    </a:solidFill>
                  </a:tcPr>
                </a:tc>
                <a:tc>
                  <a:txBody>
                    <a:bodyPr wrap="square" anchor="t" lIns="73152" rIns="73152" tIns="36576" bIns="36576"/>
                    <a:lstStyle/>
                    <a:p>
                      <a:pPr algn="l"/>
                      <a:r>
                        <a:rPr sz="1400" b="0" i="0">
                          <a:solidFill>
                            <a:srgbClr val="1B1B1E"/>
                          </a:solidFill>
                          <a:latin typeface="Calibri"/>
                        </a:rPr>
                        <a:t>HTTP 200 + TIMED_OUT after 3.3 s (29 s under load)</a:t>
                      </a:r>
                    </a:p>
                  </a:txBody>
                  <a:tcPr>
                    <a:solidFill>
                      <a:srgbClr val="EEF2F7"/>
                    </a:solidFill>
                  </a:tcPr>
                </a:tc>
                <a:tc>
                  <a:txBody>
                    <a:bodyPr wrap="square" anchor="t" lIns="73152" rIns="73152" tIns="36576" bIns="36576"/>
                    <a:lstStyle/>
                    <a:p>
                      <a:pPr algn="l"/>
                      <a:r>
                        <a:rPr sz="1400" b="0" i="0">
                          <a:solidFill>
                            <a:srgbClr val="E76F51"/>
                          </a:solidFill>
                          <a:latin typeface="Calibri"/>
                        </a:rPr>
                        <a:t>Looks like success, slows everything</a:t>
                      </a:r>
                    </a:p>
                  </a:txBody>
                  <a:tcPr>
                    <a:solidFill>
                      <a:srgbClr val="EEF2F7"/>
                    </a:solidFill>
                  </a:tcPr>
                </a:tc>
              </a:tr>
              <a:tr h="502920">
                <a:tc>
                  <a:txBody>
                    <a:bodyPr wrap="square" anchor="t" lIns="73152" rIns="73152" tIns="36576" bIns="36576"/>
                    <a:lstStyle/>
                    <a:p>
                      <a:pPr algn="l"/>
                      <a:r>
                        <a:rPr sz="1400" b="1" i="0">
                          <a:solidFill>
                            <a:srgbClr val="14213D"/>
                          </a:solidFill>
                          <a:latin typeface="Calibri"/>
                        </a:rPr>
                        <a:t>Forming candle</a:t>
                      </a:r>
                    </a:p>
                  </a:txBody>
                  <a:tcPr>
                    <a:solidFill>
                      <a:srgbClr val="FFFFFF"/>
                    </a:solidFill>
                  </a:tcPr>
                </a:tc>
                <a:tc>
                  <a:txBody>
                    <a:bodyPr wrap="square" anchor="t" lIns="73152" rIns="73152" tIns="36576" bIns="36576"/>
                    <a:lstStyle/>
                    <a:p>
                      <a:pPr algn="l"/>
                      <a:r>
                        <a:rPr sz="1400" b="0" i="0">
                          <a:solidFill>
                            <a:srgbClr val="1B1B1E"/>
                          </a:solidFill>
                          <a:latin typeface="Calibri"/>
                        </a:rPr>
                        <a:t>No flag on it (eventFlags = 0)</a:t>
                      </a:r>
                    </a:p>
                  </a:txBody>
                  <a:tcPr>
                    <a:solidFill>
                      <a:srgbClr val="FFFFFF"/>
                    </a:solidFill>
                  </a:tcPr>
                </a:tc>
                <a:tc>
                  <a:txBody>
                    <a:bodyPr wrap="square" anchor="t" lIns="73152" rIns="73152" tIns="36576" bIns="36576"/>
                    <a:lstStyle/>
                    <a:p>
                      <a:pPr algn="l"/>
                      <a:r>
                        <a:rPr sz="1400" b="0" i="0">
                          <a:solidFill>
                            <a:srgbClr val="E76F51"/>
                          </a:solidFill>
                          <a:latin typeface="Calibri"/>
                        </a:rPr>
                        <a:t>Client stores a bar that changes</a:t>
                      </a:r>
                    </a:p>
                  </a:txBody>
                  <a:tcPr>
                    <a:solidFill>
                      <a:srgbClr val="FFFFFF"/>
                    </a:solidFill>
                  </a:tcPr>
                </a:tc>
              </a:tr>
              <a:tr h="502920">
                <a:tc>
                  <a:txBody>
                    <a:bodyPr wrap="square" anchor="t" lIns="73152" rIns="73152" tIns="36576" bIns="36576"/>
                    <a:lstStyle/>
                    <a:p>
                      <a:pPr algn="l"/>
                      <a:r>
                        <a:rPr sz="1400" b="1" i="0">
                          <a:solidFill>
                            <a:srgbClr val="14213D"/>
                          </a:solidFill>
                          <a:latin typeface="Calibri"/>
                        </a:rPr>
                        <a:t>SSE in delay window</a:t>
                      </a:r>
                    </a:p>
                  </a:txBody>
                  <a:tcPr>
                    <a:solidFill>
                      <a:srgbClr val="EEF2F7"/>
                    </a:solidFill>
                  </a:tcPr>
                </a:tc>
                <a:tc>
                  <a:txBody>
                    <a:bodyPr wrap="square" anchor="t" lIns="73152" rIns="73152" tIns="36576" bIns="36576"/>
                    <a:lstStyle/>
                    <a:p>
                      <a:pPr algn="l"/>
                      <a:r>
                        <a:rPr sz="1400" b="0" i="0">
                          <a:solidFill>
                            <a:srgbClr val="1B1B1E"/>
                          </a:solidFill>
                          <a:latin typeface="Calibri"/>
                        </a:rPr>
                        <a:t>NaN candles dated 2038-01-19</a:t>
                      </a:r>
                    </a:p>
                  </a:txBody>
                  <a:tcPr>
                    <a:solidFill>
                      <a:srgbClr val="EEF2F7"/>
                    </a:solidFill>
                  </a:tcPr>
                </a:tc>
                <a:tc>
                  <a:txBody>
                    <a:bodyPr wrap="square" anchor="t" lIns="73152" rIns="73152" tIns="36576" bIns="36576"/>
                    <a:lstStyle/>
                    <a:p>
                      <a:pPr algn="l"/>
                      <a:r>
                        <a:rPr sz="1400" b="0" i="0">
                          <a:solidFill>
                            <a:srgbClr val="E76F51"/>
                          </a:solidFill>
                          <a:latin typeface="Calibri"/>
                        </a:rPr>
                        <a:t>Parsers store garbage</a:t>
                      </a:r>
                    </a:p>
                  </a:txBody>
                  <a:tcPr>
                    <a:solidFill>
                      <a:srgbClr val="EEF2F7"/>
                    </a:solidFill>
                  </a:tcPr>
                </a:tc>
              </a:tr>
              <a:tr h="502920">
                <a:tc>
                  <a:txBody>
                    <a:bodyPr wrap="square" anchor="t" lIns="73152" rIns="73152" tIns="36576" bIns="36576"/>
                    <a:lstStyle/>
                    <a:p>
                      <a:pPr algn="l"/>
                      <a:r>
                        <a:rPr sz="1400" b="1" i="0">
                          <a:solidFill>
                            <a:srgbClr val="14213D"/>
                          </a:solidFill>
                          <a:latin typeface="Calibri"/>
                        </a:rPr>
                        <a:t>Radar vs REST</a:t>
                      </a:r>
                    </a:p>
                  </a:txBody>
                  <a:tcPr>
                    <a:solidFill>
                      <a:srgbClr val="FFFFFF"/>
                    </a:solidFill>
                  </a:tcPr>
                </a:tc>
                <a:tc>
                  <a:txBody>
                    <a:bodyPr wrap="square" anchor="t" lIns="73152" rIns="73152" tIns="36576" bIns="36576"/>
                    <a:lstStyle/>
                    <a:p>
                      <a:pPr algn="l"/>
                      <a:r>
                        <a:rPr sz="1400" b="0" i="0">
                          <a:solidFill>
                            <a:srgbClr val="1B1B1E"/>
                          </a:solidFill>
                          <a:latin typeface="Calibri"/>
                        </a:rPr>
                        <a:t>Radar shows NVDA, REST times it out</a:t>
                      </a:r>
                    </a:p>
                  </a:txBody>
                  <a:tcPr>
                    <a:solidFill>
                      <a:srgbClr val="FFFFFF"/>
                    </a:solidFill>
                  </a:tcPr>
                </a:tc>
                <a:tc>
                  <a:txBody>
                    <a:bodyPr wrap="square" anchor="t" lIns="73152" rIns="73152" tIns="36576" bIns="36576"/>
                    <a:lstStyle/>
                    <a:p>
                      <a:pPr algn="l"/>
                      <a:r>
                        <a:rPr sz="1400" b="0" i="0">
                          <a:solidFill>
                            <a:srgbClr val="E76F51"/>
                          </a:solidFill>
                          <a:latin typeface="Calibri"/>
                        </a:rPr>
                        <a:t>'But it works in Radar'</a:t>
                      </a:r>
                    </a:p>
                  </a:txBody>
                  <a:tcPr>
                    <a:solidFill>
                      <a:srgbClr val="FFFFFF"/>
                    </a:solidFill>
                  </a:tcPr>
                </a:tc>
              </a:tr>
            </a:tbl>
          </a:graphicData>
        </a:graphic>
      </p:graphicFrame>
      <p:sp>
        <p:nvSpPr>
          <p:cNvPr id="15" name="Rounded Rectangle 14"/>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None of these is an error. Each one cost me an experiment, so each will cost a client a ticket.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3657600" cy="1280160"/>
          </a:xfrm>
          <a:prstGeom prst="rect">
            <a:avLst/>
          </a:prstGeom>
          <a:noFill/>
        </p:spPr>
        <p:txBody>
          <a:bodyPr wrap="square" anchor="t" lIns="73152" rIns="73152" tIns="36576" bIns="36576">
            <a:spAutoFit/>
          </a:bodyPr>
          <a:lstStyle/>
          <a:p>
            <a:pPr algn="l"/>
            <a:r>
              <a:rPr sz="9600" b="1" i="0">
                <a:solidFill>
                  <a:srgbClr val="E76F51"/>
                </a:solidFill>
                <a:latin typeface="Calibri"/>
              </a:rPr>
              <a:t>03</a:t>
            </a:r>
          </a:p>
        </p:txBody>
      </p:sp>
      <p:sp>
        <p:nvSpPr>
          <p:cNvPr id="5" name="TextBox 4"/>
          <p:cNvSpPr txBox="1"/>
          <p:nvPr/>
        </p:nvSpPr>
        <p:spPr>
          <a:xfrm>
            <a:off x="822960" y="2788920"/>
            <a:ext cx="10058400" cy="822960"/>
          </a:xfrm>
          <a:prstGeom prst="rect">
            <a:avLst/>
          </a:prstGeom>
          <a:noFill/>
        </p:spPr>
        <p:txBody>
          <a:bodyPr wrap="square" anchor="t" lIns="73152" rIns="73152" tIns="36576" bIns="36576">
            <a:spAutoFit/>
          </a:bodyPr>
          <a:lstStyle/>
          <a:p>
            <a:pPr algn="l"/>
            <a:r>
              <a:rPr sz="4400" b="1" i="0">
                <a:solidFill>
                  <a:srgbClr val="FFFFFF"/>
                </a:solidFill>
                <a:latin typeface="Calibri"/>
              </a:rPr>
              <a:t>Behaviour under load</a:t>
            </a:r>
          </a:p>
        </p:txBody>
      </p:sp>
      <p:sp>
        <p:nvSpPr>
          <p:cNvPr id="6" name="TextBox 5"/>
          <p:cNvSpPr txBox="1"/>
          <p:nvPr/>
        </p:nvSpPr>
        <p:spPr>
          <a:xfrm>
            <a:off x="822960" y="3657600"/>
            <a:ext cx="10058400" cy="822960"/>
          </a:xfrm>
          <a:prstGeom prst="rect">
            <a:avLst/>
          </a:prstGeom>
          <a:noFill/>
        </p:spPr>
        <p:txBody>
          <a:bodyPr wrap="square" anchor="t" lIns="73152" rIns="73152" tIns="36576" bIns="36576">
            <a:spAutoFit/>
          </a:bodyPr>
          <a:lstStyle/>
          <a:p>
            <a:pPr algn="l"/>
            <a:r>
              <a:rPr sz="2000" b="0" i="0">
                <a:solidFill>
                  <a:srgbClr val="C9D6E8"/>
                </a:solidFill>
                <a:latin typeface="Calibri"/>
              </a:rPr>
              <a:t>What happens when one client adds parallel requests</a:t>
            </a:r>
          </a:p>
        </p:txBody>
      </p:sp>
      <p:sp>
        <p:nvSpPr>
          <p:cNvPr id="7" name="Rectangle 6"/>
          <p:cNvSpPr/>
          <p:nvPr/>
        </p:nvSpPr>
        <p:spPr>
          <a:xfrm>
            <a:off x="822960" y="5120640"/>
            <a:ext cx="1325880" cy="9144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0280" y="5120640"/>
            <a:ext cx="1325880" cy="914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0" y="5120640"/>
            <a:ext cx="1325880" cy="914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74920" y="5120640"/>
            <a:ext cx="1325880" cy="91440"/>
          </a:xfrm>
          <a:prstGeom prst="rect">
            <a:avLst/>
          </a:prstGeom>
          <a:solidFill>
            <a:srgbClr val="334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349240"/>
            <a:ext cx="5486400" cy="365760"/>
          </a:xfrm>
          <a:prstGeom prst="rect">
            <a:avLst/>
          </a:prstGeom>
          <a:noFill/>
        </p:spPr>
        <p:txBody>
          <a:bodyPr wrap="square" anchor="t" lIns="73152" rIns="73152" tIns="36576" bIns="36576">
            <a:spAutoFit/>
          </a:bodyPr>
          <a:lstStyle/>
          <a:p>
            <a:pPr algn="l"/>
            <a:r>
              <a:rPr sz="1400" b="0" i="0">
                <a:solidFill>
                  <a:srgbClr val="C9D6E8"/>
                </a:solidFill>
                <a:latin typeface="Calibri"/>
              </a:rPr>
              <a:t>about 9 minutes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E76F51"/>
                </a:solidFill>
                <a:latin typeface="Calibri"/>
              </a:rPr>
              <a:t>BEHAVIOUR UNDER LOAD</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More workers did not buy more throughput</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CORRECTED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18</a:t>
            </a:r>
          </a:p>
        </p:txBody>
      </p:sp>
      <p:sp>
        <p:nvSpPr>
          <p:cNvPr id="14" name="Rounded Rectangle 13"/>
          <p:cNvSpPr/>
          <p:nvPr/>
        </p:nvSpPr>
        <p:spPr>
          <a:xfrm>
            <a:off x="411480" y="1371600"/>
            <a:ext cx="11368735" cy="41148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oad_two_panel.png"/>
          <p:cNvPicPr>
            <a:picLocks noChangeAspect="1"/>
          </p:cNvPicPr>
          <p:nvPr/>
        </p:nvPicPr>
        <p:blipFill>
          <a:blip r:embed="rId2"/>
          <a:stretch>
            <a:fillRect/>
          </a:stretch>
        </p:blipFill>
        <p:spPr>
          <a:xfrm>
            <a:off x="502920" y="1937703"/>
            <a:ext cx="8229600" cy="2982592"/>
          </a:xfrm>
          <a:prstGeom prst="rect">
            <a:avLst/>
          </a:prstGeom>
        </p:spPr>
      </p:pic>
      <p:sp>
        <p:nvSpPr>
          <p:cNvPr id="16" name="Rectangle 15"/>
          <p:cNvSpPr/>
          <p:nvPr/>
        </p:nvSpPr>
        <p:spPr>
          <a:xfrm>
            <a:off x="8915400" y="1600200"/>
            <a:ext cx="27432" cy="3657600"/>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98280" y="1636776"/>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1</a:t>
            </a:r>
          </a:p>
        </p:txBody>
      </p:sp>
      <p:sp>
        <p:nvSpPr>
          <p:cNvPr id="18" name="TextBox 17"/>
          <p:cNvSpPr txBox="1"/>
          <p:nvPr/>
        </p:nvSpPr>
        <p:spPr>
          <a:xfrm>
            <a:off x="9601200" y="1600200"/>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Pre-market </a:t>
            </a:r>
            <a:r>
              <a:rPr sz="1400" b="0" i="0">
                <a:solidFill>
                  <a:srgbClr val="1B1B1E"/>
                </a:solidFill>
                <a:latin typeface="Calibri"/>
              </a:rPr>
              <a:t>plateau was lower: ~1.6 req/s.</a:t>
            </a:r>
          </a:p>
        </p:txBody>
      </p:sp>
      <p:sp>
        <p:nvSpPr>
          <p:cNvPr id="19" name="Oval 18"/>
          <p:cNvSpPr/>
          <p:nvPr/>
        </p:nvSpPr>
        <p:spPr>
          <a:xfrm>
            <a:off x="9098280" y="2538603"/>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2</a:t>
            </a:r>
          </a:p>
        </p:txBody>
      </p:sp>
      <p:sp>
        <p:nvSpPr>
          <p:cNvPr id="20" name="TextBox 19"/>
          <p:cNvSpPr txBox="1"/>
          <p:nvPr/>
        </p:nvSpPr>
        <p:spPr>
          <a:xfrm>
            <a:off x="9601200" y="2502027"/>
            <a:ext cx="2103120" cy="528066"/>
          </a:xfrm>
          <a:prstGeom prst="rect">
            <a:avLst/>
          </a:prstGeom>
          <a:noFill/>
        </p:spPr>
        <p:txBody>
          <a:bodyPr wrap="square" anchor="t" lIns="73152" rIns="73152" tIns="36576" bIns="36576">
            <a:spAutoFit/>
          </a:bodyPr>
          <a:lstStyle/>
          <a:p>
            <a:pPr algn="l"/>
            <a:r>
              <a:rPr sz="1400" b="1" i="0">
                <a:solidFill>
                  <a:srgbClr val="14213D"/>
                </a:solidFill>
                <a:latin typeface="Calibri"/>
              </a:rPr>
              <a:t>648 </a:t>
            </a:r>
            <a:r>
              <a:rPr sz="1400" b="0" i="0">
                <a:solidFill>
                  <a:srgbClr val="1B1B1E"/>
                </a:solidFill>
                <a:latin typeface="Calibri"/>
              </a:rPr>
              <a:t>requests, 0 HTTP errors, no 429.</a:t>
            </a:r>
          </a:p>
        </p:txBody>
      </p:sp>
      <p:sp>
        <p:nvSpPr>
          <p:cNvPr id="21" name="Oval 20"/>
          <p:cNvSpPr/>
          <p:nvPr/>
        </p:nvSpPr>
        <p:spPr>
          <a:xfrm>
            <a:off x="9098280" y="3176397"/>
            <a:ext cx="384048" cy="38404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FFFFFF"/>
                </a:solidFill>
                <a:latin typeface="Calibri"/>
              </a:rPr>
              <a:t>3</a:t>
            </a:r>
          </a:p>
        </p:txBody>
      </p:sp>
      <p:sp>
        <p:nvSpPr>
          <p:cNvPr id="22" name="TextBox 21"/>
          <p:cNvSpPr txBox="1"/>
          <p:nvPr/>
        </p:nvSpPr>
        <p:spPr>
          <a:xfrm>
            <a:off x="9601200" y="3139821"/>
            <a:ext cx="2103120" cy="792099"/>
          </a:xfrm>
          <a:prstGeom prst="rect">
            <a:avLst/>
          </a:prstGeom>
          <a:noFill/>
        </p:spPr>
        <p:txBody>
          <a:bodyPr wrap="square" anchor="t" lIns="73152" rIns="73152" tIns="36576" bIns="36576">
            <a:spAutoFit/>
          </a:bodyPr>
          <a:lstStyle/>
          <a:p>
            <a:pPr algn="l"/>
            <a:r>
              <a:rPr sz="1400" b="1" i="0">
                <a:solidFill>
                  <a:srgbClr val="14213D"/>
                </a:solidFill>
                <a:latin typeface="Calibri"/>
              </a:rPr>
              <a:t>Earlier '4.6 req/s' </a:t>
            </a:r>
            <a:r>
              <a:rPr sz="1400" b="0" i="0">
                <a:solidFill>
                  <a:srgbClr val="1B1B1E"/>
                </a:solidFill>
                <a:latin typeface="Calibri"/>
              </a:rPr>
              <a:t>ignored in-flight requests.</a:t>
            </a:r>
          </a:p>
        </p:txBody>
      </p:sp>
      <p:sp>
        <p:nvSpPr>
          <p:cNvPr id="23" name="Rounded Rectangle 22"/>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Throughput stays near 3 req/s while median latency goes 0.5 s → 8.3 s. Seconds, not milliseconds.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E76F51"/>
                </a:solidFill>
                <a:latin typeface="Calibri"/>
              </a:rPr>
              <a:t>BEHAVIOUR UNDER LOAD</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Candle requests queue first, and timeouts stretch</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19</a:t>
            </a:r>
          </a:p>
        </p:txBody>
      </p:sp>
      <p:sp>
        <p:nvSpPr>
          <p:cNvPr id="14" name="Rounded Rectangle 13"/>
          <p:cNvSpPr/>
          <p:nvPr/>
        </p:nvSpPr>
        <p:spPr>
          <a:xfrm>
            <a:off x="411480" y="1371600"/>
            <a:ext cx="5577840" cy="36576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atency_by_request_type.png"/>
          <p:cNvPicPr>
            <a:picLocks noChangeAspect="1"/>
          </p:cNvPicPr>
          <p:nvPr/>
        </p:nvPicPr>
        <p:blipFill>
          <a:blip r:embed="rId2"/>
          <a:stretch>
            <a:fillRect/>
          </a:stretch>
        </p:blipFill>
        <p:spPr>
          <a:xfrm>
            <a:off x="502920" y="1614276"/>
            <a:ext cx="5394960" cy="2852207"/>
          </a:xfrm>
          <a:prstGeom prst="rect">
            <a:avLst/>
          </a:prstGeom>
        </p:spPr>
      </p:pic>
      <p:sp>
        <p:nvSpPr>
          <p:cNvPr id="16" name="TextBox 15"/>
          <p:cNvSpPr txBox="1"/>
          <p:nvPr/>
        </p:nvSpPr>
        <p:spPr>
          <a:xfrm>
            <a:off x="502920" y="4645152"/>
            <a:ext cx="5394960" cy="320040"/>
          </a:xfrm>
          <a:prstGeom prst="rect">
            <a:avLst/>
          </a:prstGeom>
          <a:noFill/>
        </p:spPr>
        <p:txBody>
          <a:bodyPr wrap="square" anchor="t" lIns="73152" rIns="73152" tIns="36576" bIns="36576">
            <a:spAutoFit/>
          </a:bodyPr>
          <a:lstStyle/>
          <a:p>
            <a:pPr algn="ctr"/>
            <a:r>
              <a:rPr sz="1200" b="0" i="0">
                <a:solidFill>
                  <a:srgbClr val="5C677D"/>
                </a:solidFill>
                <a:latin typeface="Calibri"/>
              </a:rPr>
              <a:t>Median latency by request type (seconds)</a:t>
            </a:r>
          </a:p>
        </p:txBody>
      </p:sp>
      <p:sp>
        <p:nvSpPr>
          <p:cNvPr id="17" name="Rounded Rectangle 16"/>
          <p:cNvSpPr/>
          <p:nvPr/>
        </p:nvSpPr>
        <p:spPr>
          <a:xfrm>
            <a:off x="6172200" y="1371600"/>
            <a:ext cx="5577840" cy="36576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imed_out_stretch.png"/>
          <p:cNvPicPr>
            <a:picLocks noChangeAspect="1"/>
          </p:cNvPicPr>
          <p:nvPr/>
        </p:nvPicPr>
        <p:blipFill>
          <a:blip r:embed="rId3"/>
          <a:stretch>
            <a:fillRect/>
          </a:stretch>
        </p:blipFill>
        <p:spPr>
          <a:xfrm>
            <a:off x="6263640" y="1724490"/>
            <a:ext cx="5394960" cy="2631779"/>
          </a:xfrm>
          <a:prstGeom prst="rect">
            <a:avLst/>
          </a:prstGeom>
        </p:spPr>
      </p:pic>
      <p:sp>
        <p:nvSpPr>
          <p:cNvPr id="19" name="TextBox 18"/>
          <p:cNvSpPr txBox="1"/>
          <p:nvPr/>
        </p:nvSpPr>
        <p:spPr>
          <a:xfrm>
            <a:off x="6263640" y="4645152"/>
            <a:ext cx="5394960" cy="320040"/>
          </a:xfrm>
          <a:prstGeom prst="rect">
            <a:avLst/>
          </a:prstGeom>
          <a:noFill/>
        </p:spPr>
        <p:txBody>
          <a:bodyPr wrap="square" anchor="t" lIns="73152" rIns="73152" tIns="36576" bIns="36576">
            <a:spAutoFit/>
          </a:bodyPr>
          <a:lstStyle/>
          <a:p>
            <a:pPr algn="ctr"/>
            <a:r>
              <a:rPr sz="1200" b="0" i="0">
                <a:solidFill>
                  <a:srgbClr val="5C677D"/>
                </a:solidFill>
                <a:latin typeface="Calibri"/>
              </a:rPr>
              <a:t>TIMED_OUT response time (seconds)</a:t>
            </a:r>
          </a:p>
        </p:txBody>
      </p:sp>
      <p:sp>
        <p:nvSpPr>
          <p:cNvPr id="20" name="Rounded Rectangle 19"/>
          <p:cNvSpPr/>
          <p:nvPr/>
        </p:nvSpPr>
        <p:spPr>
          <a:xfrm>
            <a:off x="502920" y="5257800"/>
            <a:ext cx="11231575" cy="658368"/>
          </a:xfrm>
          <a:prstGeom prst="roundRect">
            <a:avLst>
              <a:gd name="adj" fmla="val 8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At 25 workers quotes take 2.6 s, candles 11–12 s. An unknown symbol goes from 3.3 s to 29 s.</a:t>
            </a:r>
          </a:p>
        </p:txBody>
      </p:sp>
      <p:sp>
        <p:nvSpPr>
          <p:cNvPr id="21" name="TextBox 20"/>
          <p:cNvSpPr txBox="1"/>
          <p:nvPr/>
        </p:nvSpPr>
        <p:spPr>
          <a:xfrm>
            <a:off x="502920" y="5989320"/>
            <a:ext cx="10972800" cy="365760"/>
          </a:xfrm>
          <a:prstGeom prst="rect">
            <a:avLst/>
          </a:prstGeom>
          <a:noFill/>
        </p:spPr>
        <p:txBody>
          <a:bodyPr wrap="square" anchor="t" lIns="73152" rIns="73152" tIns="36576" bIns="36576">
            <a:spAutoFit/>
          </a:bodyPr>
          <a:lstStyle/>
          <a:p>
            <a:pPr algn="l"/>
            <a:r>
              <a:rPr sz="1200" b="0" i="0">
                <a:solidFill>
                  <a:srgbClr val="5C677D"/>
                </a:solidFill>
                <a:latin typeface="Calibri"/>
              </a:rPr>
              <a:t>Percentiles count completed requests only, so at 25 and 50 workers the real tail is worse.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E76F51"/>
                </a:solidFill>
                <a:latin typeface="Calibri"/>
              </a:rPr>
              <a:t>BEHAVIOUR UNDER LOAD</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Was the bottleneck my client? No.</a:t>
            </a:r>
          </a:p>
        </p:txBody>
      </p:sp>
      <p:sp>
        <p:nvSpPr>
          <p:cNvPr id="6" name="Rounded Rectangle 5"/>
          <p:cNvSpPr/>
          <p:nvPr/>
        </p:nvSpPr>
        <p:spPr>
          <a:xfrm>
            <a:off x="9402775" y="384048"/>
            <a:ext cx="2331720" cy="384048"/>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20</a:t>
            </a:r>
          </a:p>
        </p:txBody>
      </p:sp>
      <p:sp>
        <p:nvSpPr>
          <p:cNvPr id="14" name="Rounded Rectangle 13"/>
          <p:cNvSpPr/>
          <p:nvPr/>
        </p:nvSpPr>
        <p:spPr>
          <a:xfrm>
            <a:off x="502920" y="1508760"/>
            <a:ext cx="3611880" cy="329184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508760"/>
            <a:ext cx="3611880" cy="82296"/>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783080"/>
            <a:ext cx="3291840" cy="1005840"/>
          </a:xfrm>
          <a:prstGeom prst="rect">
            <a:avLst/>
          </a:prstGeom>
          <a:noFill/>
        </p:spPr>
        <p:txBody>
          <a:bodyPr wrap="square" anchor="t" lIns="73152" rIns="73152" tIns="36576" bIns="36576">
            <a:spAutoFit/>
          </a:bodyPr>
          <a:lstStyle/>
          <a:p>
            <a:pPr algn="l"/>
            <a:r>
              <a:rPr sz="3000" b="1" i="0">
                <a:solidFill>
                  <a:srgbClr val="0F8B8D"/>
                </a:solidFill>
                <a:latin typeface="Calibri"/>
              </a:rPr>
              <a:t>in-flight = setting</a:t>
            </a:r>
          </a:p>
        </p:txBody>
      </p:sp>
      <p:sp>
        <p:nvSpPr>
          <p:cNvPr id="17" name="TextBox 16"/>
          <p:cNvSpPr txBox="1"/>
          <p:nvPr/>
        </p:nvSpPr>
        <p:spPr>
          <a:xfrm>
            <a:off x="685800" y="2926080"/>
            <a:ext cx="3291840" cy="1737360"/>
          </a:xfrm>
          <a:prstGeom prst="rect">
            <a:avLst/>
          </a:prstGeom>
          <a:noFill/>
        </p:spPr>
        <p:txBody>
          <a:bodyPr wrap="square" anchor="t" lIns="73152" rIns="73152" tIns="36576" bIns="36576">
            <a:spAutoFit/>
          </a:bodyPr>
          <a:lstStyle/>
          <a:p>
            <a:pPr algn="l"/>
            <a:r>
              <a:rPr sz="1600" b="0" i="0">
                <a:solidFill>
                  <a:srgbClr val="1B1B1E"/>
                </a:solidFill>
                <a:latin typeface="Calibri"/>
              </a:rPr>
              <a:t>Little's law at 5 and 10 workers: my workers really were all waiting on the server.</a:t>
            </a:r>
          </a:p>
        </p:txBody>
      </p:sp>
      <p:sp>
        <p:nvSpPr>
          <p:cNvPr id="18" name="Rounded Rectangle 17"/>
          <p:cNvSpPr/>
          <p:nvPr/>
        </p:nvSpPr>
        <p:spPr>
          <a:xfrm>
            <a:off x="4297680" y="1508760"/>
            <a:ext cx="3611880" cy="329184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1508760"/>
            <a:ext cx="3611880" cy="8229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1783080"/>
            <a:ext cx="3291840" cy="1005840"/>
          </a:xfrm>
          <a:prstGeom prst="rect">
            <a:avLst/>
          </a:prstGeom>
          <a:noFill/>
        </p:spPr>
        <p:txBody>
          <a:bodyPr wrap="square" anchor="t" lIns="73152" rIns="73152" tIns="36576" bIns="36576">
            <a:spAutoFit/>
          </a:bodyPr>
          <a:lstStyle/>
          <a:p>
            <a:pPr algn="l"/>
            <a:r>
              <a:rPr sz="4400" b="1" i="0">
                <a:solidFill>
                  <a:srgbClr val="2A9D8F"/>
                </a:solidFill>
                <a:latin typeface="Calibri"/>
              </a:rPr>
              <a:t>52 ≥ 50</a:t>
            </a:r>
          </a:p>
        </p:txBody>
      </p:sp>
      <p:sp>
        <p:nvSpPr>
          <p:cNvPr id="21" name="TextBox 20"/>
          <p:cNvSpPr txBox="1"/>
          <p:nvPr/>
        </p:nvSpPr>
        <p:spPr>
          <a:xfrm>
            <a:off x="4480560" y="2926080"/>
            <a:ext cx="3291840" cy="1737360"/>
          </a:xfrm>
          <a:prstGeom prst="rect">
            <a:avLst/>
          </a:prstGeom>
          <a:noFill/>
        </p:spPr>
        <p:txBody>
          <a:bodyPr wrap="square" anchor="t" lIns="73152" rIns="73152" tIns="36576" bIns="36576">
            <a:spAutoFit/>
          </a:bodyPr>
          <a:lstStyle/>
          <a:p>
            <a:pPr algn="l"/>
            <a:r>
              <a:rPr sz="1600" b="0" i="0">
                <a:solidFill>
                  <a:srgbClr val="1B1B1E"/>
                </a:solidFill>
                <a:latin typeface="Calibri"/>
              </a:rPr>
              <a:t>Connection pool limit was above the highest concurrency, so it could never bind.</a:t>
            </a:r>
          </a:p>
        </p:txBody>
      </p:sp>
      <p:sp>
        <p:nvSpPr>
          <p:cNvPr id="22" name="Rounded Rectangle 21"/>
          <p:cNvSpPr/>
          <p:nvPr/>
        </p:nvSpPr>
        <p:spPr>
          <a:xfrm>
            <a:off x="8092440" y="1508760"/>
            <a:ext cx="3611880" cy="329184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92440" y="1508760"/>
            <a:ext cx="3611880" cy="82296"/>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1783080"/>
            <a:ext cx="3291840" cy="1005840"/>
          </a:xfrm>
          <a:prstGeom prst="rect">
            <a:avLst/>
          </a:prstGeom>
          <a:noFill/>
        </p:spPr>
        <p:txBody>
          <a:bodyPr wrap="square" anchor="t" lIns="73152" rIns="73152" tIns="36576" bIns="36576">
            <a:spAutoFit/>
          </a:bodyPr>
          <a:lstStyle/>
          <a:p>
            <a:pPr algn="l"/>
            <a:r>
              <a:rPr sz="4400" b="1" i="0">
                <a:solidFill>
                  <a:srgbClr val="E9A23B"/>
                </a:solidFill>
                <a:latin typeface="Calibri"/>
              </a:rPr>
              <a:t>1 client</a:t>
            </a:r>
          </a:p>
        </p:txBody>
      </p:sp>
      <p:sp>
        <p:nvSpPr>
          <p:cNvPr id="25" name="TextBox 24"/>
          <p:cNvSpPr txBox="1"/>
          <p:nvPr/>
        </p:nvSpPr>
        <p:spPr>
          <a:xfrm>
            <a:off x="8275320" y="2926080"/>
            <a:ext cx="3291840" cy="1737360"/>
          </a:xfrm>
          <a:prstGeom prst="rect">
            <a:avLst/>
          </a:prstGeom>
          <a:noFill/>
        </p:spPr>
        <p:txBody>
          <a:bodyPr wrap="square" anchor="t" lIns="73152" rIns="73152" tIns="36576" bIns="36576">
            <a:spAutoFit/>
          </a:bodyPr>
          <a:lstStyle/>
          <a:p>
            <a:pPr algn="l"/>
            <a:r>
              <a:rPr sz="1600" b="0" i="0">
                <a:solidFill>
                  <a:srgbClr val="1B1B1E"/>
                </a:solidFill>
                <a:latin typeface="Calibri"/>
              </a:rPr>
              <a:t>Per-IP throttle or shared capacity? I can't tell without a second IP. Not run.</a:t>
            </a:r>
          </a:p>
        </p:txBody>
      </p:sp>
      <p:sp>
        <p:nvSpPr>
          <p:cNvPr id="26" name="Rounded Rectangle 25"/>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This shows how this shared demo behaves for one client. It is not a production capacity number.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3657600" cy="1280160"/>
          </a:xfrm>
          <a:prstGeom prst="rect">
            <a:avLst/>
          </a:prstGeom>
          <a:noFill/>
        </p:spPr>
        <p:txBody>
          <a:bodyPr wrap="square" anchor="t" lIns="73152" rIns="73152" tIns="36576" bIns="36576">
            <a:spAutoFit/>
          </a:bodyPr>
          <a:lstStyle/>
          <a:p>
            <a:pPr algn="l"/>
            <a:r>
              <a:rPr sz="9600" b="1" i="0">
                <a:solidFill>
                  <a:srgbClr val="2A9D8F"/>
                </a:solidFill>
                <a:latin typeface="Calibri"/>
              </a:rPr>
              <a:t>04</a:t>
            </a:r>
          </a:p>
        </p:txBody>
      </p:sp>
      <p:sp>
        <p:nvSpPr>
          <p:cNvPr id="5" name="TextBox 4"/>
          <p:cNvSpPr txBox="1"/>
          <p:nvPr/>
        </p:nvSpPr>
        <p:spPr>
          <a:xfrm>
            <a:off x="822960" y="2788920"/>
            <a:ext cx="10058400" cy="822960"/>
          </a:xfrm>
          <a:prstGeom prst="rect">
            <a:avLst/>
          </a:prstGeom>
          <a:noFill/>
        </p:spPr>
        <p:txBody>
          <a:bodyPr wrap="square" anchor="t" lIns="73152" rIns="73152" tIns="36576" bIns="36576">
            <a:spAutoFit/>
          </a:bodyPr>
          <a:lstStyle/>
          <a:p>
            <a:pPr algn="l"/>
            <a:r>
              <a:rPr sz="4400" b="1" i="0">
                <a:solidFill>
                  <a:srgbClr val="FFFFFF"/>
                </a:solidFill>
                <a:latin typeface="Calibri"/>
              </a:rPr>
              <a:t>Risk, incident and improvements</a:t>
            </a:r>
          </a:p>
        </p:txBody>
      </p:sp>
      <p:sp>
        <p:nvSpPr>
          <p:cNvPr id="6" name="TextBox 5"/>
          <p:cNvSpPr txBox="1"/>
          <p:nvPr/>
        </p:nvSpPr>
        <p:spPr>
          <a:xfrm>
            <a:off x="822960" y="3657600"/>
            <a:ext cx="10058400" cy="822960"/>
          </a:xfrm>
          <a:prstGeom prst="rect">
            <a:avLst/>
          </a:prstGeom>
          <a:noFill/>
        </p:spPr>
        <p:txBody>
          <a:bodyPr wrap="square" anchor="t" lIns="73152" rIns="73152" tIns="36576" bIns="36576">
            <a:spAutoFit/>
          </a:bodyPr>
          <a:lstStyle/>
          <a:p>
            <a:pPr algn="l"/>
            <a:r>
              <a:rPr sz="2000" b="0" i="0">
                <a:solidFill>
                  <a:srgbClr val="C9D6E8"/>
                </a:solidFill>
                <a:latin typeface="Calibri"/>
              </a:rPr>
              <a:t>What I would escalate, how I'd run the incident, what I'd fix</a:t>
            </a:r>
          </a:p>
        </p:txBody>
      </p:sp>
      <p:sp>
        <p:nvSpPr>
          <p:cNvPr id="7" name="Rectangle 6"/>
          <p:cNvSpPr/>
          <p:nvPr/>
        </p:nvSpPr>
        <p:spPr>
          <a:xfrm>
            <a:off x="822960" y="5120640"/>
            <a:ext cx="1325880" cy="9144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0280" y="5120640"/>
            <a:ext cx="1325880" cy="914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0" y="5120640"/>
            <a:ext cx="1325880" cy="914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74920" y="5120640"/>
            <a:ext cx="1325880" cy="914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349240"/>
            <a:ext cx="5486400" cy="365760"/>
          </a:xfrm>
          <a:prstGeom prst="rect">
            <a:avLst/>
          </a:prstGeom>
          <a:noFill/>
        </p:spPr>
        <p:txBody>
          <a:bodyPr wrap="square" anchor="t" lIns="73152" rIns="73152" tIns="36576" bIns="36576">
            <a:spAutoFit/>
          </a:bodyPr>
          <a:lstStyle/>
          <a:p>
            <a:pPr algn="l"/>
            <a:r>
              <a:rPr sz="1400" b="0" i="0">
                <a:solidFill>
                  <a:srgbClr val="C9D6E8"/>
                </a:solidFill>
                <a:latin typeface="Calibri"/>
              </a:rPr>
              <a:t>about 10 minutes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2A9D8F"/>
                </a:solidFill>
                <a:latin typeface="Calibri"/>
              </a:rPr>
              <a:t>RISK, INCIDENT, IMPROVEMENTS</a:t>
            </a:r>
          </a:p>
        </p:txBody>
      </p:sp>
      <p:sp>
        <p:nvSpPr>
          <p:cNvPr id="5" name="TextBox 4"/>
          <p:cNvSpPr txBox="1"/>
          <p:nvPr/>
        </p:nvSpPr>
        <p:spPr>
          <a:xfrm>
            <a:off x="502920" y="548640"/>
            <a:ext cx="11155680" cy="731520"/>
          </a:xfrm>
          <a:prstGeom prst="rect">
            <a:avLst/>
          </a:prstGeom>
          <a:noFill/>
        </p:spPr>
        <p:txBody>
          <a:bodyPr wrap="square" anchor="t" lIns="73152" rIns="73152" tIns="36576" bIns="36576">
            <a:spAutoFit/>
          </a:bodyPr>
          <a:lstStyle/>
          <a:p>
            <a:pPr algn="l"/>
            <a:r>
              <a:rPr sz="2800" b="1" i="0">
                <a:solidFill>
                  <a:srgbClr val="14213D"/>
                </a:solidFill>
                <a:latin typeface="Calibri"/>
              </a:rPr>
              <a:t>What I would escalate, in order</a:t>
            </a:r>
          </a:p>
        </p:txBody>
      </p:sp>
      <p:sp>
        <p:nvSpPr>
          <p:cNvPr id="6" name="Rectangle 5"/>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18888" y="6528816"/>
            <a:ext cx="10058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2" name="TextBox 11"/>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22</a:t>
            </a:r>
          </a:p>
        </p:txBody>
      </p:sp>
      <p:sp>
        <p:nvSpPr>
          <p:cNvPr id="13" name="Rounded Rectangle 12"/>
          <p:cNvSpPr/>
          <p:nvPr/>
        </p:nvSpPr>
        <p:spPr>
          <a:xfrm>
            <a:off x="411480" y="1371600"/>
            <a:ext cx="5486400" cy="416052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isk_matrix.png"/>
          <p:cNvPicPr>
            <a:picLocks noChangeAspect="1"/>
          </p:cNvPicPr>
          <p:nvPr/>
        </p:nvPicPr>
        <p:blipFill>
          <a:blip r:embed="rId2"/>
          <a:stretch>
            <a:fillRect/>
          </a:stretch>
        </p:blipFill>
        <p:spPr>
          <a:xfrm>
            <a:off x="502920" y="1687499"/>
            <a:ext cx="5303520" cy="3528720"/>
          </a:xfrm>
          <a:prstGeom prst="rect">
            <a:avLst/>
          </a:prstGeom>
        </p:spPr>
      </p:pic>
      <p:sp>
        <p:nvSpPr>
          <p:cNvPr id="15" name="Oval 14"/>
          <p:cNvSpPr/>
          <p:nvPr/>
        </p:nvSpPr>
        <p:spPr>
          <a:xfrm>
            <a:off x="6217920" y="1463040"/>
            <a:ext cx="420624" cy="420624"/>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1</a:t>
            </a:r>
          </a:p>
        </p:txBody>
      </p:sp>
      <p:sp>
        <p:nvSpPr>
          <p:cNvPr id="16" name="TextBox 15"/>
          <p:cNvSpPr txBox="1"/>
          <p:nvPr/>
        </p:nvSpPr>
        <p:spPr>
          <a:xfrm>
            <a:off x="6766560" y="1481328"/>
            <a:ext cx="4937760" cy="411480"/>
          </a:xfrm>
          <a:prstGeom prst="rect">
            <a:avLst/>
          </a:prstGeom>
          <a:noFill/>
        </p:spPr>
        <p:txBody>
          <a:bodyPr wrap="square" anchor="ctr" lIns="73152" rIns="73152" tIns="36576" bIns="36576">
            <a:spAutoFit/>
          </a:bodyPr>
          <a:lstStyle/>
          <a:p>
            <a:pPr algn="l"/>
            <a:r>
              <a:rPr sz="1700" b="1" i="0">
                <a:solidFill>
                  <a:srgbClr val="14213D"/>
                </a:solidFill>
                <a:latin typeface="Calibri"/>
              </a:rPr>
              <a:t>Silent 8,000 cap</a:t>
            </a:r>
          </a:p>
        </p:txBody>
      </p:sp>
      <p:sp>
        <p:nvSpPr>
          <p:cNvPr id="17" name="Oval 16"/>
          <p:cNvSpPr/>
          <p:nvPr/>
        </p:nvSpPr>
        <p:spPr>
          <a:xfrm>
            <a:off x="6217920" y="2029968"/>
            <a:ext cx="420624" cy="420624"/>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2</a:t>
            </a:r>
          </a:p>
        </p:txBody>
      </p:sp>
      <p:sp>
        <p:nvSpPr>
          <p:cNvPr id="18" name="TextBox 17"/>
          <p:cNvSpPr txBox="1"/>
          <p:nvPr/>
        </p:nvSpPr>
        <p:spPr>
          <a:xfrm>
            <a:off x="6766560" y="2048256"/>
            <a:ext cx="4937760" cy="411480"/>
          </a:xfrm>
          <a:prstGeom prst="rect">
            <a:avLst/>
          </a:prstGeom>
          <a:noFill/>
        </p:spPr>
        <p:txBody>
          <a:bodyPr wrap="square" anchor="ctr" lIns="73152" rIns="73152" tIns="36576" bIns="36576">
            <a:spAutoFit/>
          </a:bodyPr>
          <a:lstStyle/>
          <a:p>
            <a:pPr algn="l"/>
            <a:r>
              <a:rPr sz="1700" b="1" i="0">
                <a:solidFill>
                  <a:srgbClr val="14213D"/>
                </a:solidFill>
                <a:latin typeface="Calibri"/>
              </a:rPr>
              <a:t>Volume depends on timeframe</a:t>
            </a:r>
          </a:p>
        </p:txBody>
      </p:sp>
      <p:sp>
        <p:nvSpPr>
          <p:cNvPr id="19" name="Oval 18"/>
          <p:cNvSpPr/>
          <p:nvPr/>
        </p:nvSpPr>
        <p:spPr>
          <a:xfrm>
            <a:off x="6217920" y="2596896"/>
            <a:ext cx="420624" cy="420624"/>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3</a:t>
            </a:r>
          </a:p>
        </p:txBody>
      </p:sp>
      <p:sp>
        <p:nvSpPr>
          <p:cNvPr id="20" name="TextBox 19"/>
          <p:cNvSpPr txBox="1"/>
          <p:nvPr/>
        </p:nvSpPr>
        <p:spPr>
          <a:xfrm>
            <a:off x="6766560" y="2615184"/>
            <a:ext cx="4937760" cy="411480"/>
          </a:xfrm>
          <a:prstGeom prst="rect">
            <a:avLst/>
          </a:prstGeom>
          <a:noFill/>
        </p:spPr>
        <p:txBody>
          <a:bodyPr wrap="square" anchor="ctr" lIns="73152" rIns="73152" tIns="36576" bIns="36576">
            <a:spAutoFit/>
          </a:bodyPr>
          <a:lstStyle/>
          <a:p>
            <a:pPr algn="l"/>
            <a:r>
              <a:rPr sz="1700" b="0" i="0">
                <a:solidFill>
                  <a:srgbClr val="14213D"/>
                </a:solidFill>
                <a:latin typeface="Calibri"/>
              </a:rPr>
              <a:t>Queues, never says 429</a:t>
            </a:r>
          </a:p>
        </p:txBody>
      </p:sp>
      <p:sp>
        <p:nvSpPr>
          <p:cNvPr id="21" name="Oval 20"/>
          <p:cNvSpPr/>
          <p:nvPr/>
        </p:nvSpPr>
        <p:spPr>
          <a:xfrm>
            <a:off x="6217920" y="3163824"/>
            <a:ext cx="420624" cy="420624"/>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4</a:t>
            </a:r>
          </a:p>
        </p:txBody>
      </p:sp>
      <p:sp>
        <p:nvSpPr>
          <p:cNvPr id="22" name="TextBox 21"/>
          <p:cNvSpPr txBox="1"/>
          <p:nvPr/>
        </p:nvSpPr>
        <p:spPr>
          <a:xfrm>
            <a:off x="6766560" y="3182112"/>
            <a:ext cx="4937760" cy="411480"/>
          </a:xfrm>
          <a:prstGeom prst="rect">
            <a:avLst/>
          </a:prstGeom>
          <a:noFill/>
        </p:spPr>
        <p:txBody>
          <a:bodyPr wrap="square" anchor="ctr" lIns="73152" rIns="73152" tIns="36576" bIns="36576">
            <a:spAutoFit/>
          </a:bodyPr>
          <a:lstStyle/>
          <a:p>
            <a:pPr algn="l"/>
            <a:r>
              <a:rPr sz="1700" b="0" i="0">
                <a:solidFill>
                  <a:srgbClr val="14213D"/>
                </a:solidFill>
                <a:latin typeface="Calibri"/>
              </a:rPr>
              <a:t>Stale looks like closed</a:t>
            </a:r>
          </a:p>
        </p:txBody>
      </p:sp>
      <p:sp>
        <p:nvSpPr>
          <p:cNvPr id="23" name="Oval 22"/>
          <p:cNvSpPr/>
          <p:nvPr/>
        </p:nvSpPr>
        <p:spPr>
          <a:xfrm>
            <a:off x="6217920" y="3730752"/>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5</a:t>
            </a:r>
          </a:p>
        </p:txBody>
      </p:sp>
      <p:sp>
        <p:nvSpPr>
          <p:cNvPr id="24" name="TextBox 23"/>
          <p:cNvSpPr txBox="1"/>
          <p:nvPr/>
        </p:nvSpPr>
        <p:spPr>
          <a:xfrm>
            <a:off x="6766560" y="3749039"/>
            <a:ext cx="4937760" cy="411480"/>
          </a:xfrm>
          <a:prstGeom prst="rect">
            <a:avLst/>
          </a:prstGeom>
          <a:noFill/>
        </p:spPr>
        <p:txBody>
          <a:bodyPr wrap="square" anchor="ctr" lIns="73152" rIns="73152" tIns="36576" bIns="36576">
            <a:spAutoFit/>
          </a:bodyPr>
          <a:lstStyle/>
          <a:p>
            <a:pPr algn="l"/>
            <a:r>
              <a:rPr sz="1700" b="0" i="0">
                <a:solidFill>
                  <a:srgbClr val="14213D"/>
                </a:solidFill>
                <a:latin typeface="Calibri"/>
              </a:rPr>
              <a:t>Symbol quirks (TIMED_OUT, FX bid)</a:t>
            </a:r>
          </a:p>
        </p:txBody>
      </p:sp>
      <p:sp>
        <p:nvSpPr>
          <p:cNvPr id="25" name="Oval 24"/>
          <p:cNvSpPr/>
          <p:nvPr/>
        </p:nvSpPr>
        <p:spPr>
          <a:xfrm>
            <a:off x="6217920" y="4297680"/>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6</a:t>
            </a:r>
          </a:p>
        </p:txBody>
      </p:sp>
      <p:sp>
        <p:nvSpPr>
          <p:cNvPr id="26" name="TextBox 25"/>
          <p:cNvSpPr txBox="1"/>
          <p:nvPr/>
        </p:nvSpPr>
        <p:spPr>
          <a:xfrm>
            <a:off x="6766560" y="4315968"/>
            <a:ext cx="4937760" cy="411480"/>
          </a:xfrm>
          <a:prstGeom prst="rect">
            <a:avLst/>
          </a:prstGeom>
          <a:noFill/>
        </p:spPr>
        <p:txBody>
          <a:bodyPr wrap="square" anchor="ctr" lIns="73152" rIns="73152" tIns="36576" bIns="36576">
            <a:spAutoFit/>
          </a:bodyPr>
          <a:lstStyle/>
          <a:p>
            <a:pPr algn="l"/>
            <a:r>
              <a:rPr sz="1700" b="0" i="0">
                <a:solidFill>
                  <a:srgbClr val="14213D"/>
                </a:solidFill>
                <a:latin typeface="Calibri"/>
              </a:rPr>
              <a:t>FX prints outside session</a:t>
            </a:r>
          </a:p>
        </p:txBody>
      </p:sp>
      <p:sp>
        <p:nvSpPr>
          <p:cNvPr id="27" name="Oval 26"/>
          <p:cNvSpPr/>
          <p:nvPr/>
        </p:nvSpPr>
        <p:spPr>
          <a:xfrm>
            <a:off x="6217920" y="4864608"/>
            <a:ext cx="420624" cy="420624"/>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7</a:t>
            </a:r>
          </a:p>
        </p:txBody>
      </p:sp>
      <p:sp>
        <p:nvSpPr>
          <p:cNvPr id="28" name="TextBox 27"/>
          <p:cNvSpPr txBox="1"/>
          <p:nvPr/>
        </p:nvSpPr>
        <p:spPr>
          <a:xfrm>
            <a:off x="6766560" y="4882896"/>
            <a:ext cx="4937760" cy="411480"/>
          </a:xfrm>
          <a:prstGeom prst="rect">
            <a:avLst/>
          </a:prstGeom>
          <a:noFill/>
        </p:spPr>
        <p:txBody>
          <a:bodyPr wrap="square" anchor="ctr" lIns="73152" rIns="73152" tIns="36576" bIns="36576">
            <a:spAutoFit/>
          </a:bodyPr>
          <a:lstStyle/>
          <a:p>
            <a:pPr algn="l"/>
            <a:r>
              <a:rPr sz="1700" b="0" i="0">
                <a:solidFill>
                  <a:srgbClr val="14213D"/>
                </a:solidFill>
                <a:latin typeface="Calibri"/>
              </a:rPr>
              <a:t>Monitors only watch HTTP errors</a:t>
            </a:r>
          </a:p>
        </p:txBody>
      </p:sp>
      <p:sp>
        <p:nvSpPr>
          <p:cNvPr id="29" name="Rounded Rectangle 28"/>
          <p:cNvSpPr/>
          <p:nvPr/>
        </p:nvSpPr>
        <p:spPr>
          <a:xfrm>
            <a:off x="502920" y="5650992"/>
            <a:ext cx="11231575" cy="658368"/>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Silent beats loud: a wrong answer with status OK is worse than an error.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2A9D8F"/>
                </a:solidFill>
                <a:latin typeface="Calibri"/>
              </a:rPr>
              <a:t>RISK, INCIDENT, IMPROVEMENTS</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Incident drill: 'AAPL hourly volume is corrupted'</a:t>
            </a:r>
          </a:p>
        </p:txBody>
      </p:sp>
      <p:sp>
        <p:nvSpPr>
          <p:cNvPr id="6" name="Rounded Rectangle 5"/>
          <p:cNvSpPr/>
          <p:nvPr/>
        </p:nvSpPr>
        <p:spPr>
          <a:xfrm>
            <a:off x="9402775" y="384048"/>
            <a:ext cx="2331720" cy="384048"/>
          </a:xfrm>
          <a:prstGeom prst="roundRect">
            <a:avLst>
              <a:gd name="adj" fmla="val 50000"/>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SIMULATION</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23</a:t>
            </a:r>
          </a:p>
        </p:txBody>
      </p:sp>
      <p:sp>
        <p:nvSpPr>
          <p:cNvPr id="14" name="Rounded Rectangle 13"/>
          <p:cNvSpPr/>
          <p:nvPr/>
        </p:nvSpPr>
        <p:spPr>
          <a:xfrm>
            <a:off x="411480" y="1325880"/>
            <a:ext cx="11368735" cy="233172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ncident_timeline.png"/>
          <p:cNvPicPr>
            <a:picLocks noChangeAspect="1"/>
          </p:cNvPicPr>
          <p:nvPr/>
        </p:nvPicPr>
        <p:blipFill>
          <a:blip r:embed="rId2"/>
          <a:stretch>
            <a:fillRect/>
          </a:stretch>
        </p:blipFill>
        <p:spPr>
          <a:xfrm>
            <a:off x="2349478" y="1371600"/>
            <a:ext cx="7492738" cy="2240280"/>
          </a:xfrm>
          <a:prstGeom prst="rect">
            <a:avLst/>
          </a:prstGeom>
        </p:spPr>
      </p:pic>
      <p:sp>
        <p:nvSpPr>
          <p:cNvPr id="16" name="Rounded Rectangle 15"/>
          <p:cNvSpPr/>
          <p:nvPr/>
        </p:nvSpPr>
        <p:spPr>
          <a:xfrm>
            <a:off x="502920" y="3840480"/>
            <a:ext cx="5486400" cy="25146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840480"/>
            <a:ext cx="5486400" cy="82296"/>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23360"/>
            <a:ext cx="5212080" cy="411480"/>
          </a:xfrm>
          <a:prstGeom prst="rect">
            <a:avLst/>
          </a:prstGeom>
          <a:noFill/>
        </p:spPr>
        <p:txBody>
          <a:bodyPr wrap="square" anchor="t" lIns="73152" rIns="73152" tIns="36576" bIns="36576">
            <a:spAutoFit/>
          </a:bodyPr>
          <a:lstStyle/>
          <a:p>
            <a:pPr algn="l"/>
            <a:r>
              <a:rPr sz="1700" b="1" i="0">
                <a:solidFill>
                  <a:srgbClr val="0F8B8D"/>
                </a:solidFill>
                <a:latin typeface="Calibri"/>
              </a:rPr>
              <a:t>First 15 minutes</a:t>
            </a:r>
          </a:p>
        </p:txBody>
      </p:sp>
      <p:sp>
        <p:nvSpPr>
          <p:cNvPr id="19" name="TextBox 18"/>
          <p:cNvSpPr txBox="1"/>
          <p:nvPr/>
        </p:nvSpPr>
        <p:spPr>
          <a:xfrm>
            <a:off x="640080" y="4480560"/>
            <a:ext cx="5212080" cy="1783080"/>
          </a:xfrm>
          <a:prstGeom prst="rect">
            <a:avLst/>
          </a:prstGeom>
          <a:noFill/>
        </p:spPr>
        <p:txBody>
          <a:bodyPr wrap="square" anchor="t" lIns="73152" rIns="73152" tIns="36576" bIns="36576">
            <a:spAutoFit/>
          </a:bodyPr>
          <a:lstStyle/>
          <a:p>
            <a:pPr algn="l"/>
            <a:r>
              <a:rPr sz="1400" b="0" i="0">
                <a:solidFill>
                  <a:srgbClr val="1B1B1E"/>
                </a:solidFill>
                <a:latin typeface="Calibri"/>
              </a:rPr>
              <a:t>Reproduce from public endpoints: −98.4 % on 2 Oct 18:00 ET.</a:t>
            </a:r>
          </a:p>
          <a:p>
            <a:pPr algn="l">
              <a:spcBef>
                <a:spcPts val="600"/>
              </a:spcBef>
            </a:pPr>
            <a:r>
              <a:rPr sz="1400" b="0" i="0">
                <a:solidFill>
                  <a:srgbClr val="1B1B1E"/>
                </a:solidFill>
                <a:latin typeface="Calibri"/>
              </a:rPr>
              <a:t>Count: 130 extended-hours, 1 regular-hours.</a:t>
            </a:r>
          </a:p>
          <a:p>
            <a:pPr algn="l">
              <a:spcBef>
                <a:spcPts val="600"/>
              </a:spcBef>
            </a:pPr>
            <a:r>
              <a:rPr sz="1400" b="0" i="0">
                <a:solidFill>
                  <a:srgbClr val="1B1B1E"/>
                </a:solidFill>
                <a:latin typeface="Calibri"/>
              </a:rPr>
              <a:t>Confirm 5m = 1m; check the daily total.</a:t>
            </a:r>
          </a:p>
          <a:p>
            <a:pPr algn="l">
              <a:spcBef>
                <a:spcPts val="600"/>
              </a:spcBef>
            </a:pPr>
            <a:r>
              <a:rPr sz="1400" b="0" i="0">
                <a:solidFill>
                  <a:srgbClr val="1B1B1E"/>
                </a:solidFill>
                <a:latin typeface="Calibri"/>
              </a:rPr>
              <a:t>Escalate with the CSV and one question: which series is the reference?</a:t>
            </a:r>
          </a:p>
        </p:txBody>
      </p:sp>
      <p:sp>
        <p:nvSpPr>
          <p:cNvPr id="20" name="Rounded Rectangle 19"/>
          <p:cNvSpPr/>
          <p:nvPr/>
        </p:nvSpPr>
        <p:spPr>
          <a:xfrm>
            <a:off x="6199632" y="3840480"/>
            <a:ext cx="5486400" cy="251460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3840480"/>
            <a:ext cx="5486400" cy="82296"/>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4023360"/>
            <a:ext cx="5212080" cy="411480"/>
          </a:xfrm>
          <a:prstGeom prst="rect">
            <a:avLst/>
          </a:prstGeom>
          <a:noFill/>
        </p:spPr>
        <p:txBody>
          <a:bodyPr wrap="square" anchor="t" lIns="73152" rIns="73152" tIns="36576" bIns="36576">
            <a:spAutoFit/>
          </a:bodyPr>
          <a:lstStyle/>
          <a:p>
            <a:pPr algn="l"/>
            <a:r>
              <a:rPr sz="1700" b="1" i="0">
                <a:solidFill>
                  <a:srgbClr val="14213D"/>
                </a:solidFill>
                <a:latin typeface="Calibri"/>
              </a:rPr>
              <a:t>What the client hears</a:t>
            </a:r>
          </a:p>
        </p:txBody>
      </p:sp>
      <p:sp>
        <p:nvSpPr>
          <p:cNvPr id="23" name="TextBox 22"/>
          <p:cNvSpPr txBox="1"/>
          <p:nvPr/>
        </p:nvSpPr>
        <p:spPr>
          <a:xfrm>
            <a:off x="6336792" y="4480560"/>
            <a:ext cx="5212080" cy="1783080"/>
          </a:xfrm>
          <a:prstGeom prst="rect">
            <a:avLst/>
          </a:prstGeom>
          <a:noFill/>
        </p:spPr>
        <p:txBody>
          <a:bodyPr wrap="square" anchor="t" lIns="73152" rIns="73152" tIns="36576" bIns="36576">
            <a:spAutoFit/>
          </a:bodyPr>
          <a:lstStyle/>
          <a:p>
            <a:pPr algn="l"/>
            <a:r>
              <a:rPr sz="1400" b="0" i="1">
                <a:solidFill>
                  <a:srgbClr val="1B1B1E"/>
                </a:solidFill>
                <a:latin typeface="Calibri"/>
              </a:rPr>
              <a:t>“We reproduced it. It affects hourly volume for US stocks, almost only outside regular hours. Prices agree. We are confirming the reference series. Next update 10:00 UTC.”</a:t>
            </a:r>
          </a:p>
          <a:p>
            <a:pPr algn="l">
              <a:spcBef>
                <a:spcPts val="600"/>
              </a:spcBef>
            </a:pPr>
            <a:r>
              <a:rPr sz="1400" b="1" i="0">
                <a:solidFill>
                  <a:srgbClr val="E76F51"/>
                </a:solidFill>
                <a:latin typeface="Calibri"/>
              </a:rPr>
              <a:t>No root cause, no untested workaround.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2A9D8F"/>
                </a:solidFill>
                <a:latin typeface="Calibri"/>
              </a:rPr>
              <a:t>RISK, INCIDENT, IMPROVEMENTS</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Three things I would change</a:t>
            </a:r>
          </a:p>
        </p:txBody>
      </p:sp>
      <p:sp>
        <p:nvSpPr>
          <p:cNvPr id="6" name="Rounded Rectangle 5"/>
          <p:cNvSpPr/>
          <p:nvPr/>
        </p:nvSpPr>
        <p:spPr>
          <a:xfrm>
            <a:off x="9402775" y="384048"/>
            <a:ext cx="2331720" cy="384048"/>
          </a:xfrm>
          <a:prstGeom prst="roundRect">
            <a:avLst>
              <a:gd name="adj" fmla="val 50000"/>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PROPOSAL</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24</a:t>
            </a:r>
          </a:p>
        </p:txBody>
      </p:sp>
      <p:sp>
        <p:nvSpPr>
          <p:cNvPr id="14" name="Rounded Rectangle 13"/>
          <p:cNvSpPr/>
          <p:nvPr/>
        </p:nvSpPr>
        <p:spPr>
          <a:xfrm>
            <a:off x="502920" y="1417320"/>
            <a:ext cx="3611880" cy="49377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417320"/>
            <a:ext cx="3611880" cy="5486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tIns="36576" bIns="36576"/>
          <a:lstStyle/>
          <a:p>
            <a:pPr algn="l"/>
            <a:r>
              <a:rPr sz="1400" b="1" i="0">
                <a:solidFill>
                  <a:srgbClr val="FFFFFF"/>
                </a:solidFill>
                <a:latin typeface="Calibri"/>
              </a:rPr>
              <a:t>TECHNICAL</a:t>
            </a:r>
          </a:p>
        </p:txBody>
      </p:sp>
      <p:sp>
        <p:nvSpPr>
          <p:cNvPr id="16" name="TextBox 15"/>
          <p:cNvSpPr txBox="1"/>
          <p:nvPr/>
        </p:nvSpPr>
        <p:spPr>
          <a:xfrm>
            <a:off x="685800" y="2103120"/>
            <a:ext cx="3291840" cy="548640"/>
          </a:xfrm>
          <a:prstGeom prst="rect">
            <a:avLst/>
          </a:prstGeom>
          <a:noFill/>
        </p:spPr>
        <p:txBody>
          <a:bodyPr wrap="square" anchor="t" lIns="73152" rIns="73152" tIns="36576" bIns="36576">
            <a:spAutoFit/>
          </a:bodyPr>
          <a:lstStyle/>
          <a:p>
            <a:pPr algn="l"/>
            <a:r>
              <a:rPr sz="1900" b="1" i="0">
                <a:solidFill>
                  <a:srgbClr val="14213D"/>
                </a:solidFill>
                <a:latin typeface="Calibri"/>
              </a:rPr>
              <a:t>Say what the response is</a:t>
            </a:r>
          </a:p>
        </p:txBody>
      </p:sp>
      <p:sp>
        <p:nvSpPr>
          <p:cNvPr id="17" name="TextBox 16"/>
          <p:cNvSpPr txBox="1"/>
          <p:nvPr/>
        </p:nvSpPr>
        <p:spPr>
          <a:xfrm>
            <a:off x="685800" y="2697480"/>
            <a:ext cx="3291840" cy="2103120"/>
          </a:xfrm>
          <a:prstGeom prst="rect">
            <a:avLst/>
          </a:prstGeom>
          <a:noFill/>
        </p:spPr>
        <p:txBody>
          <a:bodyPr wrap="square" anchor="t" lIns="73152" rIns="73152" tIns="36576" bIns="36576">
            <a:spAutoFit/>
          </a:bodyPr>
          <a:lstStyle/>
          <a:p>
            <a:pPr algn="l"/>
            <a:r>
              <a:rPr sz="1400" b="0" i="0">
                <a:solidFill>
                  <a:srgbClr val="1B1B1E"/>
                </a:solidFill>
                <a:latin typeface="Calibri"/>
              </a:rPr>
              <a:t>• Add truncated, serverTime, delaySeconds to the response.</a:t>
            </a:r>
          </a:p>
          <a:p>
            <a:pPr algn="l">
              <a:spcBef>
                <a:spcPts val="800"/>
              </a:spcBef>
            </a:pPr>
            <a:r>
              <a:rPr sz="1400" b="0" i="0">
                <a:solidFill>
                  <a:srgbClr val="1B1B1E"/>
                </a:solidFill>
                <a:latin typeface="Calibri"/>
              </a:rPr>
              <a:t>• Flag the forming candle.</a:t>
            </a:r>
          </a:p>
          <a:p>
            <a:pPr algn="l">
              <a:spcBef>
                <a:spcPts val="800"/>
              </a:spcBef>
            </a:pPr>
            <a:r>
              <a:rPr sz="1400" b="0" i="0">
                <a:solidFill>
                  <a:srgbClr val="1B1B1E"/>
                </a:solidFill>
                <a:latin typeface="Calibri"/>
              </a:rPr>
              <a:t>• Return UNKNOWN_SYMBOL at once, not TIMED_OUT.</a:t>
            </a:r>
          </a:p>
        </p:txBody>
      </p:sp>
      <p:sp>
        <p:nvSpPr>
          <p:cNvPr id="18" name="Rectangle 17"/>
          <p:cNvSpPr/>
          <p:nvPr/>
        </p:nvSpPr>
        <p:spPr>
          <a:xfrm>
            <a:off x="685800" y="4937760"/>
            <a:ext cx="3246120" cy="27432"/>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029200"/>
            <a:ext cx="3291840" cy="365760"/>
          </a:xfrm>
          <a:prstGeom prst="rect">
            <a:avLst/>
          </a:prstGeom>
          <a:noFill/>
        </p:spPr>
        <p:txBody>
          <a:bodyPr wrap="square" anchor="t" lIns="73152" rIns="73152" tIns="36576" bIns="36576">
            <a:spAutoFit/>
          </a:bodyPr>
          <a:lstStyle/>
          <a:p>
            <a:pPr algn="l"/>
            <a:r>
              <a:rPr sz="1400" b="0" i="0">
                <a:solidFill>
                  <a:srgbClr val="5C677D"/>
                </a:solidFill>
                <a:latin typeface="Calibri"/>
              </a:rPr>
              <a:t>Effort  </a:t>
            </a:r>
            <a:r>
              <a:rPr sz="1400" b="1" i="0">
                <a:solidFill>
                  <a:srgbClr val="0F8B8D"/>
                </a:solidFill>
                <a:latin typeface="Calibri"/>
              </a:rPr>
              <a:t>Medium</a:t>
            </a:r>
          </a:p>
        </p:txBody>
      </p:sp>
      <p:sp>
        <p:nvSpPr>
          <p:cNvPr id="20" name="TextBox 19"/>
          <p:cNvSpPr txBox="1"/>
          <p:nvPr/>
        </p:nvSpPr>
        <p:spPr>
          <a:xfrm>
            <a:off x="685800" y="5394960"/>
            <a:ext cx="3291840" cy="822960"/>
          </a:xfrm>
          <a:prstGeom prst="rect">
            <a:avLst/>
          </a:prstGeom>
          <a:noFill/>
        </p:spPr>
        <p:txBody>
          <a:bodyPr wrap="square" anchor="t" lIns="73152" rIns="73152" tIns="36576" bIns="36576">
            <a:spAutoFit/>
          </a:bodyPr>
          <a:lstStyle/>
          <a:p>
            <a:pPr algn="l"/>
            <a:r>
              <a:rPr sz="1400" b="0" i="0">
                <a:solidFill>
                  <a:srgbClr val="5C677D"/>
                </a:solidFill>
                <a:latin typeface="Calibri"/>
              </a:rPr>
              <a:t>Impact  </a:t>
            </a:r>
            <a:r>
              <a:rPr sz="1400" b="1" i="0">
                <a:solidFill>
                  <a:srgbClr val="14213D"/>
                </a:solidFill>
                <a:latin typeface="Calibri"/>
              </a:rPr>
              <a:t>Removes the top two 'wrong data' tickets</a:t>
            </a:r>
          </a:p>
        </p:txBody>
      </p:sp>
      <p:sp>
        <p:nvSpPr>
          <p:cNvPr id="21" name="Rounded Rectangle 20"/>
          <p:cNvSpPr/>
          <p:nvPr/>
        </p:nvSpPr>
        <p:spPr>
          <a:xfrm>
            <a:off x="4297680" y="1417320"/>
            <a:ext cx="3611880" cy="49377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1417320"/>
            <a:ext cx="3611880" cy="54864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tIns="36576" bIns="36576"/>
          <a:lstStyle/>
          <a:p>
            <a:pPr algn="l"/>
            <a:r>
              <a:rPr sz="1400" b="1" i="0">
                <a:solidFill>
                  <a:srgbClr val="FFFFFF"/>
                </a:solidFill>
                <a:latin typeface="Calibri"/>
              </a:rPr>
              <a:t>MONITORING</a:t>
            </a:r>
          </a:p>
        </p:txBody>
      </p:sp>
      <p:sp>
        <p:nvSpPr>
          <p:cNvPr id="23" name="TextBox 22"/>
          <p:cNvSpPr txBox="1"/>
          <p:nvPr/>
        </p:nvSpPr>
        <p:spPr>
          <a:xfrm>
            <a:off x="4480560" y="2103120"/>
            <a:ext cx="3291840" cy="548640"/>
          </a:xfrm>
          <a:prstGeom prst="rect">
            <a:avLst/>
          </a:prstGeom>
          <a:noFill/>
        </p:spPr>
        <p:txBody>
          <a:bodyPr wrap="square" anchor="t" lIns="73152" rIns="73152" tIns="36576" bIns="36576">
            <a:spAutoFit/>
          </a:bodyPr>
          <a:lstStyle/>
          <a:p>
            <a:pPr algn="l"/>
            <a:r>
              <a:rPr sz="1900" b="1" i="0">
                <a:solidFill>
                  <a:srgbClr val="14213D"/>
                </a:solidFill>
                <a:latin typeface="Calibri"/>
              </a:rPr>
              <a:t>Catch it before the client does</a:t>
            </a:r>
          </a:p>
        </p:txBody>
      </p:sp>
      <p:sp>
        <p:nvSpPr>
          <p:cNvPr id="24" name="TextBox 23"/>
          <p:cNvSpPr txBox="1"/>
          <p:nvPr/>
        </p:nvSpPr>
        <p:spPr>
          <a:xfrm>
            <a:off x="4480560" y="2697480"/>
            <a:ext cx="3291840" cy="2103120"/>
          </a:xfrm>
          <a:prstGeom prst="rect">
            <a:avLst/>
          </a:prstGeom>
          <a:noFill/>
        </p:spPr>
        <p:txBody>
          <a:bodyPr wrap="square" anchor="t" lIns="73152" rIns="73152" tIns="36576" bIns="36576">
            <a:spAutoFit/>
          </a:bodyPr>
          <a:lstStyle/>
          <a:p>
            <a:pPr algn="l"/>
            <a:r>
              <a:rPr sz="1400" b="0" i="0">
                <a:solidFill>
                  <a:srgbClr val="1B1B1E"/>
                </a:solidFill>
                <a:latin typeface="Calibri"/>
              </a:rPr>
              <a:t>• One synthetic probe per asset class.</a:t>
            </a:r>
          </a:p>
          <a:p>
            <a:pPr algn="l">
              <a:spcBef>
                <a:spcPts val="800"/>
              </a:spcBef>
            </a:pPr>
            <a:r>
              <a:rPr sz="1400" b="0" i="0">
                <a:solidFill>
                  <a:srgbClr val="1B1B1E"/>
                </a:solidFill>
                <a:latin typeface="Calibri"/>
              </a:rPr>
              <a:t>• Age vs calendar, 1h vs 1m volume, p95 at low concurrency.</a:t>
            </a:r>
          </a:p>
          <a:p>
            <a:pPr algn="l">
              <a:spcBef>
                <a:spcPts val="800"/>
              </a:spcBef>
            </a:pPr>
            <a:r>
              <a:rPr sz="1400" b="0" i="0">
                <a:solidFill>
                  <a:srgbClr val="1B1B1E"/>
                </a:solidFill>
                <a:latin typeface="Calibri"/>
              </a:rPr>
              <a:t>• Budget the probes: the service queues.</a:t>
            </a:r>
          </a:p>
        </p:txBody>
      </p:sp>
      <p:sp>
        <p:nvSpPr>
          <p:cNvPr id="25" name="Rectangle 24"/>
          <p:cNvSpPr/>
          <p:nvPr/>
        </p:nvSpPr>
        <p:spPr>
          <a:xfrm>
            <a:off x="4480560" y="4937760"/>
            <a:ext cx="3246120" cy="27432"/>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5029200"/>
            <a:ext cx="3291840" cy="365760"/>
          </a:xfrm>
          <a:prstGeom prst="rect">
            <a:avLst/>
          </a:prstGeom>
          <a:noFill/>
        </p:spPr>
        <p:txBody>
          <a:bodyPr wrap="square" anchor="t" lIns="73152" rIns="73152" tIns="36576" bIns="36576">
            <a:spAutoFit/>
          </a:bodyPr>
          <a:lstStyle/>
          <a:p>
            <a:pPr algn="l"/>
            <a:r>
              <a:rPr sz="1400" b="0" i="0">
                <a:solidFill>
                  <a:srgbClr val="5C677D"/>
                </a:solidFill>
                <a:latin typeface="Calibri"/>
              </a:rPr>
              <a:t>Effort  </a:t>
            </a:r>
            <a:r>
              <a:rPr sz="1400" b="1" i="0">
                <a:solidFill>
                  <a:srgbClr val="E9A23B"/>
                </a:solidFill>
                <a:latin typeface="Calibri"/>
              </a:rPr>
              <a:t>Small–medium</a:t>
            </a:r>
          </a:p>
        </p:txBody>
      </p:sp>
      <p:sp>
        <p:nvSpPr>
          <p:cNvPr id="27" name="TextBox 26"/>
          <p:cNvSpPr txBox="1"/>
          <p:nvPr/>
        </p:nvSpPr>
        <p:spPr>
          <a:xfrm>
            <a:off x="4480560" y="5394960"/>
            <a:ext cx="3291840" cy="822960"/>
          </a:xfrm>
          <a:prstGeom prst="rect">
            <a:avLst/>
          </a:prstGeom>
          <a:noFill/>
        </p:spPr>
        <p:txBody>
          <a:bodyPr wrap="square" anchor="t" lIns="73152" rIns="73152" tIns="36576" bIns="36576">
            <a:spAutoFit/>
          </a:bodyPr>
          <a:lstStyle/>
          <a:p>
            <a:pPr algn="l"/>
            <a:r>
              <a:rPr sz="1400" b="0" i="0">
                <a:solidFill>
                  <a:srgbClr val="5C677D"/>
                </a:solidFill>
                <a:latin typeface="Calibri"/>
              </a:rPr>
              <a:t>Impact  </a:t>
            </a:r>
            <a:r>
              <a:rPr sz="1400" b="1" i="0">
                <a:solidFill>
                  <a:srgbClr val="14213D"/>
                </a:solidFill>
                <a:latin typeface="Calibri"/>
              </a:rPr>
              <a:t>Client-found incidents become ours</a:t>
            </a:r>
          </a:p>
        </p:txBody>
      </p:sp>
      <p:sp>
        <p:nvSpPr>
          <p:cNvPr id="28" name="Rounded Rectangle 27"/>
          <p:cNvSpPr/>
          <p:nvPr/>
        </p:nvSpPr>
        <p:spPr>
          <a:xfrm>
            <a:off x="8092440" y="1417320"/>
            <a:ext cx="3611880" cy="493776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1417320"/>
            <a:ext cx="3611880" cy="5486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tIns="36576" bIns="36576"/>
          <a:lstStyle/>
          <a:p>
            <a:pPr algn="l"/>
            <a:r>
              <a:rPr sz="1400" b="1" i="0">
                <a:solidFill>
                  <a:srgbClr val="FFFFFF"/>
                </a:solidFill>
                <a:latin typeface="Calibri"/>
              </a:rPr>
              <a:t>DOCUMENTATION</a:t>
            </a:r>
          </a:p>
        </p:txBody>
      </p:sp>
      <p:sp>
        <p:nvSpPr>
          <p:cNvPr id="30" name="TextBox 29"/>
          <p:cNvSpPr txBox="1"/>
          <p:nvPr/>
        </p:nvSpPr>
        <p:spPr>
          <a:xfrm>
            <a:off x="8275320" y="2103120"/>
            <a:ext cx="3291840" cy="548640"/>
          </a:xfrm>
          <a:prstGeom prst="rect">
            <a:avLst/>
          </a:prstGeom>
          <a:noFill/>
        </p:spPr>
        <p:txBody>
          <a:bodyPr wrap="square" anchor="t" lIns="73152" rIns="73152" tIns="36576" bIns="36576">
            <a:spAutoFit/>
          </a:bodyPr>
          <a:lstStyle/>
          <a:p>
            <a:pPr algn="l"/>
            <a:r>
              <a:rPr sz="1900" b="1" i="0">
                <a:solidFill>
                  <a:srgbClr val="14213D"/>
                </a:solidFill>
                <a:latin typeface="Calibri"/>
              </a:rPr>
              <a:t>One 'demo facts' page</a:t>
            </a:r>
          </a:p>
        </p:txBody>
      </p:sp>
      <p:sp>
        <p:nvSpPr>
          <p:cNvPr id="31" name="TextBox 30"/>
          <p:cNvSpPr txBox="1"/>
          <p:nvPr/>
        </p:nvSpPr>
        <p:spPr>
          <a:xfrm>
            <a:off x="8275320" y="2697480"/>
            <a:ext cx="3291840" cy="2103120"/>
          </a:xfrm>
          <a:prstGeom prst="rect">
            <a:avLst/>
          </a:prstGeom>
          <a:noFill/>
        </p:spPr>
        <p:txBody>
          <a:bodyPr wrap="square" anchor="t" lIns="73152" rIns="73152" tIns="36576" bIns="36576">
            <a:spAutoFit/>
          </a:bodyPr>
          <a:lstStyle/>
          <a:p>
            <a:pPr algn="l"/>
            <a:r>
              <a:rPr sz="1400" b="0" i="0">
                <a:solidFill>
                  <a:srgbClr val="1B1B1E"/>
                </a:solidFill>
                <a:latin typeface="Calibri"/>
              </a:rPr>
              <a:t>• Delay, retention cap, symbol list.</a:t>
            </a:r>
          </a:p>
          <a:p>
            <a:pPr algn="l">
              <a:spcBef>
                <a:spcPts val="800"/>
              </a:spcBef>
            </a:pPr>
            <a:r>
              <a:rPr sz="1400" b="0" i="0">
                <a:solidFill>
                  <a:srgbClr val="1B1B1E"/>
                </a:solidFill>
                <a:latin typeface="Calibri"/>
              </a:rPr>
              <a:t>• FX needs price=bid; toTime is inclusive.</a:t>
            </a:r>
          </a:p>
          <a:p>
            <a:pPr algn="l">
              <a:spcBef>
                <a:spcPts val="800"/>
              </a:spcBef>
            </a:pPr>
            <a:r>
              <a:rPr sz="1400" b="0" i="0">
                <a:solidFill>
                  <a:srgbClr val="1B1B1E"/>
                </a:solidFill>
                <a:latin typeface="Calibri"/>
              </a:rPr>
              <a:t>• Radar vs REST differences.</a:t>
            </a:r>
          </a:p>
        </p:txBody>
      </p:sp>
      <p:sp>
        <p:nvSpPr>
          <p:cNvPr id="32" name="Rectangle 31"/>
          <p:cNvSpPr/>
          <p:nvPr/>
        </p:nvSpPr>
        <p:spPr>
          <a:xfrm>
            <a:off x="8275320" y="4937760"/>
            <a:ext cx="3246120" cy="27432"/>
          </a:xfrm>
          <a:prstGeom prst="rect">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20" y="5029200"/>
            <a:ext cx="3291840" cy="365760"/>
          </a:xfrm>
          <a:prstGeom prst="rect">
            <a:avLst/>
          </a:prstGeom>
          <a:noFill/>
        </p:spPr>
        <p:txBody>
          <a:bodyPr wrap="square" anchor="t" lIns="73152" rIns="73152" tIns="36576" bIns="36576">
            <a:spAutoFit/>
          </a:bodyPr>
          <a:lstStyle/>
          <a:p>
            <a:pPr algn="l"/>
            <a:r>
              <a:rPr sz="1400" b="0" i="0">
                <a:solidFill>
                  <a:srgbClr val="5C677D"/>
                </a:solidFill>
                <a:latin typeface="Calibri"/>
              </a:rPr>
              <a:t>Effort  </a:t>
            </a:r>
            <a:r>
              <a:rPr sz="1400" b="1" i="0">
                <a:solidFill>
                  <a:srgbClr val="2A9D8F"/>
                </a:solidFill>
                <a:latin typeface="Calibri"/>
              </a:rPr>
              <a:t>Small</a:t>
            </a:r>
          </a:p>
        </p:txBody>
      </p:sp>
      <p:sp>
        <p:nvSpPr>
          <p:cNvPr id="34" name="TextBox 33"/>
          <p:cNvSpPr txBox="1"/>
          <p:nvPr/>
        </p:nvSpPr>
        <p:spPr>
          <a:xfrm>
            <a:off x="8275320" y="5394960"/>
            <a:ext cx="3291840" cy="822960"/>
          </a:xfrm>
          <a:prstGeom prst="rect">
            <a:avLst/>
          </a:prstGeom>
          <a:noFill/>
        </p:spPr>
        <p:txBody>
          <a:bodyPr wrap="square" anchor="t" lIns="73152" rIns="73152" tIns="36576" bIns="36576">
            <a:spAutoFit/>
          </a:bodyPr>
          <a:lstStyle/>
          <a:p>
            <a:pPr algn="l"/>
            <a:r>
              <a:rPr sz="1400" b="0" i="0">
                <a:solidFill>
                  <a:srgbClr val="5C677D"/>
                </a:solidFill>
                <a:latin typeface="Calibri"/>
              </a:rPr>
              <a:t>Impact  </a:t>
            </a:r>
            <a:r>
              <a:rPr sz="1400" b="1" i="0">
                <a:solidFill>
                  <a:srgbClr val="14213D"/>
                </a:solidFill>
                <a:latin typeface="Calibri"/>
              </a:rPr>
              <a:t>Fewer first-contact tickets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2A9D8F"/>
                </a:solidFill>
                <a:latin typeface="Calibri"/>
              </a:rPr>
              <a:t>RISK, INCIDENT, IMPROVEMENTS</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Four things I got wrong first, and fixed</a:t>
            </a:r>
          </a:p>
        </p:txBody>
      </p:sp>
      <p:sp>
        <p:nvSpPr>
          <p:cNvPr id="6" name="Rounded Rectangle 5"/>
          <p:cNvSpPr/>
          <p:nvPr/>
        </p:nvSpPr>
        <p:spPr>
          <a:xfrm>
            <a:off x="9402775" y="384048"/>
            <a:ext cx="2331720" cy="384048"/>
          </a:xfrm>
          <a:prstGeom prst="roundRect">
            <a:avLst>
              <a:gd name="adj" fmla="val 50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VERIFIED · CORRECTED</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25</a:t>
            </a:r>
          </a:p>
        </p:txBody>
      </p:sp>
      <p:sp>
        <p:nvSpPr>
          <p:cNvPr id="14" name="Rounded Rectangle 13"/>
          <p:cNvSpPr/>
          <p:nvPr/>
        </p:nvSpPr>
        <p:spPr>
          <a:xfrm>
            <a:off x="502920" y="1463040"/>
            <a:ext cx="4206240" cy="841248"/>
          </a:xfrm>
          <a:prstGeom prst="roundRect">
            <a:avLst>
              <a:gd name="adj" fmla="val 8000"/>
            </a:avLst>
          </a:prstGeom>
          <a:solidFill>
            <a:srgbClr val="FD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554480"/>
            <a:ext cx="3931920" cy="685800"/>
          </a:xfrm>
          <a:prstGeom prst="rect">
            <a:avLst/>
          </a:prstGeom>
          <a:noFill/>
        </p:spPr>
        <p:txBody>
          <a:bodyPr wrap="square" anchor="ctr" lIns="73152" rIns="73152" tIns="36576" bIns="36576">
            <a:spAutoFit/>
          </a:bodyPr>
          <a:lstStyle/>
          <a:p>
            <a:pPr algn="l"/>
            <a:r>
              <a:rPr sz="1600" b="1" i="0">
                <a:solidFill>
                  <a:srgbClr val="E76F51"/>
                </a:solidFill>
                <a:latin typeface="Calibri"/>
              </a:rPr>
              <a:t>“214 weekend FX candles”</a:t>
            </a:r>
          </a:p>
        </p:txBody>
      </p:sp>
      <p:sp>
        <p:nvSpPr>
          <p:cNvPr id="16" name="Right Arrow 15"/>
          <p:cNvSpPr/>
          <p:nvPr/>
        </p:nvSpPr>
        <p:spPr>
          <a:xfrm>
            <a:off x="4846320" y="1700784"/>
            <a:ext cx="548640" cy="365760"/>
          </a:xfrm>
          <a:prstGeom prst="rightArrow">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532120" y="1463040"/>
            <a:ext cx="3291840" cy="841248"/>
          </a:xfrm>
          <a:prstGeom prst="roundRect">
            <a:avLst>
              <a:gd name="adj" fmla="val 8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15000" y="1554480"/>
            <a:ext cx="3017520" cy="685800"/>
          </a:xfrm>
          <a:prstGeom prst="rect">
            <a:avLst/>
          </a:prstGeom>
          <a:noFill/>
        </p:spPr>
        <p:txBody>
          <a:bodyPr wrap="square" anchor="ctr" lIns="73152" rIns="73152" tIns="36576" bIns="36576">
            <a:spAutoFit/>
          </a:bodyPr>
          <a:lstStyle/>
          <a:p>
            <a:pPr algn="l"/>
            <a:r>
              <a:rPr sz="1600" b="1" i="0">
                <a:solidFill>
                  <a:srgbClr val="2A9D8F"/>
                </a:solidFill>
                <a:latin typeface="Calibri"/>
              </a:rPr>
              <a:t>50 outside the real FX session</a:t>
            </a:r>
          </a:p>
        </p:txBody>
      </p:sp>
      <p:sp>
        <p:nvSpPr>
          <p:cNvPr id="19" name="TextBox 18"/>
          <p:cNvSpPr txBox="1"/>
          <p:nvPr/>
        </p:nvSpPr>
        <p:spPr>
          <a:xfrm>
            <a:off x="9006840" y="1554480"/>
            <a:ext cx="2743200" cy="685800"/>
          </a:xfrm>
          <a:prstGeom prst="rect">
            <a:avLst/>
          </a:prstGeom>
          <a:noFill/>
        </p:spPr>
        <p:txBody>
          <a:bodyPr wrap="square" anchor="ctr" lIns="73152" rIns="73152" tIns="36576" bIns="36576">
            <a:spAutoFit/>
          </a:bodyPr>
          <a:lstStyle/>
          <a:p>
            <a:pPr algn="l"/>
            <a:r>
              <a:rPr sz="1400" b="0" i="0">
                <a:solidFill>
                  <a:srgbClr val="5C677D"/>
                </a:solidFill>
                <a:latin typeface="Calibri"/>
              </a:rPr>
              <a:t>I counted by UTC weekday</a:t>
            </a:r>
          </a:p>
        </p:txBody>
      </p:sp>
      <p:sp>
        <p:nvSpPr>
          <p:cNvPr id="20" name="Rounded Rectangle 19"/>
          <p:cNvSpPr/>
          <p:nvPr/>
        </p:nvSpPr>
        <p:spPr>
          <a:xfrm>
            <a:off x="502920" y="2487168"/>
            <a:ext cx="4206240" cy="841248"/>
          </a:xfrm>
          <a:prstGeom prst="roundRect">
            <a:avLst>
              <a:gd name="adj" fmla="val 8000"/>
            </a:avLst>
          </a:prstGeom>
          <a:solidFill>
            <a:srgbClr val="FD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578608"/>
            <a:ext cx="3931920" cy="685800"/>
          </a:xfrm>
          <a:prstGeom prst="rect">
            <a:avLst/>
          </a:prstGeom>
          <a:noFill/>
        </p:spPr>
        <p:txBody>
          <a:bodyPr wrap="square" anchor="ctr" lIns="73152" rIns="73152" tIns="36576" bIns="36576">
            <a:spAutoFit/>
          </a:bodyPr>
          <a:lstStyle/>
          <a:p>
            <a:pPr algn="l"/>
            <a:r>
              <a:rPr sz="1600" b="1" i="0">
                <a:solidFill>
                  <a:srgbClr val="E76F51"/>
                </a:solidFill>
                <a:latin typeface="Calibri"/>
              </a:rPr>
              <a:t>“Throughput rises to 4.6 req/s”</a:t>
            </a:r>
          </a:p>
        </p:txBody>
      </p:sp>
      <p:sp>
        <p:nvSpPr>
          <p:cNvPr id="22" name="Right Arrow 21"/>
          <p:cNvSpPr/>
          <p:nvPr/>
        </p:nvSpPr>
        <p:spPr>
          <a:xfrm>
            <a:off x="4846320" y="2724912"/>
            <a:ext cx="548640" cy="365760"/>
          </a:xfrm>
          <a:prstGeom prst="rightArrow">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532120" y="2487168"/>
            <a:ext cx="3291840" cy="841248"/>
          </a:xfrm>
          <a:prstGeom prst="roundRect">
            <a:avLst>
              <a:gd name="adj" fmla="val 8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5000" y="2578608"/>
            <a:ext cx="3017520" cy="685800"/>
          </a:xfrm>
          <a:prstGeom prst="rect">
            <a:avLst/>
          </a:prstGeom>
          <a:noFill/>
        </p:spPr>
        <p:txBody>
          <a:bodyPr wrap="square" anchor="ctr" lIns="73152" rIns="73152" tIns="36576" bIns="36576">
            <a:spAutoFit/>
          </a:bodyPr>
          <a:lstStyle/>
          <a:p>
            <a:pPr algn="l"/>
            <a:r>
              <a:rPr sz="1600" b="1" i="0">
                <a:solidFill>
                  <a:srgbClr val="2A9D8F"/>
                </a:solidFill>
                <a:latin typeface="Calibri"/>
              </a:rPr>
              <a:t>Flat at ~3 req/s</a:t>
            </a:r>
          </a:p>
        </p:txBody>
      </p:sp>
      <p:sp>
        <p:nvSpPr>
          <p:cNvPr id="25" name="TextBox 24"/>
          <p:cNvSpPr txBox="1"/>
          <p:nvPr/>
        </p:nvSpPr>
        <p:spPr>
          <a:xfrm>
            <a:off x="9006840" y="2578608"/>
            <a:ext cx="2743200" cy="685800"/>
          </a:xfrm>
          <a:prstGeom prst="rect">
            <a:avLst/>
          </a:prstGeom>
          <a:noFill/>
        </p:spPr>
        <p:txBody>
          <a:bodyPr wrap="square" anchor="ctr" lIns="73152" rIns="73152" tIns="36576" bIns="36576">
            <a:spAutoFit/>
          </a:bodyPr>
          <a:lstStyle/>
          <a:p>
            <a:pPr algn="l"/>
            <a:r>
              <a:rPr sz="1400" b="0" i="0">
                <a:solidFill>
                  <a:srgbClr val="5C677D"/>
                </a:solidFill>
                <a:latin typeface="Calibri"/>
              </a:rPr>
              <a:t>I ignored requests still in flight</a:t>
            </a:r>
          </a:p>
        </p:txBody>
      </p:sp>
      <p:sp>
        <p:nvSpPr>
          <p:cNvPr id="26" name="Rounded Rectangle 25"/>
          <p:cNvSpPr/>
          <p:nvPr/>
        </p:nvSpPr>
        <p:spPr>
          <a:xfrm>
            <a:off x="502920" y="3511296"/>
            <a:ext cx="4206240" cy="841248"/>
          </a:xfrm>
          <a:prstGeom prst="roundRect">
            <a:avLst>
              <a:gd name="adj" fmla="val 8000"/>
            </a:avLst>
          </a:prstGeom>
          <a:solidFill>
            <a:srgbClr val="FD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602736"/>
            <a:ext cx="3931920" cy="685800"/>
          </a:xfrm>
          <a:prstGeom prst="rect">
            <a:avLst/>
          </a:prstGeom>
          <a:noFill/>
        </p:spPr>
        <p:txBody>
          <a:bodyPr wrap="square" anchor="ctr" lIns="73152" rIns="73152" tIns="36576" bIns="36576">
            <a:spAutoFit/>
          </a:bodyPr>
          <a:lstStyle/>
          <a:p>
            <a:pPr algn="l"/>
            <a:r>
              <a:rPr sz="1600" b="1" i="0">
                <a:solidFill>
                  <a:srgbClr val="E76F51"/>
                </a:solidFill>
                <a:latin typeface="Calibri"/>
              </a:rPr>
              <a:t>“OHLC always agrees”</a:t>
            </a:r>
          </a:p>
        </p:txBody>
      </p:sp>
      <p:sp>
        <p:nvSpPr>
          <p:cNvPr id="28" name="Right Arrow 27"/>
          <p:cNvSpPr/>
          <p:nvPr/>
        </p:nvSpPr>
        <p:spPr>
          <a:xfrm>
            <a:off x="4846320" y="3749040"/>
            <a:ext cx="548640" cy="365760"/>
          </a:xfrm>
          <a:prstGeom prst="rightArrow">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532120" y="3511296"/>
            <a:ext cx="3291840" cy="841248"/>
          </a:xfrm>
          <a:prstGeom prst="roundRect">
            <a:avLst>
              <a:gd name="adj" fmla="val 8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15000" y="3602736"/>
            <a:ext cx="3017520" cy="685800"/>
          </a:xfrm>
          <a:prstGeom prst="rect">
            <a:avLst/>
          </a:prstGeom>
          <a:noFill/>
        </p:spPr>
        <p:txBody>
          <a:bodyPr wrap="square" anchor="ctr" lIns="73152" rIns="73152" tIns="36576" bIns="36576">
            <a:spAutoFit/>
          </a:bodyPr>
          <a:lstStyle/>
          <a:p>
            <a:pPr algn="l"/>
            <a:r>
              <a:rPr sz="1600" b="1" i="0">
                <a:solidFill>
                  <a:srgbClr val="2A9D8F"/>
                </a:solidFill>
                <a:latin typeface="Calibri"/>
              </a:rPr>
              <a:t>6 small differences, ≤ 0.023 %</a:t>
            </a:r>
          </a:p>
        </p:txBody>
      </p:sp>
      <p:sp>
        <p:nvSpPr>
          <p:cNvPr id="31" name="TextBox 30"/>
          <p:cNvSpPr txBox="1"/>
          <p:nvPr/>
        </p:nvSpPr>
        <p:spPr>
          <a:xfrm>
            <a:off x="9006840" y="3602736"/>
            <a:ext cx="2743200" cy="685800"/>
          </a:xfrm>
          <a:prstGeom prst="rect">
            <a:avLst/>
          </a:prstGeom>
          <a:noFill/>
        </p:spPr>
        <p:txBody>
          <a:bodyPr wrap="square" anchor="ctr" lIns="73152" rIns="73152" tIns="36576" bIns="36576">
            <a:spAutoFit/>
          </a:bodyPr>
          <a:lstStyle/>
          <a:p>
            <a:pPr algn="l"/>
            <a:r>
              <a:rPr sz="1400" b="0" i="0">
                <a:solidFill>
                  <a:srgbClr val="5C677D"/>
                </a:solidFill>
                <a:latin typeface="Calibri"/>
              </a:rPr>
              <a:t>My first check was too loose</a:t>
            </a:r>
          </a:p>
        </p:txBody>
      </p:sp>
      <p:sp>
        <p:nvSpPr>
          <p:cNvPr id="32" name="Rounded Rectangle 31"/>
          <p:cNvSpPr/>
          <p:nvPr/>
        </p:nvSpPr>
        <p:spPr>
          <a:xfrm>
            <a:off x="502920" y="4535424"/>
            <a:ext cx="4206240" cy="841248"/>
          </a:xfrm>
          <a:prstGeom prst="roundRect">
            <a:avLst>
              <a:gd name="adj" fmla="val 8000"/>
            </a:avLst>
          </a:prstGeom>
          <a:solidFill>
            <a:srgbClr val="FD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26864"/>
            <a:ext cx="3931920" cy="685800"/>
          </a:xfrm>
          <a:prstGeom prst="rect">
            <a:avLst/>
          </a:prstGeom>
          <a:noFill/>
        </p:spPr>
        <p:txBody>
          <a:bodyPr wrap="square" anchor="ctr" lIns="73152" rIns="73152" tIns="36576" bIns="36576">
            <a:spAutoFit/>
          </a:bodyPr>
          <a:lstStyle/>
          <a:p>
            <a:pPr algn="l"/>
            <a:r>
              <a:rPr sz="1600" b="1" i="0">
                <a:solidFill>
                  <a:srgbClr val="E76F51"/>
                </a:solidFill>
                <a:latin typeface="Calibri"/>
              </a:rPr>
              <a:t>“Rebuild ETH volume from 1m”</a:t>
            </a:r>
          </a:p>
        </p:txBody>
      </p:sp>
      <p:sp>
        <p:nvSpPr>
          <p:cNvPr id="34" name="Right Arrow 33"/>
          <p:cNvSpPr/>
          <p:nvPr/>
        </p:nvSpPr>
        <p:spPr>
          <a:xfrm>
            <a:off x="4846320" y="4773168"/>
            <a:ext cx="548640" cy="365760"/>
          </a:xfrm>
          <a:prstGeom prst="rightArrow">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532120" y="4535424"/>
            <a:ext cx="3291840" cy="841248"/>
          </a:xfrm>
          <a:prstGeom prst="roundRect">
            <a:avLst>
              <a:gd name="adj" fmla="val 8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15000" y="4626864"/>
            <a:ext cx="3017520" cy="685800"/>
          </a:xfrm>
          <a:prstGeom prst="rect">
            <a:avLst/>
          </a:prstGeom>
          <a:noFill/>
        </p:spPr>
        <p:txBody>
          <a:bodyPr wrap="square" anchor="ctr" lIns="73152" rIns="73152" tIns="36576" bIns="36576">
            <a:spAutoFit/>
          </a:bodyPr>
          <a:lstStyle/>
          <a:p>
            <a:pPr algn="l"/>
            <a:r>
              <a:rPr sz="1600" b="1" i="0">
                <a:solidFill>
                  <a:srgbClr val="2A9D8F"/>
                </a:solidFill>
                <a:latin typeface="Calibri"/>
              </a:rPr>
              <a:t>Reference series not decided</a:t>
            </a:r>
          </a:p>
        </p:txBody>
      </p:sp>
      <p:sp>
        <p:nvSpPr>
          <p:cNvPr id="37" name="TextBox 36"/>
          <p:cNvSpPr txBox="1"/>
          <p:nvPr/>
        </p:nvSpPr>
        <p:spPr>
          <a:xfrm>
            <a:off x="9006840" y="4626864"/>
            <a:ext cx="2743200" cy="685800"/>
          </a:xfrm>
          <a:prstGeom prst="rect">
            <a:avLst/>
          </a:prstGeom>
          <a:noFill/>
        </p:spPr>
        <p:txBody>
          <a:bodyPr wrap="square" anchor="ctr" lIns="73152" rIns="73152" tIns="36576" bIns="36576">
            <a:spAutoFit/>
          </a:bodyPr>
          <a:lstStyle/>
          <a:p>
            <a:pPr algn="l"/>
            <a:r>
              <a:rPr sz="1400" b="0" i="0">
                <a:solidFill>
                  <a:srgbClr val="5C677D"/>
                </a:solidFill>
                <a:latin typeface="Calibri"/>
              </a:rPr>
              <a:t>The daily candle says otherwise</a:t>
            </a:r>
          </a:p>
        </p:txBody>
      </p:sp>
      <p:sp>
        <p:nvSpPr>
          <p:cNvPr id="38" name="Rounded Rectangle 37"/>
          <p:cNvSpPr/>
          <p:nvPr/>
        </p:nvSpPr>
        <p:spPr>
          <a:xfrm>
            <a:off x="502920" y="5650992"/>
            <a:ext cx="11231575" cy="658368"/>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73152" tIns="36576" bIns="36576"/>
          <a:lstStyle/>
          <a:p>
            <a:pPr algn="l"/>
            <a:r>
              <a:rPr sz="1700" b="1" i="0">
                <a:solidFill>
                  <a:srgbClr val="FFFFFF"/>
                </a:solidFill>
                <a:latin typeface="Calibri"/>
              </a:rPr>
              <a:t>Re-running everything offline is what caught these. That re-check is now part of the method.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8229600" cy="320040"/>
          </a:xfrm>
          <a:prstGeom prst="rect">
            <a:avLst/>
          </a:prstGeom>
          <a:noFill/>
        </p:spPr>
        <p:txBody>
          <a:bodyPr wrap="square" anchor="t" lIns="73152" rIns="73152" tIns="36576" bIns="36576">
            <a:spAutoFit/>
          </a:bodyPr>
          <a:lstStyle/>
          <a:p>
            <a:pPr algn="l"/>
            <a:r>
              <a:rPr sz="1200" b="1" i="0">
                <a:solidFill>
                  <a:srgbClr val="2A9D8F"/>
                </a:solidFill>
                <a:latin typeface="Calibri"/>
              </a:rPr>
              <a:t>RISK, INCIDENT, IMPROVEMENTS</a:t>
            </a:r>
          </a:p>
        </p:txBody>
      </p:sp>
      <p:sp>
        <p:nvSpPr>
          <p:cNvPr id="5" name="TextBox 4"/>
          <p:cNvSpPr txBox="1"/>
          <p:nvPr/>
        </p:nvSpPr>
        <p:spPr>
          <a:xfrm>
            <a:off x="502920" y="548640"/>
            <a:ext cx="8778240" cy="731520"/>
          </a:xfrm>
          <a:prstGeom prst="rect">
            <a:avLst/>
          </a:prstGeom>
          <a:noFill/>
        </p:spPr>
        <p:txBody>
          <a:bodyPr wrap="square" anchor="t" lIns="73152" rIns="73152" tIns="36576" bIns="36576">
            <a:spAutoFit/>
          </a:bodyPr>
          <a:lstStyle/>
          <a:p>
            <a:pPr algn="l"/>
            <a:r>
              <a:rPr sz="2800" b="1" i="0">
                <a:solidFill>
                  <a:srgbClr val="14213D"/>
                </a:solidFill>
                <a:latin typeface="Calibri"/>
              </a:rPr>
              <a:t>What is still open</a:t>
            </a:r>
          </a:p>
        </p:txBody>
      </p:sp>
      <p:sp>
        <p:nvSpPr>
          <p:cNvPr id="6" name="Rounded Rectangle 5"/>
          <p:cNvSpPr/>
          <p:nvPr/>
        </p:nvSpPr>
        <p:spPr>
          <a:xfrm>
            <a:off x="9402775" y="384048"/>
            <a:ext cx="2331720" cy="384048"/>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i="0">
                <a:solidFill>
                  <a:srgbClr val="FFFFFF"/>
                </a:solidFill>
                <a:latin typeface="Calibri"/>
              </a:rPr>
              <a:t>NOT DONE</a:t>
            </a:r>
          </a:p>
        </p:txBody>
      </p:sp>
      <p:sp>
        <p:nvSpPr>
          <p:cNvPr id="7" name="Rectangle 6"/>
          <p:cNvSpPr/>
          <p:nvPr/>
        </p:nvSpPr>
        <p:spPr>
          <a:xfrm>
            <a:off x="502920" y="6528816"/>
            <a:ext cx="1005840" cy="64008"/>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81912" y="6528816"/>
            <a:ext cx="1005840" cy="64008"/>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60904" y="6528816"/>
            <a:ext cx="1005840" cy="64008"/>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39896" y="6528816"/>
            <a:ext cx="1005840" cy="640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8888" y="6528816"/>
            <a:ext cx="1005840"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6400800"/>
            <a:ext cx="4114800" cy="274320"/>
          </a:xfrm>
          <a:prstGeom prst="rect">
            <a:avLst/>
          </a:prstGeom>
          <a:noFill/>
        </p:spPr>
        <p:txBody>
          <a:bodyPr wrap="square" anchor="t" lIns="73152" rIns="73152" tIns="36576" bIns="36576">
            <a:spAutoFit/>
          </a:bodyPr>
          <a:lstStyle/>
          <a:p>
            <a:pPr algn="l"/>
            <a:r>
              <a:rPr sz="1000" b="0" i="0">
                <a:solidFill>
                  <a:srgbClr val="5C677D"/>
                </a:solidFill>
                <a:latin typeface="Calibri"/>
              </a:rPr>
              <a:t>dxFeed demo assessment · Irakli</a:t>
            </a:r>
          </a:p>
        </p:txBody>
      </p:sp>
      <p:sp>
        <p:nvSpPr>
          <p:cNvPr id="13" name="TextBox 12"/>
          <p:cNvSpPr txBox="1"/>
          <p:nvPr/>
        </p:nvSpPr>
        <p:spPr>
          <a:xfrm>
            <a:off x="11002975" y="6400800"/>
            <a:ext cx="731520" cy="274320"/>
          </a:xfrm>
          <a:prstGeom prst="rect">
            <a:avLst/>
          </a:prstGeom>
          <a:noFill/>
        </p:spPr>
        <p:txBody>
          <a:bodyPr wrap="square" anchor="t" lIns="73152" rIns="73152" tIns="36576" bIns="36576">
            <a:spAutoFit/>
          </a:bodyPr>
          <a:lstStyle/>
          <a:p>
            <a:pPr algn="r"/>
            <a:r>
              <a:rPr sz="1000" b="0" i="0">
                <a:solidFill>
                  <a:srgbClr val="5C677D"/>
                </a:solidFill>
                <a:latin typeface="Calibri"/>
              </a:rPr>
              <a:t>26</a:t>
            </a:r>
          </a:p>
        </p:txBody>
      </p:sp>
      <p:sp>
        <p:nvSpPr>
          <p:cNvPr id="14" name="Rounded Rectangle 13"/>
          <p:cNvSpPr/>
          <p:nvPr/>
        </p:nvSpPr>
        <p:spPr>
          <a:xfrm>
            <a:off x="502920" y="1463040"/>
            <a:ext cx="5486400"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463040"/>
            <a:ext cx="5486400"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645920"/>
            <a:ext cx="5212080" cy="411480"/>
          </a:xfrm>
          <a:prstGeom prst="rect">
            <a:avLst/>
          </a:prstGeom>
          <a:noFill/>
        </p:spPr>
        <p:txBody>
          <a:bodyPr wrap="square" anchor="t" lIns="73152" rIns="73152" tIns="36576" bIns="36576">
            <a:spAutoFit/>
          </a:bodyPr>
          <a:lstStyle/>
          <a:p>
            <a:pPr algn="l"/>
            <a:r>
              <a:rPr sz="1700" b="1" i="0">
                <a:solidFill>
                  <a:srgbClr val="E76F51"/>
                </a:solidFill>
                <a:latin typeface="Calibri"/>
              </a:rPr>
              <a:t>Waiting on the clock</a:t>
            </a:r>
          </a:p>
        </p:txBody>
      </p:sp>
      <p:sp>
        <p:nvSpPr>
          <p:cNvPr id="17" name="TextBox 16"/>
          <p:cNvSpPr txBox="1"/>
          <p:nvPr/>
        </p:nvSpPr>
        <p:spPr>
          <a:xfrm>
            <a:off x="640080" y="2103120"/>
            <a:ext cx="5212080" cy="1142999"/>
          </a:xfrm>
          <a:prstGeom prst="rect">
            <a:avLst/>
          </a:prstGeom>
          <a:noFill/>
        </p:spPr>
        <p:txBody>
          <a:bodyPr wrap="square" anchor="t" lIns="73152" rIns="73152" tIns="36576" bIns="36576">
            <a:spAutoFit/>
          </a:bodyPr>
          <a:lstStyle/>
          <a:p>
            <a:pPr algn="l"/>
            <a:r>
              <a:rPr sz="1500" b="0" i="0">
                <a:solidFill>
                  <a:srgbClr val="1B1B1E"/>
                </a:solidFill>
                <a:latin typeface="Calibri"/>
              </a:rPr>
              <a:t>• Pass 2 re-pull after Monday 19 Oct 15:30Z</a:t>
            </a:r>
          </a:p>
          <a:p>
            <a:pPr algn="l">
              <a:spcBef>
                <a:spcPts val="600"/>
              </a:spcBef>
            </a:pPr>
            <a:r>
              <a:rPr sz="1500" b="0" i="0">
                <a:solidFill>
                  <a:srgbClr val="1B1B1E"/>
                </a:solidFill>
                <a:latin typeface="Calibri"/>
              </a:rPr>
              <a:t>• Weekend logger: stopped Sat 14:28Z, Sunday not covered</a:t>
            </a:r>
          </a:p>
        </p:txBody>
      </p:sp>
      <p:sp>
        <p:nvSpPr>
          <p:cNvPr id="18" name="Rounded Rectangle 17"/>
          <p:cNvSpPr/>
          <p:nvPr/>
        </p:nvSpPr>
        <p:spPr>
          <a:xfrm>
            <a:off x="6172200" y="1463040"/>
            <a:ext cx="5486400"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463040"/>
            <a:ext cx="5486400" cy="82296"/>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645920"/>
            <a:ext cx="5212080" cy="411480"/>
          </a:xfrm>
          <a:prstGeom prst="rect">
            <a:avLst/>
          </a:prstGeom>
          <a:noFill/>
        </p:spPr>
        <p:txBody>
          <a:bodyPr wrap="square" anchor="t" lIns="73152" rIns="73152" tIns="36576" bIns="36576">
            <a:spAutoFit/>
          </a:bodyPr>
          <a:lstStyle/>
          <a:p>
            <a:pPr algn="l"/>
            <a:r>
              <a:rPr sz="1700" b="1" i="0">
                <a:solidFill>
                  <a:srgbClr val="E9A23B"/>
                </a:solidFill>
                <a:latin typeface="Calibri"/>
              </a:rPr>
              <a:t>Blocked on the demo</a:t>
            </a:r>
          </a:p>
        </p:txBody>
      </p:sp>
      <p:sp>
        <p:nvSpPr>
          <p:cNvPr id="21" name="TextBox 20"/>
          <p:cNvSpPr txBox="1"/>
          <p:nvPr/>
        </p:nvSpPr>
        <p:spPr>
          <a:xfrm>
            <a:off x="6309360" y="2103120"/>
            <a:ext cx="5212080" cy="1142999"/>
          </a:xfrm>
          <a:prstGeom prst="rect">
            <a:avLst/>
          </a:prstGeom>
          <a:noFill/>
        </p:spPr>
        <p:txBody>
          <a:bodyPr wrap="square" anchor="t" lIns="73152" rIns="73152" tIns="36576" bIns="36576">
            <a:spAutoFit/>
          </a:bodyPr>
          <a:lstStyle/>
          <a:p>
            <a:pPr algn="l"/>
            <a:r>
              <a:rPr sz="1500" b="0" i="0">
                <a:solidFill>
                  <a:srgbClr val="1B1B1E"/>
                </a:solidFill>
                <a:latin typeface="Calibri"/>
              </a:rPr>
              <a:t>• TimeAndSale / Trade history: TIMED_OUT or empty</a:t>
            </a:r>
          </a:p>
          <a:p>
            <a:pPr algn="l">
              <a:spcBef>
                <a:spcPts val="600"/>
              </a:spcBef>
            </a:pPr>
            <a:r>
              <a:rPr sz="1500" b="0" i="0">
                <a:solidFill>
                  <a:srgbClr val="1B1B1E"/>
                </a:solidFill>
                <a:latin typeface="Calibri"/>
              </a:rPr>
              <a:t>• So the volume cause stays a hypothesis</a:t>
            </a:r>
          </a:p>
        </p:txBody>
      </p:sp>
      <p:sp>
        <p:nvSpPr>
          <p:cNvPr id="22" name="Rounded Rectangle 21"/>
          <p:cNvSpPr/>
          <p:nvPr/>
        </p:nvSpPr>
        <p:spPr>
          <a:xfrm>
            <a:off x="502920" y="3520440"/>
            <a:ext cx="5486400"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3520440"/>
            <a:ext cx="5486400" cy="82296"/>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703320"/>
            <a:ext cx="5212080" cy="411480"/>
          </a:xfrm>
          <a:prstGeom prst="rect">
            <a:avLst/>
          </a:prstGeom>
          <a:noFill/>
        </p:spPr>
        <p:txBody>
          <a:bodyPr wrap="square" anchor="t" lIns="73152" rIns="73152" tIns="36576" bIns="36576">
            <a:spAutoFit/>
          </a:bodyPr>
          <a:lstStyle/>
          <a:p>
            <a:pPr algn="l"/>
            <a:r>
              <a:rPr sz="1700" b="1" i="0">
                <a:solidFill>
                  <a:srgbClr val="5C677D"/>
                </a:solidFill>
                <a:latin typeface="Calibri"/>
              </a:rPr>
              <a:t>Not run</a:t>
            </a:r>
          </a:p>
        </p:txBody>
      </p:sp>
      <p:sp>
        <p:nvSpPr>
          <p:cNvPr id="25" name="TextBox 24"/>
          <p:cNvSpPr txBox="1"/>
          <p:nvPr/>
        </p:nvSpPr>
        <p:spPr>
          <a:xfrm>
            <a:off x="640080" y="4160520"/>
            <a:ext cx="5212080" cy="1142999"/>
          </a:xfrm>
          <a:prstGeom prst="rect">
            <a:avLst/>
          </a:prstGeom>
          <a:noFill/>
        </p:spPr>
        <p:txBody>
          <a:bodyPr wrap="square" anchor="t" lIns="73152" rIns="73152" tIns="36576" bIns="36576">
            <a:spAutoFit/>
          </a:bodyPr>
          <a:lstStyle/>
          <a:p>
            <a:pPr algn="l"/>
            <a:r>
              <a:rPr sz="1500" b="0" i="0">
                <a:solidFill>
                  <a:srgbClr val="1B1B1E"/>
                </a:solidFill>
                <a:latin typeface="Calibri"/>
              </a:rPr>
              <a:t>• SPY / MSFT check of 8 Oct 11:00 ET; tho=true</a:t>
            </a:r>
          </a:p>
          <a:p>
            <a:pPr algn="l">
              <a:spcBef>
                <a:spcPts val="600"/>
              </a:spcBef>
            </a:pPr>
            <a:r>
              <a:rPr sz="1500" b="0" i="0">
                <a:solidFill>
                  <a:srgbClr val="1B1B1E"/>
                </a:solidFill>
                <a:latin typeface="Calibri"/>
              </a:rPr>
              <a:t>• Second client / IP; burst and batching tests</a:t>
            </a:r>
          </a:p>
        </p:txBody>
      </p:sp>
      <p:sp>
        <p:nvSpPr>
          <p:cNvPr id="26" name="Rounded Rectangle 25"/>
          <p:cNvSpPr/>
          <p:nvPr/>
        </p:nvSpPr>
        <p:spPr>
          <a:xfrm>
            <a:off x="6172200" y="3520440"/>
            <a:ext cx="5486400" cy="1874519"/>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3520440"/>
            <a:ext cx="5486400" cy="82296"/>
          </a:xfrm>
          <a:prstGeom prst="rect">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703320"/>
            <a:ext cx="5212080" cy="411480"/>
          </a:xfrm>
          <a:prstGeom prst="rect">
            <a:avLst/>
          </a:prstGeom>
          <a:noFill/>
        </p:spPr>
        <p:txBody>
          <a:bodyPr wrap="square" anchor="t" lIns="73152" rIns="73152" tIns="36576" bIns="36576">
            <a:spAutoFit/>
          </a:bodyPr>
          <a:lstStyle/>
          <a:p>
            <a:pPr algn="l"/>
            <a:r>
              <a:rPr sz="1700" b="1" i="0">
                <a:solidFill>
                  <a:srgbClr val="3A86FF"/>
                </a:solidFill>
                <a:latin typeface="Calibri"/>
              </a:rPr>
              <a:t>Task A</a:t>
            </a:r>
          </a:p>
        </p:txBody>
      </p:sp>
      <p:sp>
        <p:nvSpPr>
          <p:cNvPr id="29" name="TextBox 28"/>
          <p:cNvSpPr txBox="1"/>
          <p:nvPr/>
        </p:nvSpPr>
        <p:spPr>
          <a:xfrm>
            <a:off x="6309360" y="4160520"/>
            <a:ext cx="5212080" cy="1142999"/>
          </a:xfrm>
          <a:prstGeom prst="rect">
            <a:avLst/>
          </a:prstGeom>
          <a:noFill/>
        </p:spPr>
        <p:txBody>
          <a:bodyPr wrap="square" anchor="t" lIns="73152" rIns="73152" tIns="36576" bIns="36576">
            <a:spAutoFit/>
          </a:bodyPr>
          <a:lstStyle/>
          <a:p>
            <a:pPr algn="l"/>
            <a:r>
              <a:rPr sz="1500" b="0" i="0">
                <a:solidFill>
                  <a:srgbClr val="1B1B1E"/>
                </a:solidFill>
                <a:latin typeface="Calibri"/>
              </a:rPr>
              <a:t>• NASDAQ 2027, OPRA 2026/27 not published</a:t>
            </a:r>
          </a:p>
          <a:p>
            <a:pPr algn="l">
              <a:spcBef>
                <a:spcPts val="600"/>
              </a:spcBef>
            </a:pPr>
            <a:r>
              <a:rPr sz="1500" b="0" i="0">
                <a:solidFill>
                  <a:srgbClr val="1B1B1E"/>
                </a:solidFill>
                <a:latin typeface="Calibri"/>
              </a:rPr>
              <a:t>• CME refresh is manual; Drive API untested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63040"/>
            <a:ext cx="10058400" cy="1097280"/>
          </a:xfrm>
          <a:prstGeom prst="rect">
            <a:avLst/>
          </a:prstGeom>
          <a:noFill/>
        </p:spPr>
        <p:txBody>
          <a:bodyPr wrap="square" anchor="t" lIns="73152" rIns="73152" tIns="36576" bIns="36576">
            <a:spAutoFit/>
          </a:bodyPr>
          <a:lstStyle/>
          <a:p>
            <a:pPr algn="l"/>
            <a:r>
              <a:rPr sz="5400" b="1" i="0">
                <a:solidFill>
                  <a:srgbClr val="FFFFFF"/>
                </a:solidFill>
                <a:latin typeface="Calibri"/>
              </a:rPr>
              <a:t>Questions</a:t>
            </a:r>
          </a:p>
        </p:txBody>
      </p:sp>
      <p:sp>
        <p:nvSpPr>
          <p:cNvPr id="5" name="TextBox 4"/>
          <p:cNvSpPr txBox="1"/>
          <p:nvPr/>
        </p:nvSpPr>
        <p:spPr>
          <a:xfrm>
            <a:off x="868680" y="2560320"/>
            <a:ext cx="10058400" cy="548640"/>
          </a:xfrm>
          <a:prstGeom prst="rect">
            <a:avLst/>
          </a:prstGeom>
          <a:noFill/>
        </p:spPr>
        <p:txBody>
          <a:bodyPr wrap="square" anchor="t" lIns="73152" rIns="73152" tIns="36576" bIns="36576">
            <a:spAutoFit/>
          </a:bodyPr>
          <a:lstStyle/>
          <a:p>
            <a:pPr algn="l"/>
            <a:r>
              <a:rPr sz="2200" b="0" i="0">
                <a:solidFill>
                  <a:srgbClr val="C9D6E8"/>
                </a:solidFill>
                <a:latin typeface="Calibri"/>
              </a:rPr>
              <a:t>Happy to open any evidence file live.</a:t>
            </a:r>
          </a:p>
        </p:txBody>
      </p:sp>
      <p:sp>
        <p:nvSpPr>
          <p:cNvPr id="6" name="Rounded Rectangle 5"/>
          <p:cNvSpPr/>
          <p:nvPr/>
        </p:nvSpPr>
        <p:spPr>
          <a:xfrm>
            <a:off x="868680" y="3474720"/>
            <a:ext cx="5120640" cy="246888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3474720"/>
            <a:ext cx="5120640" cy="82296"/>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39" y="3657600"/>
            <a:ext cx="4846320" cy="411480"/>
          </a:xfrm>
          <a:prstGeom prst="rect">
            <a:avLst/>
          </a:prstGeom>
          <a:noFill/>
        </p:spPr>
        <p:txBody>
          <a:bodyPr wrap="square" anchor="t" lIns="73152" rIns="73152" tIns="36576" bIns="36576">
            <a:spAutoFit/>
          </a:bodyPr>
          <a:lstStyle/>
          <a:p>
            <a:pPr algn="l"/>
            <a:r>
              <a:rPr sz="1700" b="1" i="0">
                <a:solidFill>
                  <a:srgbClr val="0F8B8D"/>
                </a:solidFill>
                <a:latin typeface="Calibri"/>
              </a:rPr>
              <a:t>I can show live</a:t>
            </a:r>
          </a:p>
        </p:txBody>
      </p:sp>
      <p:sp>
        <p:nvSpPr>
          <p:cNvPr id="9" name="TextBox 8"/>
          <p:cNvSpPr txBox="1"/>
          <p:nvPr/>
        </p:nvSpPr>
        <p:spPr>
          <a:xfrm>
            <a:off x="1005839" y="4114800"/>
            <a:ext cx="4846320" cy="1737360"/>
          </a:xfrm>
          <a:prstGeom prst="rect">
            <a:avLst/>
          </a:prstGeom>
          <a:noFill/>
        </p:spPr>
        <p:txBody>
          <a:bodyPr wrap="square" anchor="t" lIns="73152" rIns="73152" tIns="36576" bIns="36576">
            <a:spAutoFit/>
          </a:bodyPr>
          <a:lstStyle/>
          <a:p>
            <a:pPr algn="l"/>
            <a:r>
              <a:rPr sz="1500" b="0" i="0">
                <a:solidFill>
                  <a:srgbClr val="1B1B1E"/>
                </a:solidFill>
                <a:latin typeface="Calibri"/>
              </a:rPr>
              <a:t>The 8,000 cap: a long fromTime, or chunks.jsonl</a:t>
            </a:r>
          </a:p>
          <a:p>
            <a:pPr algn="l">
              <a:spcBef>
                <a:spcPts val="600"/>
              </a:spcBef>
            </a:pPr>
            <a:r>
              <a:rPr sz="1500" b="0" i="0">
                <a:solidFill>
                  <a:srgbClr val="1B1B1E"/>
                </a:solidFill>
                <a:latin typeface="Calibri"/>
              </a:rPr>
              <a:t>The AAPL −99 % and +2 % volume rows in the CSV</a:t>
            </a:r>
          </a:p>
          <a:p>
            <a:pPr algn="l">
              <a:spcBef>
                <a:spcPts val="600"/>
              </a:spcBef>
            </a:pPr>
            <a:r>
              <a:rPr sz="1500" b="0" i="0">
                <a:solidFill>
                  <a:srgbClr val="1B1B1E"/>
                </a:solidFill>
                <a:latin typeface="Calibri"/>
              </a:rPr>
              <a:t>Radar screenshots and the SSE comparison</a:t>
            </a:r>
          </a:p>
        </p:txBody>
      </p:sp>
      <p:sp>
        <p:nvSpPr>
          <p:cNvPr id="10" name="Rounded Rectangle 9"/>
          <p:cNvSpPr/>
          <p:nvPr/>
        </p:nvSpPr>
        <p:spPr>
          <a:xfrm>
            <a:off x="6217920" y="3474720"/>
            <a:ext cx="5120640" cy="2468880"/>
          </a:xfrm>
          <a:prstGeom prst="roundRect">
            <a:avLst>
              <a:gd name="adj" fmla="val 8000"/>
            </a:avLst>
          </a:prstGeom>
          <a:solidFill>
            <a:srgbClr val="FFFFFF"/>
          </a:solidFill>
          <a:ln w="12700">
            <a:solidFill>
              <a:srgbClr val="DD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3474720"/>
            <a:ext cx="5120640"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657600"/>
            <a:ext cx="4846320" cy="411480"/>
          </a:xfrm>
          <a:prstGeom prst="rect">
            <a:avLst/>
          </a:prstGeom>
          <a:noFill/>
        </p:spPr>
        <p:txBody>
          <a:bodyPr wrap="square" anchor="t" lIns="73152" rIns="73152" tIns="36576" bIns="36576">
            <a:spAutoFit/>
          </a:bodyPr>
          <a:lstStyle/>
          <a:p>
            <a:pPr algn="l"/>
            <a:r>
              <a:rPr sz="1700" b="1" i="0">
                <a:solidFill>
                  <a:srgbClr val="E76F51"/>
                </a:solidFill>
                <a:latin typeface="Calibri"/>
              </a:rPr>
              <a:t>I won't claim</a:t>
            </a:r>
          </a:p>
        </p:txBody>
      </p:sp>
      <p:sp>
        <p:nvSpPr>
          <p:cNvPr id="13" name="TextBox 12"/>
          <p:cNvSpPr txBox="1"/>
          <p:nvPr/>
        </p:nvSpPr>
        <p:spPr>
          <a:xfrm>
            <a:off x="6355080" y="4114800"/>
            <a:ext cx="4846320" cy="1737360"/>
          </a:xfrm>
          <a:prstGeom prst="rect">
            <a:avLst/>
          </a:prstGeom>
          <a:noFill/>
        </p:spPr>
        <p:txBody>
          <a:bodyPr wrap="square" anchor="t" lIns="73152" rIns="73152" tIns="36576" bIns="36576">
            <a:spAutoFit/>
          </a:bodyPr>
          <a:lstStyle/>
          <a:p>
            <a:pPr algn="l"/>
            <a:r>
              <a:rPr sz="1500" b="0" i="0">
                <a:solidFill>
                  <a:srgbClr val="1B1B1E"/>
                </a:solidFill>
                <a:latin typeface="Calibri"/>
              </a:rPr>
              <a:t>A root cause for the volume split</a:t>
            </a:r>
          </a:p>
          <a:p>
            <a:pPr algn="l">
              <a:spcBef>
                <a:spcPts val="600"/>
              </a:spcBef>
            </a:pPr>
            <a:r>
              <a:rPr sz="1500" b="0" i="0">
                <a:solidFill>
                  <a:srgbClr val="1B1B1E"/>
                </a:solidFill>
                <a:latin typeface="Calibri"/>
              </a:rPr>
              <a:t>That the FX prints are trades</a:t>
            </a:r>
          </a:p>
          <a:p>
            <a:pPr algn="l">
              <a:spcBef>
                <a:spcPts val="600"/>
              </a:spcBef>
            </a:pPr>
            <a:r>
              <a:rPr sz="1500" b="0" i="0">
                <a:solidFill>
                  <a:srgbClr val="1B1B1E"/>
                </a:solidFill>
                <a:latin typeface="Calibri"/>
              </a:rPr>
              <a:t>A production capacity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